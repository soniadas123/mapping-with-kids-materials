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f0957ede-4a62-54c8-70df-2ac42359f01b}">
          <p14:sldIdLst>
            <p14:sldId id="256"/>
            <p14:sldId id="257"/>
          </p14:sldIdLst>
        </p14:section>
        <p14:section name="Warm up" id="{c4427a70-d317-4869-dcae-a868102cf1c9}">
          <p14:sldIdLst>
            <p14:sldId id="258"/>
            <p14:sldId id="259"/>
            <p14:sldId id="260"/>
            <p14:sldId id="261"/>
            <p14:sldId id="262"/>
          </p14:sldIdLst>
        </p14:section>
        <p14:section name="Shapes" id="{fa661424-930a-191d-824a-06502405b6f2}">
          <p14:sldIdLst>
            <p14:sldId id="263"/>
            <p14:sldId id="264"/>
            <p14:sldId id="265"/>
            <p14:sldId id="266"/>
          </p14:sldIdLst>
        </p14:section>
        <p14:section name="Draw" id="{e063f379-727f-15e1-2233-94f094f256b8}">
          <p14:sldIdLst>
            <p14:sldId id="267"/>
            <p14:sldId id="268"/>
            <p14:sldId id="269"/>
            <p14:sldId id="270"/>
            <p14:sldId id="271"/>
          </p14:sldIdLst>
        </p14:section>
        <p14:section name="Upload" id="{cf26328e-07c6-5b28-ff8c-47019ba23d10}">
          <p14:sldIdLst>
            <p14:sldId id="272"/>
            <p14:sldId id="273"/>
            <p14:sldId id="274"/>
            <p14:sldId id="275"/>
            <p14:sldId id="276"/>
          </p14:sldIdLst>
        </p14:section>
        <p14:section name="Share" id="{5e66fb70-73ac-3618-560c-d249778e5a10}">
          <p14:sldIdLst>
            <p14:sldId id="277"/>
            <p14:sldId id="278"/>
            <p14:sldId id="279"/>
            <p14:sldId id="280"/>
          </p14:sldIdLst>
        </p14:section>
        <p14:section name="Close" id="{b88cd03e-ddd0-45ea-8495-e506c7ec545e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0:05. Welcome everyone. Introduce yourself in one line. Ask: who has drawn a map before, even a treasure map or directions for a friend? Today everyone will make a real map from their own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0:05 to 0:07. Walk through the plan quickly. Times add up to about 2 hours including the 5-minute welcome. Tell the kids the best part comes at the end: everyone's drawings on one big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0:07. Short pause on this slide,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0:07 to 0:12. Before the session, take a screenshot of the venue area at street-block zoom and paste it in place of the dashed box. Let kids come up and point. Praise every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0:12 to 0:16. Ask the class to add their own examples to the right-hand column. Write a few on the board. This is the knowledge they will put on their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0:16 to 0:19. Key message: maps are made by people. Surveyors once walked across India with heavy instruments. Now anyone, including kids, can add to the world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 to 0:22. Show the printed blank sketch map now so kids can see the edge patterns. Do not explain them yet; that comes in Part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0:22.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0:22 to 0:25. Use your hands: point a finger for a point, draw a line in the air, trace a circle for a polygon. Kids copy the gestures.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 to 0:30. Read each item aloud. Kids shout point, line or polygon, or use the hand gestures. Then show the next slide with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 to 0:32. Reveal. Trick question to discuss: a big tree could be a polygon on a very zoomed-in map, and a wide river could be a polygon too. It depends on the scale of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0:32. Hand out maps and the four markers. If a short walk outside is possible, do it now (10 minutes) and take the drawing time from Part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0:32 to 0:35. Agree the key as a class so the class map makes sense later. Kids write the key in the corner of their map, away from the edge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 to 0:38. Demonstrate each rule on a spare map with the real markers. The edge rule matters most: a map with covered edge patterns cannot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0:38 to 0:40. Keep this light but firm. Walk around during drawing and gently check that no one has marked a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to 1:12. Keep this slide up while kids draw. Give a 10-minute and a 2-minute warning. Early finishers can help a neighbour or add more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1:12. Transition. Collect the maps or have kids bring them up one table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1:12 to 1:15. Ask kids to spot what is wrong in each bad photo before you say it. Then take the photos yourself, or let older kids do it with your phone. A scanner at 300 dpi works even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 to 1:18. The edge patterns finally make sense here. Ask: how does the computer know where your map is? Let them guess before you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1:18 to 1:32. Switch to the browser. On upload, the tool asks whether to share the drawings with its researchers: choose Reject &amp; Upload unless parents have agreed. Processing takes up to about 100 seconds per map. If anything fails,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first session, run one sketch through the whole process at home and paste the three screenshots here. Skip this slide if the live demo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1:32. Transition. Load all the GeoJSON files into GeoLibre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1:32 to 1:40. The big moment. Turn layers on one by one so each child sees their own drawing appear. Switch to the satellite base map and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 to 1:50. Let kids answer from the class map. Point at the layers as they talk. There are no wrong answers here; the goal is noticing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 to 1:55. Quick recap. Ask each table to say one new word they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1:55 to 2:00. Thank everyone, hand back the maps, and take a class photo with the maps if parents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From Paper to Map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MAPPING WITH KIDS  ·  A MAPPING ACTIVITY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From Paper to Map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Become a neighbourhood mapper</a:t>
            </a:r>
            <a:endParaRPr lang="en-US" sz="1800" dirty="0"/>
          </a:p>
        </p:txBody>
      </p:sp>
      <p:pic>
        <p:nvPicPr>
          <p:cNvPr id="5" name="Paper to digital illust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514600"/>
            <a:ext cx="6217920" cy="21396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Today's plan</a:t>
            </a:r>
            <a:endParaRPr lang="en-US" sz="3600" dirty="0"/>
          </a:p>
        </p:txBody>
      </p:sp>
      <p:sp>
        <p:nvSpPr>
          <p:cNvPr id="3" name="Plan card 1"/>
          <p:cNvSpPr/>
          <p:nvPr/>
        </p:nvSpPr>
        <p:spPr>
          <a:xfrm>
            <a:off x="457200" y="1325880"/>
            <a:ext cx="1517904" cy="3017520"/>
          </a:xfrm>
          <a:prstGeom prst="roundRect">
            <a:avLst>
              <a:gd name="adj" fmla="val 722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" name="Plan number 1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Warm up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maps can't see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15 min</a:t>
            </a:r>
            <a:endParaRPr lang="en-US" sz="1600" dirty="0"/>
          </a:p>
        </p:txBody>
      </p:sp>
      <p:sp>
        <p:nvSpPr>
          <p:cNvPr id="9" name="Plan card 2"/>
          <p:cNvSpPr/>
          <p:nvPr/>
        </p:nvSpPr>
        <p:spPr>
          <a:xfrm>
            <a:off x="2139696" y="1325880"/>
            <a:ext cx="1517904" cy="3017520"/>
          </a:xfrm>
          <a:prstGeom prst="roundRect">
            <a:avLst>
              <a:gd name="adj" fmla="val 722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0" name="Plan number 2"/>
          <p:cNvSpPr/>
          <p:nvPr/>
        </p:nvSpPr>
        <p:spPr>
          <a:xfrm>
            <a:off x="2322576" y="15087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2257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322576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Shapes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322576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Point, line or polygon?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22576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10 min</a:t>
            </a:r>
            <a:endParaRPr lang="en-US" sz="1600" dirty="0"/>
          </a:p>
        </p:txBody>
      </p:sp>
      <p:sp>
        <p:nvSpPr>
          <p:cNvPr id="15" name="Plan card 3"/>
          <p:cNvSpPr/>
          <p:nvPr/>
        </p:nvSpPr>
        <p:spPr>
          <a:xfrm>
            <a:off x="3822192" y="1325880"/>
            <a:ext cx="1517904" cy="3017520"/>
          </a:xfrm>
          <a:prstGeom prst="roundRect">
            <a:avLst>
              <a:gd name="adj" fmla="val 722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6" name="Plan number 3"/>
          <p:cNvSpPr/>
          <p:nvPr/>
        </p:nvSpPr>
        <p:spPr>
          <a:xfrm>
            <a:off x="4005072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00507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005072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Draw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005072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neighbourhood on paper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05072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40 min</a:t>
            </a:r>
            <a:endParaRPr lang="en-US" sz="1600" dirty="0"/>
          </a:p>
        </p:txBody>
      </p:sp>
      <p:sp>
        <p:nvSpPr>
          <p:cNvPr id="21" name="Plan card 4"/>
          <p:cNvSpPr/>
          <p:nvPr/>
        </p:nvSpPr>
        <p:spPr>
          <a:xfrm>
            <a:off x="5504688" y="1325880"/>
            <a:ext cx="1517904" cy="3017520"/>
          </a:xfrm>
          <a:prstGeom prst="roundRect">
            <a:avLst>
              <a:gd name="adj" fmla="val 7229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2" name="Plan number 4"/>
          <p:cNvSpPr/>
          <p:nvPr/>
        </p:nvSpPr>
        <p:spPr>
          <a:xfrm>
            <a:off x="5687568" y="1508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8756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687568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Upload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687568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Paper becomes data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87568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20 min</a:t>
            </a:r>
            <a:endParaRPr lang="en-US" sz="1600" dirty="0"/>
          </a:p>
        </p:txBody>
      </p:sp>
      <p:sp>
        <p:nvSpPr>
          <p:cNvPr id="27" name="Plan card 5"/>
          <p:cNvSpPr/>
          <p:nvPr/>
        </p:nvSpPr>
        <p:spPr>
          <a:xfrm>
            <a:off x="7187184" y="1325880"/>
            <a:ext cx="1517904" cy="3017520"/>
          </a:xfrm>
          <a:prstGeom prst="roundRect">
            <a:avLst>
              <a:gd name="adj" fmla="val 722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8" name="Plan number 5"/>
          <p:cNvSpPr/>
          <p:nvPr/>
        </p:nvSpPr>
        <p:spPr>
          <a:xfrm>
            <a:off x="7370064" y="15087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7006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Share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370064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Our class map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70064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30 min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PART 1  ·  WARM UP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can't a satellite see?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You know things about your streets that no camera in space can.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This is our neighbourhood from space</a:t>
            </a:r>
            <a:endParaRPr lang="en-US" sz="3600" dirty="0"/>
          </a:p>
        </p:txBody>
      </p:sp>
      <p:sp>
        <p:nvSpPr>
          <p:cNvPr id="3" name="Venue satellite placeholder"/>
          <p:cNvSpPr/>
          <p:nvPr/>
        </p:nvSpPr>
        <p:spPr>
          <a:xfrm>
            <a:off x="457200" y="1188720"/>
            <a:ext cx="51206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Insert a satellite screenshot of the area around the venue (Google Earth or GeoLibre satellite view)</a:t>
            </a:r>
            <a:endParaRPr lang="en-US" sz="1400" dirty="0"/>
          </a:p>
        </p:txBody>
      </p:sp>
      <p:sp>
        <p:nvSpPr>
          <p:cNvPr id="5" name="Questions card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3871"/>
            </a:avLst>
          </a:prstGeom>
          <a:solidFill>
            <a:schemeClr val="accent1">
              <a:alpha val="10000"/>
            </a:schemeClr>
          </a:solidFill>
          <a:ln/>
        </p:spPr>
      </p:sp>
      <p:pic>
        <p:nvPicPr>
          <p:cNvPr id="6" name="Satelli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7512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Let's look closely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0116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you find our building?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Where is the nearest park?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you see any water?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is hidden under the trees?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satellite sees. You know.</a:t>
            </a:r>
            <a:endParaRPr lang="en-US" sz="3600" dirty="0"/>
          </a:p>
        </p:txBody>
      </p:sp>
      <p:sp>
        <p:nvSpPr>
          <p:cNvPr id="3" name="Satellite column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" name="You column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5" name="Satellite circle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atelli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 satellite sees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Rooftops and roads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Trees and parks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Lakes and big drains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Playgrounds and open ground</a:t>
            </a:r>
            <a:endParaRPr lang="en-US" sz="1600" dirty="0"/>
          </a:p>
        </p:txBody>
      </p:sp>
      <p:sp>
        <p:nvSpPr>
          <p:cNvPr id="9" name="You circle"/>
          <p:cNvSpPr/>
          <p:nvPr/>
        </p:nvSpPr>
        <p:spPr>
          <a:xfrm>
            <a:off x="4983480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You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26" y="15142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Only you know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shortcut to school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corner that floods when it rains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shop with the best snacks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road that is scary to cross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People have always made maps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822960" y="2057400"/>
            <a:ext cx="74980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" name="Timeline dot 1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Long ago</a:t>
            </a:r>
            <a:endParaRPr lang="en-US" sz="2200" dirty="0"/>
          </a:p>
        </p:txBody>
      </p:sp>
      <p:sp>
        <p:nvSpPr>
          <p:cNvPr id="6" name="Timeline card 1"/>
          <p:cNvSpPr/>
          <p:nvPr/>
        </p:nvSpPr>
        <p:spPr>
          <a:xfrm>
            <a:off x="457200" y="251460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6517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Travellers and villagers drew maps by hand to show the way</a:t>
            </a:r>
            <a:endParaRPr lang="en-US" sz="1500" dirty="0"/>
          </a:p>
        </p:txBody>
      </p:sp>
      <p:sp>
        <p:nvSpPr>
          <p:cNvPr id="8" name="Timeline dot 2"/>
          <p:cNvSpPr/>
          <p:nvPr/>
        </p:nvSpPr>
        <p:spPr>
          <a:xfrm>
            <a:off x="2788920" y="187452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1802</a:t>
            </a:r>
            <a:endParaRPr lang="en-US" sz="2200" dirty="0"/>
          </a:p>
        </p:txBody>
      </p:sp>
      <p:sp>
        <p:nvSpPr>
          <p:cNvPr id="10" name="Timeline card 2"/>
          <p:cNvSpPr/>
          <p:nvPr/>
        </p:nvSpPr>
        <p:spPr>
          <a:xfrm>
            <a:off x="2560320" y="251460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7480" y="26517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Great Trigonometrical Survey began measuring India</a:t>
            </a:r>
            <a:endParaRPr lang="en-US" sz="1500" dirty="0"/>
          </a:p>
        </p:txBody>
      </p:sp>
      <p:sp>
        <p:nvSpPr>
          <p:cNvPr id="12" name="Timeline dot 3"/>
          <p:cNvSpPr/>
          <p:nvPr/>
        </p:nvSpPr>
        <p:spPr>
          <a:xfrm>
            <a:off x="4892040" y="1874520"/>
            <a:ext cx="365760" cy="36576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2004</a:t>
            </a:r>
            <a:endParaRPr lang="en-US" sz="2200" dirty="0"/>
          </a:p>
        </p:txBody>
      </p:sp>
      <p:sp>
        <p:nvSpPr>
          <p:cNvPr id="14" name="Timeline card 3"/>
          <p:cNvSpPr/>
          <p:nvPr/>
        </p:nvSpPr>
        <p:spPr>
          <a:xfrm>
            <a:off x="4663440" y="251460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26517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OpenStreetMap began: a world map drawn by volunteers</a:t>
            </a:r>
            <a:endParaRPr lang="en-US" sz="1500" dirty="0"/>
          </a:p>
        </p:txBody>
      </p:sp>
      <p:sp>
        <p:nvSpPr>
          <p:cNvPr id="16" name="Timeline dot 4"/>
          <p:cNvSpPr/>
          <p:nvPr/>
        </p:nvSpPr>
        <p:spPr>
          <a:xfrm>
            <a:off x="6995160" y="1874520"/>
            <a:ext cx="365760" cy="36576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Today</a:t>
            </a:r>
            <a:endParaRPr lang="en-US" sz="2200" dirty="0"/>
          </a:p>
        </p:txBody>
      </p:sp>
      <p:sp>
        <p:nvSpPr>
          <p:cNvPr id="18" name="Timeline card 4"/>
          <p:cNvSpPr/>
          <p:nvPr/>
        </p:nvSpPr>
        <p:spPr>
          <a:xfrm>
            <a:off x="6766560" y="251460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26517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 make a map of your own neighbourhood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a sketch map?</a:t>
            </a:r>
            <a:endParaRPr lang="en-US" sz="3600" dirty="0"/>
          </a:p>
        </p:txBody>
      </p:sp>
      <p:sp>
        <p:nvSpPr>
          <p:cNvPr id="3" name="Definition card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Sketch map: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map drawn by hand by someone who knows a place well. It shows what people know, not just what a satellite photographs.</a:t>
            </a:r>
            <a:endParaRPr lang="en-US" sz="1800" dirty="0"/>
          </a:p>
        </p:txBody>
      </p:sp>
      <p:sp>
        <p:nvSpPr>
          <p:cNvPr id="5" name="Tool circle"/>
          <p:cNvSpPr/>
          <p:nvPr/>
        </p:nvSpPr>
        <p:spPr>
          <a:xfrm>
            <a:off x="45720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oo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29096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tool today: the Sketch Map Tool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free website made by HeiGIT in Heidelberg, Germany. It prints paper maps and reads your drawings back.</a:t>
            </a:r>
            <a:endParaRPr lang="en-US" sz="1500" dirty="0"/>
          </a:p>
        </p:txBody>
      </p:sp>
      <p:sp>
        <p:nvSpPr>
          <p:cNvPr id="8" name="Use circle"/>
          <p:cNvSpPr/>
          <p:nvPr/>
        </p:nvSpPr>
        <p:spPr>
          <a:xfrm>
            <a:off x="4754880" y="2743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Us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01" y="290962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77840" y="2697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Used around the world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Communities use it to mark places at risk from floods and other disasters, so help can reach them faster.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PART 2  ·  MAP SHAPES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Every map is made of three shapes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Point, line, polygon</a:t>
            </a:r>
            <a:endParaRPr lang="en-US" sz="3600" dirty="0"/>
          </a:p>
        </p:txBody>
      </p:sp>
      <p:sp>
        <p:nvSpPr>
          <p:cNvPr id="3" name="Point card"/>
          <p:cNvSpPr/>
          <p:nvPr/>
        </p:nvSpPr>
        <p:spPr>
          <a:xfrm>
            <a:off x="457200" y="118872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4" name="Point symbol"/>
          <p:cNvSpPr/>
          <p:nvPr/>
        </p:nvSpPr>
        <p:spPr>
          <a:xfrm>
            <a:off x="1490472" y="14630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Point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spot on the map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2044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 shop, a bus stop, a tree</a:t>
            </a:r>
            <a:endParaRPr lang="en-US" sz="1400" dirty="0"/>
          </a:p>
        </p:txBody>
      </p:sp>
      <p:sp>
        <p:nvSpPr>
          <p:cNvPr id="8" name="Line card"/>
          <p:cNvSpPr/>
          <p:nvPr/>
        </p:nvSpPr>
        <p:spPr>
          <a:xfrm>
            <a:off x="3264408" y="118872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9" name="Line symbol"/>
          <p:cNvSpPr/>
          <p:nvPr/>
        </p:nvSpPr>
        <p:spPr>
          <a:xfrm>
            <a:off x="3721608" y="1737360"/>
            <a:ext cx="1700784" cy="0"/>
          </a:xfrm>
          <a:prstGeom prst="line">
            <a:avLst/>
          </a:prstGeom>
          <a:noFill/>
          <a:ln w="762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22860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Line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78892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path from here to there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352044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 road, a river, a drain</a:t>
            </a:r>
            <a:endParaRPr lang="en-US" sz="1400" dirty="0"/>
          </a:p>
        </p:txBody>
      </p:sp>
      <p:sp>
        <p:nvSpPr>
          <p:cNvPr id="13" name="Polygon card"/>
          <p:cNvSpPr/>
          <p:nvPr/>
        </p:nvSpPr>
        <p:spPr>
          <a:xfrm>
            <a:off x="6071616" y="118872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4" name="Polygon symbol"/>
          <p:cNvSpPr/>
          <p:nvPr/>
        </p:nvSpPr>
        <p:spPr>
          <a:xfrm>
            <a:off x="6922008" y="1417320"/>
            <a:ext cx="914400" cy="685800"/>
          </a:xfrm>
          <a:prstGeom prst="hexagon">
            <a:avLst/>
          </a:prstGeom>
          <a:solidFill>
            <a:schemeClr val="accent3">
              <a:alpha val="50000"/>
            </a:schemeClr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22860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Polygon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278892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closed shape with an inside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352044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 park, a lake, a school ground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Game: point, line or polygon?</a:t>
            </a:r>
            <a:endParaRPr lang="en-US" sz="3600" dirty="0"/>
          </a:p>
        </p:txBody>
      </p:sp>
      <p:sp>
        <p:nvSpPr>
          <p:cNvPr id="3" name="Bus stop card"/>
          <p:cNvSpPr/>
          <p:nvPr/>
        </p:nvSpPr>
        <p:spPr>
          <a:xfrm>
            <a:off x="457200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Bus stop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?</a:t>
            </a:r>
            <a:endParaRPr lang="en-US" sz="2200" dirty="0"/>
          </a:p>
        </p:txBody>
      </p:sp>
      <p:sp>
        <p:nvSpPr>
          <p:cNvPr id="6" name="Road card"/>
          <p:cNvSpPr/>
          <p:nvPr/>
        </p:nvSpPr>
        <p:spPr>
          <a:xfrm>
            <a:off x="3264408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47288" y="1371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Road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965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?</a:t>
            </a:r>
            <a:endParaRPr lang="en-US" sz="2200" dirty="0"/>
          </a:p>
        </p:txBody>
      </p:sp>
      <p:sp>
        <p:nvSpPr>
          <p:cNvPr id="9" name="Park card"/>
          <p:cNvSpPr/>
          <p:nvPr/>
        </p:nvSpPr>
        <p:spPr>
          <a:xfrm>
            <a:off x="6071616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54496" y="1371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Park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965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?</a:t>
            </a:r>
            <a:endParaRPr lang="en-US" sz="2200" dirty="0"/>
          </a:p>
        </p:txBody>
      </p:sp>
      <p:sp>
        <p:nvSpPr>
          <p:cNvPr id="12" name="Lake card"/>
          <p:cNvSpPr/>
          <p:nvPr/>
        </p:nvSpPr>
        <p:spPr>
          <a:xfrm>
            <a:off x="457200" y="292608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Lake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033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?</a:t>
            </a:r>
            <a:endParaRPr lang="en-US" sz="2200" dirty="0"/>
          </a:p>
        </p:txBody>
      </p:sp>
      <p:sp>
        <p:nvSpPr>
          <p:cNvPr id="15" name="Tree card"/>
          <p:cNvSpPr/>
          <p:nvPr/>
        </p:nvSpPr>
        <p:spPr>
          <a:xfrm>
            <a:off x="3264408" y="292608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47288" y="3108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Tree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37033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?</a:t>
            </a:r>
            <a:endParaRPr lang="en-US" sz="2200" dirty="0"/>
          </a:p>
        </p:txBody>
      </p:sp>
      <p:sp>
        <p:nvSpPr>
          <p:cNvPr id="18" name="Stormwater drain card"/>
          <p:cNvSpPr/>
          <p:nvPr/>
        </p:nvSpPr>
        <p:spPr>
          <a:xfrm>
            <a:off x="6071616" y="292608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54496" y="3108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Stormwater drain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37033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Game: the answers</a:t>
            </a:r>
            <a:endParaRPr lang="en-US" sz="3600" dirty="0"/>
          </a:p>
        </p:txBody>
      </p:sp>
      <p:sp>
        <p:nvSpPr>
          <p:cNvPr id="3" name="Bus stop card"/>
          <p:cNvSpPr/>
          <p:nvPr/>
        </p:nvSpPr>
        <p:spPr>
          <a:xfrm>
            <a:off x="457200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Bus stop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Point</a:t>
            </a:r>
            <a:endParaRPr lang="en-US" sz="2200" dirty="0"/>
          </a:p>
        </p:txBody>
      </p:sp>
      <p:sp>
        <p:nvSpPr>
          <p:cNvPr id="6" name="Road card"/>
          <p:cNvSpPr/>
          <p:nvPr/>
        </p:nvSpPr>
        <p:spPr>
          <a:xfrm>
            <a:off x="3264408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47288" y="1371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Road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965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Line</a:t>
            </a:r>
            <a:endParaRPr lang="en-US" sz="2200" dirty="0"/>
          </a:p>
        </p:txBody>
      </p:sp>
      <p:sp>
        <p:nvSpPr>
          <p:cNvPr id="9" name="Park card"/>
          <p:cNvSpPr/>
          <p:nvPr/>
        </p:nvSpPr>
        <p:spPr>
          <a:xfrm>
            <a:off x="6071616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54496" y="13716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Park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965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Polygon</a:t>
            </a:r>
            <a:endParaRPr lang="en-US" sz="2200" dirty="0"/>
          </a:p>
        </p:txBody>
      </p:sp>
      <p:sp>
        <p:nvSpPr>
          <p:cNvPr id="12" name="Lake card"/>
          <p:cNvSpPr/>
          <p:nvPr/>
        </p:nvSpPr>
        <p:spPr>
          <a:xfrm>
            <a:off x="457200" y="292608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Lake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033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Polygon</a:t>
            </a:r>
            <a:endParaRPr lang="en-US" sz="2200" dirty="0"/>
          </a:p>
        </p:txBody>
      </p:sp>
      <p:sp>
        <p:nvSpPr>
          <p:cNvPr id="15" name="Tree card"/>
          <p:cNvSpPr/>
          <p:nvPr/>
        </p:nvSpPr>
        <p:spPr>
          <a:xfrm>
            <a:off x="3264408" y="292608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47288" y="3108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Tree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37033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Point</a:t>
            </a:r>
            <a:endParaRPr lang="en-US" sz="2200" dirty="0"/>
          </a:p>
        </p:txBody>
      </p:sp>
      <p:sp>
        <p:nvSpPr>
          <p:cNvPr id="18" name="Stormwater drain card"/>
          <p:cNvSpPr/>
          <p:nvPr/>
        </p:nvSpPr>
        <p:spPr>
          <a:xfrm>
            <a:off x="6071616" y="292608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54496" y="3108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Stormwater drain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370332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Line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PART 3  ·  LET'S DRAW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Your neighbourhood on paper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Hand out the printed maps and markers now.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colour key</a:t>
            </a:r>
            <a:endParaRPr lang="en-US" sz="3600" dirty="0"/>
          </a:p>
        </p:txBody>
      </p:sp>
      <p:sp>
        <p:nvSpPr>
          <p:cNvPr id="3" name="Red key card"/>
          <p:cNvSpPr/>
          <p:nvPr/>
        </p:nvSpPr>
        <p:spPr>
          <a:xfrm>
            <a:off x="457200" y="123444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4" name="Red swatch"/>
          <p:cNvSpPr/>
          <p:nvPr/>
        </p:nvSpPr>
        <p:spPr>
          <a:xfrm>
            <a:off x="685800" y="15087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54480" y="1371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Red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My favourite places</a:t>
            </a:r>
            <a:endParaRPr lang="en-US" sz="1600" dirty="0"/>
          </a:p>
        </p:txBody>
      </p:sp>
      <p:sp>
        <p:nvSpPr>
          <p:cNvPr id="6" name="Blue key card"/>
          <p:cNvSpPr/>
          <p:nvPr/>
        </p:nvSpPr>
        <p:spPr>
          <a:xfrm>
            <a:off x="4663440" y="123444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7" name="Blue swatch"/>
          <p:cNvSpPr/>
          <p:nvPr/>
        </p:nvSpPr>
        <p:spPr>
          <a:xfrm>
            <a:off x="4892040" y="15087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0" y="1371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Blue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Water: lakes, drains, spots that flood</a:t>
            </a:r>
            <a:endParaRPr lang="en-US" sz="1600" dirty="0"/>
          </a:p>
        </p:txBody>
      </p:sp>
      <p:sp>
        <p:nvSpPr>
          <p:cNvPr id="9" name="Green key card"/>
          <p:cNvSpPr/>
          <p:nvPr/>
        </p:nvSpPr>
        <p:spPr>
          <a:xfrm>
            <a:off x="457200" y="265176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0" name="Green swatch"/>
          <p:cNvSpPr/>
          <p:nvPr/>
        </p:nvSpPr>
        <p:spPr>
          <a:xfrm>
            <a:off x="685800" y="2926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27889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Green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Trees, parks and green spaces</a:t>
            </a:r>
            <a:endParaRPr lang="en-US" sz="1600" dirty="0"/>
          </a:p>
        </p:txBody>
      </p:sp>
      <p:sp>
        <p:nvSpPr>
          <p:cNvPr id="12" name="Black key card"/>
          <p:cNvSpPr/>
          <p:nvPr/>
        </p:nvSpPr>
        <p:spPr>
          <a:xfrm>
            <a:off x="4663440" y="265176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tx1">
              <a:alpha val="10000"/>
            </a:schemeClr>
          </a:solidFill>
          <a:ln/>
        </p:spPr>
      </p:sp>
      <p:sp>
        <p:nvSpPr>
          <p:cNvPr id="13" name="Black swatch"/>
          <p:cNvSpPr/>
          <p:nvPr/>
        </p:nvSpPr>
        <p:spPr>
          <a:xfrm>
            <a:off x="4892040" y="292608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27889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Black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My path to school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You can change what each colour means, but keep these four colours. The computer reads them best.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Drawing rules</a:t>
            </a:r>
            <a:endParaRPr lang="en-US" sz="3600" dirty="0"/>
          </a:p>
        </p:txBody>
      </p:sp>
      <p:pic>
        <p:nvPicPr>
          <p:cNvPr id="3" name="Do bigCirc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280160" cy="896112"/>
          </a:xfrm>
          <a:prstGeom prst="rect">
            <a:avLst/>
          </a:prstGeom>
        </p:spPr>
      </p:pic>
      <p:pic>
        <p:nvPicPr>
          <p:cNvPr id="4" name="Dont tinyDo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1188720"/>
            <a:ext cx="1280160" cy="896112"/>
          </a:xfrm>
          <a:prstGeom prst="rect">
            <a:avLst/>
          </a:prstGeom>
        </p:spPr>
      </p:pic>
      <p:sp>
        <p:nvSpPr>
          <p:cNvPr id="5" name="Do 0 circle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Do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289658"/>
            <a:ext cx="175565" cy="175565"/>
          </a:xfrm>
          <a:prstGeom prst="rect">
            <a:avLst/>
          </a:prstGeom>
        </p:spPr>
      </p:pic>
      <p:sp>
        <p:nvSpPr>
          <p:cNvPr id="7" name="Dont 0 circle"/>
          <p:cNvSpPr/>
          <p:nvPr/>
        </p:nvSpPr>
        <p:spPr>
          <a:xfrm>
            <a:off x="2249424" y="219456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Dont 0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522" y="2289658"/>
            <a:ext cx="175565" cy="17556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57200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Big circle for a place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1792224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Tiny dot</a:t>
            </a:r>
            <a:endParaRPr lang="en-US" sz="1400" dirty="0"/>
          </a:p>
        </p:txBody>
      </p:sp>
      <p:pic>
        <p:nvPicPr>
          <p:cNvPr id="11" name="Do clos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1188720"/>
            <a:ext cx="1280160" cy="896112"/>
          </a:xfrm>
          <a:prstGeom prst="rect">
            <a:avLst/>
          </a:prstGeom>
        </p:spPr>
      </p:pic>
      <p:pic>
        <p:nvPicPr>
          <p:cNvPr id="12" name="Dont ga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1188720"/>
            <a:ext cx="1280160" cy="896112"/>
          </a:xfrm>
          <a:prstGeom prst="rect">
            <a:avLst/>
          </a:prstGeom>
        </p:spPr>
      </p:pic>
      <p:sp>
        <p:nvSpPr>
          <p:cNvPr id="13" name="Do 1 circle"/>
          <p:cNvSpPr/>
          <p:nvPr/>
        </p:nvSpPr>
        <p:spPr>
          <a:xfrm>
            <a:off x="3721608" y="21945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Do 1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706" y="2289658"/>
            <a:ext cx="175565" cy="175565"/>
          </a:xfrm>
          <a:prstGeom prst="rect">
            <a:avLst/>
          </a:prstGeom>
        </p:spPr>
      </p:pic>
      <p:sp>
        <p:nvSpPr>
          <p:cNvPr id="15" name="Dont 1 circle"/>
          <p:cNvSpPr/>
          <p:nvPr/>
        </p:nvSpPr>
        <p:spPr>
          <a:xfrm>
            <a:off x="5056632" y="219456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Dont 1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730" y="2289658"/>
            <a:ext cx="175565" cy="17556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3264408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Closed outline for an area</a:t>
            </a:r>
            <a:endParaRPr lang="en-US" sz="1400" dirty="0"/>
          </a:p>
        </p:txBody>
      </p:sp>
      <p:sp>
        <p:nvSpPr>
          <p:cNvPr id="18" name="Text 8"/>
          <p:cNvSpPr txBox="1"/>
          <p:nvPr/>
        </p:nvSpPr>
        <p:spPr>
          <a:xfrm>
            <a:off x="4599432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Gap in the outline</a:t>
            </a:r>
            <a:endParaRPr lang="en-US" sz="1400" dirty="0"/>
          </a:p>
        </p:txBody>
      </p:sp>
      <p:pic>
        <p:nvPicPr>
          <p:cNvPr id="19" name="Do thick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1616" y="1188720"/>
            <a:ext cx="1280160" cy="896112"/>
          </a:xfrm>
          <a:prstGeom prst="rect">
            <a:avLst/>
          </a:prstGeom>
        </p:spPr>
      </p:pic>
      <p:pic>
        <p:nvPicPr>
          <p:cNvPr id="20" name="Dont thi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1188720"/>
            <a:ext cx="1280160" cy="896112"/>
          </a:xfrm>
          <a:prstGeom prst="rect">
            <a:avLst/>
          </a:prstGeom>
        </p:spPr>
      </p:pic>
      <p:sp>
        <p:nvSpPr>
          <p:cNvPr id="21" name="Do 2 circle"/>
          <p:cNvSpPr/>
          <p:nvPr/>
        </p:nvSpPr>
        <p:spPr>
          <a:xfrm>
            <a:off x="6528816" y="21945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Do 2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3914" y="2289658"/>
            <a:ext cx="175565" cy="175565"/>
          </a:xfrm>
          <a:prstGeom prst="rect">
            <a:avLst/>
          </a:prstGeom>
        </p:spPr>
      </p:pic>
      <p:sp>
        <p:nvSpPr>
          <p:cNvPr id="23" name="Dont 2 circle"/>
          <p:cNvSpPr/>
          <p:nvPr/>
        </p:nvSpPr>
        <p:spPr>
          <a:xfrm>
            <a:off x="7863840" y="219456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Dont 2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8938" y="2289658"/>
            <a:ext cx="175565" cy="175565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6071616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Thick, dark marker</a:t>
            </a:r>
            <a:endParaRPr lang="en-US" sz="1400" dirty="0"/>
          </a:p>
        </p:txBody>
      </p:sp>
      <p:sp>
        <p:nvSpPr>
          <p:cNvPr id="26" name="Text 12"/>
          <p:cNvSpPr txBox="1"/>
          <p:nvPr/>
        </p:nvSpPr>
        <p:spPr>
          <a:xfrm>
            <a:off x="7406640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Thin, light pen</a:t>
            </a:r>
            <a:endParaRPr lang="en-US" sz="1400" dirty="0"/>
          </a:p>
        </p:txBody>
      </p:sp>
      <p:sp>
        <p:nvSpPr>
          <p:cNvPr id="27" name="Edge rule card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28" name="Text 14"/>
          <p:cNvSpPr txBox="1"/>
          <p:nvPr/>
        </p:nvSpPr>
        <p:spPr>
          <a:xfrm>
            <a:off x="731520" y="36118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Never draw over the black patterns on the edges.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They tell the computer where on Earth your map 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Keep it safe</a:t>
            </a:r>
            <a:endParaRPr lang="en-US" sz="3600" dirty="0"/>
          </a:p>
        </p:txBody>
      </p:sp>
      <p:sp>
        <p:nvSpPr>
          <p:cNvPr id="3" name="Do mark 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4" name="School circle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Schoo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6532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Do mark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231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school, parks, shops, temples, bus stops and other public places</a:t>
            </a:r>
            <a:endParaRPr lang="en-US" sz="1800" dirty="0"/>
          </a:p>
        </p:txBody>
      </p:sp>
      <p:sp>
        <p:nvSpPr>
          <p:cNvPr id="8" name="Do not mark 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9" name="Home circle"/>
          <p:cNvSpPr/>
          <p:nvPr/>
        </p:nvSpPr>
        <p:spPr>
          <a:xfrm>
            <a:off x="5029200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Ho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395" y="16532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Don't mark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4231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own home. Maps get shared, and your address is private.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Drawing time</a:t>
            </a:r>
            <a:endParaRPr lang="en-US" sz="3600" dirty="0"/>
          </a:p>
        </p:txBody>
      </p:sp>
      <p:pic>
        <p:nvPicPr>
          <p:cNvPr id="3" name="Clo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880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30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minutes</a:t>
            </a:r>
            <a:endParaRPr lang="en-US" sz="1800" dirty="0"/>
          </a:p>
        </p:txBody>
      </p:sp>
      <p:sp>
        <p:nvSpPr>
          <p:cNvPr id="6" name="Checklist card"/>
          <p:cNvSpPr/>
          <p:nvPr/>
        </p:nvSpPr>
        <p:spPr>
          <a:xfrm>
            <a:off x="2743200" y="1188720"/>
            <a:ext cx="5943600" cy="3383280"/>
          </a:xfrm>
          <a:prstGeom prst="roundRect">
            <a:avLst>
              <a:gd name="adj" fmla="val 3243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01752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Before you finish, check: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196596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At least one thing in each colour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Big circles, closed outlines, thick lines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Nothing drawn on the edge patterns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Your colour key written in a corner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Your name on the back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PART 4  ·  PAPER BECOMES DATA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Let the computer read your map</a:t>
            </a:r>
            <a:endParaRPr lang="en-US" sz="4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Good photo, bad photo</a:t>
            </a:r>
            <a:endParaRPr lang="en-US" sz="3600" dirty="0"/>
          </a:p>
        </p:txBody>
      </p:sp>
      <p:pic>
        <p:nvPicPr>
          <p:cNvPr id="3" name="Photo ph_goo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920240" cy="1444752"/>
          </a:xfrm>
          <a:prstGeom prst="rect">
            <a:avLst/>
          </a:prstGeom>
        </p:spPr>
      </p:pic>
      <p:sp>
        <p:nvSpPr>
          <p:cNvPr id="4" name="Photo mark 0 circle"/>
          <p:cNvSpPr/>
          <p:nvPr/>
        </p:nvSpPr>
        <p:spPr>
          <a:xfrm>
            <a:off x="1188720" y="28803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Photo mark 0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999232"/>
            <a:ext cx="21945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Straight above, whole sheet, even light</a:t>
            </a:r>
            <a:endParaRPr lang="en-US" sz="1500" dirty="0"/>
          </a:p>
        </p:txBody>
      </p:sp>
      <p:pic>
        <p:nvPicPr>
          <p:cNvPr id="7" name="Photo ph_slante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280160"/>
            <a:ext cx="1920240" cy="1444752"/>
          </a:xfrm>
          <a:prstGeom prst="rect">
            <a:avLst/>
          </a:prstGeom>
        </p:spPr>
      </p:pic>
      <p:sp>
        <p:nvSpPr>
          <p:cNvPr id="8" name="Photo mark 1 circle"/>
          <p:cNvSpPr/>
          <p:nvPr/>
        </p:nvSpPr>
        <p:spPr>
          <a:xfrm>
            <a:off x="3291840" y="28803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Photo mark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999232"/>
            <a:ext cx="219456" cy="21945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256032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Taken at a slant</a:t>
            </a:r>
            <a:endParaRPr lang="en-US" sz="1500" dirty="0"/>
          </a:p>
        </p:txBody>
      </p:sp>
      <p:pic>
        <p:nvPicPr>
          <p:cNvPr id="11" name="Photo ph_shadow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280160"/>
            <a:ext cx="1920240" cy="1444752"/>
          </a:xfrm>
          <a:prstGeom prst="rect">
            <a:avLst/>
          </a:prstGeom>
        </p:spPr>
      </p:pic>
      <p:sp>
        <p:nvSpPr>
          <p:cNvPr id="12" name="Photo mark 2 circle"/>
          <p:cNvSpPr/>
          <p:nvPr/>
        </p:nvSpPr>
        <p:spPr>
          <a:xfrm>
            <a:off x="5394960" y="28803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Photo mark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2999232"/>
            <a:ext cx="219456" cy="21945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466344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Shadow on the map</a:t>
            </a:r>
            <a:endParaRPr lang="en-US" sz="1500" dirty="0"/>
          </a:p>
        </p:txBody>
      </p:sp>
      <p:pic>
        <p:nvPicPr>
          <p:cNvPr id="15" name="Photo ph_cropped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1280160"/>
            <a:ext cx="1920240" cy="1444752"/>
          </a:xfrm>
          <a:prstGeom prst="rect">
            <a:avLst/>
          </a:prstGeom>
        </p:spPr>
      </p:pic>
      <p:sp>
        <p:nvSpPr>
          <p:cNvPr id="16" name="Photo mark 3 circle"/>
          <p:cNvSpPr/>
          <p:nvPr/>
        </p:nvSpPr>
        <p:spPr>
          <a:xfrm>
            <a:off x="7498080" y="28803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Photo mark 3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2999232"/>
            <a:ext cx="219456" cy="219456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676656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Edges cut off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the computer reads your map</a:t>
            </a:r>
            <a:endParaRPr lang="en-US" sz="3600" dirty="0"/>
          </a:p>
        </p:txBody>
      </p:sp>
      <p:sp>
        <p:nvSpPr>
          <p:cNvPr id="3" name="Step 1 circle"/>
          <p:cNvSpPr/>
          <p:nvPr/>
        </p:nvSpPr>
        <p:spPr>
          <a:xfrm>
            <a:off x="1005840" y="12801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810" y="1494130"/>
            <a:ext cx="395021" cy="395021"/>
          </a:xfrm>
          <a:prstGeom prst="rect">
            <a:avLst/>
          </a:prstGeom>
        </p:spPr>
      </p:pic>
      <p:sp>
        <p:nvSpPr>
          <p:cNvPr id="5" name="Step arrow 1"/>
          <p:cNvSpPr/>
          <p:nvPr/>
        </p:nvSpPr>
        <p:spPr>
          <a:xfrm>
            <a:off x="2057400" y="1554480"/>
            <a:ext cx="41148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Upload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 send the photo to the Sketch Map Tool</a:t>
            </a:r>
            <a:endParaRPr lang="en-US" sz="1400" dirty="0"/>
          </a:p>
        </p:txBody>
      </p:sp>
      <p:sp>
        <p:nvSpPr>
          <p:cNvPr id="8" name="Step 2 circle"/>
          <p:cNvSpPr/>
          <p:nvPr/>
        </p:nvSpPr>
        <p:spPr>
          <a:xfrm>
            <a:off x="3108960" y="12801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30" y="1494130"/>
            <a:ext cx="395021" cy="395021"/>
          </a:xfrm>
          <a:prstGeom prst="rect">
            <a:avLst/>
          </a:prstGeom>
        </p:spPr>
      </p:pic>
      <p:sp>
        <p:nvSpPr>
          <p:cNvPr id="10" name="Step arrow 2"/>
          <p:cNvSpPr/>
          <p:nvPr/>
        </p:nvSpPr>
        <p:spPr>
          <a:xfrm>
            <a:off x="4160520" y="1554480"/>
            <a:ext cx="41148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56032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Line up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260604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Edge patterns tell it where on Earth the map is</a:t>
            </a:r>
            <a:endParaRPr lang="en-US" sz="1400" dirty="0"/>
          </a:p>
        </p:txBody>
      </p:sp>
      <p:sp>
        <p:nvSpPr>
          <p:cNvPr id="13" name="Step 3 circle"/>
          <p:cNvSpPr/>
          <p:nvPr/>
        </p:nvSpPr>
        <p:spPr>
          <a:xfrm>
            <a:off x="5212080" y="128016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050" y="1494130"/>
            <a:ext cx="395021" cy="395021"/>
          </a:xfrm>
          <a:prstGeom prst="rect">
            <a:avLst/>
          </a:prstGeom>
        </p:spPr>
      </p:pic>
      <p:sp>
        <p:nvSpPr>
          <p:cNvPr id="15" name="Step arrow 3"/>
          <p:cNvSpPr/>
          <p:nvPr/>
        </p:nvSpPr>
        <p:spPr>
          <a:xfrm>
            <a:off x="6263640" y="1554480"/>
            <a:ext cx="41148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66344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Find colours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70916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picks out each red, blue, green and black drawing</a:t>
            </a:r>
            <a:endParaRPr lang="en-US" sz="1400" dirty="0"/>
          </a:p>
        </p:txBody>
      </p:sp>
      <p:sp>
        <p:nvSpPr>
          <p:cNvPr id="18" name="Step 4 circle"/>
          <p:cNvSpPr/>
          <p:nvPr/>
        </p:nvSpPr>
        <p:spPr>
          <a:xfrm>
            <a:off x="7315200" y="12801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170" y="1494130"/>
            <a:ext cx="395021" cy="39502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Map data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6812280" y="2788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drawings come back as a GIS layer</a:t>
            </a:r>
            <a:endParaRPr lang="en-US" sz="1400" dirty="0"/>
          </a:p>
        </p:txBody>
      </p:sp>
      <p:sp>
        <p:nvSpPr>
          <p:cNvPr id="22" name="Word card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 word: georeferencing.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Matching a picture to real places on Earth.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Live: let's upload!</a:t>
            </a:r>
            <a:endParaRPr lang="en-US" sz="3600" dirty="0"/>
          </a:p>
        </p:txBody>
      </p:sp>
      <p:pic>
        <p:nvPicPr>
          <p:cNvPr id="3" name="Paper to digital illustration smal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754880" cy="1636776"/>
          </a:xfrm>
          <a:prstGeom prst="rect">
            <a:avLst/>
          </a:prstGeom>
        </p:spPr>
      </p:pic>
      <p:sp>
        <p:nvSpPr>
          <p:cNvPr id="4" name="Demo steps card"/>
          <p:cNvSpPr/>
          <p:nvPr/>
        </p:nvSpPr>
        <p:spPr>
          <a:xfrm>
            <a:off x="5486400" y="1188720"/>
            <a:ext cx="3200400" cy="3383280"/>
          </a:xfrm>
          <a:prstGeom prst="roundRect">
            <a:avLst>
              <a:gd name="adj" fmla="val 342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715000" y="137160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sketch-map-tool.heigit.org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Choose Digitize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Choose file(s) and add the photos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Wait while it reads the maps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Download the results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918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While we wait: who thinks their map will come out perfectly? Who drew the most places?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Backup: one we made earlier</a:t>
            </a:r>
            <a:endParaRPr lang="en-US" sz="3600" dirty="0"/>
          </a:p>
        </p:txBody>
      </p:sp>
      <p:sp>
        <p:nvSpPr>
          <p:cNvPr id="3" name="Backup screenshot 1"/>
          <p:cNvSpPr/>
          <p:nvPr/>
        </p:nvSpPr>
        <p:spPr>
          <a:xfrm>
            <a:off x="457200" y="1188720"/>
            <a:ext cx="2615184" cy="2743200"/>
          </a:xfrm>
          <a:prstGeom prst="roundRect">
            <a:avLst>
              <a:gd name="adj" fmla="val 349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494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Screenshot 1: the photo being uploaded</a:t>
            </a:r>
            <a:endParaRPr lang="en-US" sz="1400" dirty="0"/>
          </a:p>
        </p:txBody>
      </p:sp>
      <p:sp>
        <p:nvSpPr>
          <p:cNvPr id="5" name="Backup screenshot 2"/>
          <p:cNvSpPr/>
          <p:nvPr/>
        </p:nvSpPr>
        <p:spPr>
          <a:xfrm>
            <a:off x="3264408" y="1188720"/>
            <a:ext cx="2615184" cy="2743200"/>
          </a:xfrm>
          <a:prstGeom prst="roundRect">
            <a:avLst>
              <a:gd name="adj" fmla="val 349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447288" y="1188720"/>
            <a:ext cx="22494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Screenshot 2: the tool's result</a:t>
            </a:r>
            <a:endParaRPr lang="en-US" sz="1400" dirty="0"/>
          </a:p>
        </p:txBody>
      </p:sp>
      <p:sp>
        <p:nvSpPr>
          <p:cNvPr id="7" name="Backup screenshot 3"/>
          <p:cNvSpPr/>
          <p:nvPr/>
        </p:nvSpPr>
        <p:spPr>
          <a:xfrm>
            <a:off x="6071616" y="1188720"/>
            <a:ext cx="2615184" cy="2743200"/>
          </a:xfrm>
          <a:prstGeom prst="roundRect">
            <a:avLst>
              <a:gd name="adj" fmla="val 349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254496" y="1188720"/>
            <a:ext cx="22494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Screenshot 3: the drawing in GeoLibre on a satellite map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Use this slide only if the live upload does not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PART 5  ·  OUR CLASS MAP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Everyone's drawings on one map</a:t>
            </a:r>
            <a:endParaRPr lang="en-US" sz="4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class map</a:t>
            </a:r>
            <a:endParaRPr lang="en-US" sz="3600" dirty="0"/>
          </a:p>
        </p:txBody>
      </p:sp>
      <p:sp>
        <p:nvSpPr>
          <p:cNvPr id="3" name="Class map placeholder"/>
          <p:cNvSpPr/>
          <p:nvPr/>
        </p:nvSpPr>
        <p:spPr>
          <a:xfrm>
            <a:off x="457200" y="1188720"/>
            <a:ext cx="822960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Show GeoLibre live with every child's drawing loaded together, or paste a screenshot here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do we notice?</a:t>
            </a:r>
            <a:endParaRPr lang="en-US" sz="3600" dirty="0"/>
          </a:p>
        </p:txBody>
      </p:sp>
      <p:sp>
        <p:nvSpPr>
          <p:cNvPr id="3" name="Question card 1"/>
          <p:cNvSpPr/>
          <p:nvPr/>
        </p:nvSpPr>
        <p:spPr>
          <a:xfrm>
            <a:off x="457200" y="12344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4" name="Question 1 circle"/>
          <p:cNvSpPr/>
          <p:nvPr/>
        </p:nvSpPr>
        <p:spPr>
          <a:xfrm>
            <a:off x="685800" y="16459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Ques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places did many of us mark?</a:t>
            </a:r>
            <a:endParaRPr lang="en-US" sz="18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2344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8" name="Question 2 circle"/>
          <p:cNvSpPr/>
          <p:nvPr/>
        </p:nvSpPr>
        <p:spPr>
          <a:xfrm>
            <a:off x="4892040" y="16459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Ques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48" y="18242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60720" y="137160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does water collect when it rains?</a:t>
            </a:r>
            <a:endParaRPr lang="en-US" sz="1800" dirty="0"/>
          </a:p>
        </p:txBody>
      </p:sp>
      <p:sp>
        <p:nvSpPr>
          <p:cNvPr id="11" name="Question card 3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2" name="Question 3 circle"/>
          <p:cNvSpPr/>
          <p:nvPr/>
        </p:nvSpPr>
        <p:spPr>
          <a:xfrm>
            <a:off x="685800" y="33375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Ques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5158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063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are the green spaces, and where are none?</a:t>
            </a:r>
            <a:endParaRPr lang="en-US" sz="1800" dirty="0"/>
          </a:p>
        </p:txBody>
      </p:sp>
      <p:sp>
        <p:nvSpPr>
          <p:cNvPr id="15" name="Question card 4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6" name="Question 4 circle"/>
          <p:cNvSpPr/>
          <p:nvPr/>
        </p:nvSpPr>
        <p:spPr>
          <a:xfrm>
            <a:off x="4892040" y="3337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Ques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351586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60720" y="3063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would you change in our neighbourhood?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we learned today</a:t>
            </a:r>
            <a:endParaRPr lang="en-US" sz="3600" dirty="0"/>
          </a:p>
        </p:txBody>
      </p:sp>
      <p:sp>
        <p:nvSpPr>
          <p:cNvPr id="3" name="Learned 1"/>
          <p:cNvSpPr/>
          <p:nvPr/>
        </p:nvSpPr>
        <p:spPr>
          <a:xfrm>
            <a:off x="457200" y="123444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" name="Learned check 1 circle"/>
          <p:cNvSpPr/>
          <p:nvPr/>
        </p:nvSpPr>
        <p:spPr>
          <a:xfrm>
            <a:off x="640080" y="144475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Learned chec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75511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People's knowledge belongs on maps</a:t>
            </a:r>
            <a:endParaRPr lang="en-US" sz="1700" dirty="0"/>
          </a:p>
        </p:txBody>
      </p:sp>
      <p:sp>
        <p:nvSpPr>
          <p:cNvPr id="7" name="Learned 2"/>
          <p:cNvSpPr/>
          <p:nvPr/>
        </p:nvSpPr>
        <p:spPr>
          <a:xfrm>
            <a:off x="4663440" y="123444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8" name="Learned check 2 circle"/>
          <p:cNvSpPr/>
          <p:nvPr/>
        </p:nvSpPr>
        <p:spPr>
          <a:xfrm>
            <a:off x="4846320" y="144475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Learned chec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157551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234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Points, lines and polygons</a:t>
            </a:r>
            <a:endParaRPr lang="en-US" sz="1700" dirty="0"/>
          </a:p>
        </p:txBody>
      </p:sp>
      <p:sp>
        <p:nvSpPr>
          <p:cNvPr id="11" name="Learned 3"/>
          <p:cNvSpPr/>
          <p:nvPr/>
        </p:nvSpPr>
        <p:spPr>
          <a:xfrm>
            <a:off x="457200" y="2331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2" name="Learned check 3 circle"/>
          <p:cNvSpPr/>
          <p:nvPr/>
        </p:nvSpPr>
        <p:spPr>
          <a:xfrm>
            <a:off x="640080" y="254203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Learned chec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67279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colour key (legend)</a:t>
            </a:r>
            <a:endParaRPr lang="en-US" sz="1700" dirty="0"/>
          </a:p>
        </p:txBody>
      </p:sp>
      <p:sp>
        <p:nvSpPr>
          <p:cNvPr id="15" name="Learned 4"/>
          <p:cNvSpPr/>
          <p:nvPr/>
        </p:nvSpPr>
        <p:spPr>
          <a:xfrm>
            <a:off x="4663440" y="2331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6" name="Learned check 4 circle"/>
          <p:cNvSpPr/>
          <p:nvPr/>
        </p:nvSpPr>
        <p:spPr>
          <a:xfrm>
            <a:off x="4846320" y="254203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Learned check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079" y="2672791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3212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Georeferencing: photo to real place</a:t>
            </a:r>
            <a:endParaRPr lang="en-US" sz="1700" dirty="0"/>
          </a:p>
        </p:txBody>
      </p:sp>
      <p:sp>
        <p:nvSpPr>
          <p:cNvPr id="19" name="Learned 5"/>
          <p:cNvSpPr/>
          <p:nvPr/>
        </p:nvSpPr>
        <p:spPr>
          <a:xfrm>
            <a:off x="457200" y="34290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0" name="Learned check 5 circle"/>
          <p:cNvSpPr/>
          <p:nvPr/>
        </p:nvSpPr>
        <p:spPr>
          <a:xfrm>
            <a:off x="640080" y="363931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Learned check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3770071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Paper drawings become GIS data</a:t>
            </a:r>
            <a:endParaRPr lang="en-US" sz="1700" dirty="0"/>
          </a:p>
        </p:txBody>
      </p:sp>
      <p:sp>
        <p:nvSpPr>
          <p:cNvPr id="23" name="Learned 6"/>
          <p:cNvSpPr/>
          <p:nvPr/>
        </p:nvSpPr>
        <p:spPr>
          <a:xfrm>
            <a:off x="4663440" y="34290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4" name="Learned check 6 circle"/>
          <p:cNvSpPr/>
          <p:nvPr/>
        </p:nvSpPr>
        <p:spPr>
          <a:xfrm>
            <a:off x="4846320" y="363931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Learned check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079" y="3770071"/>
            <a:ext cx="241402" cy="2414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53212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Many maps together tell a bigger story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THANK YOU, MAPMAKERS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Keep mapping!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Take your map home. Ask a grandparent or neighbour what they would add.</a:t>
            </a:r>
            <a:endParaRPr lang="en-US" sz="1800" dirty="0"/>
          </a:p>
        </p:txBody>
      </p:sp>
      <p:pic>
        <p:nvPicPr>
          <p:cNvPr id="5" name="Paper to digital illustration clos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514600"/>
            <a:ext cx="6217920" cy="21396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pping with Kids">
  <a:themeElements>
    <a:clrScheme name="Mapping with Kids">
      <a:dk1>
        <a:srgbClr val="111827"/>
      </a:dk1>
      <a:lt1>
        <a:srgbClr val="FFFFFF"/>
      </a:lt1>
      <a:dk2>
        <a:srgbClr val="374151"/>
      </a:dk2>
      <a:lt2>
        <a:srgbClr val="EFF6FF"/>
      </a:lt2>
      <a:accent1>
        <a:srgbClr val="1D4ED8"/>
      </a:accent1>
      <a:accent2>
        <a:srgbClr val="D97706"/>
      </a:accent2>
      <a:accent3>
        <a:srgbClr val="059669"/>
      </a:accent3>
      <a:accent4>
        <a:srgbClr val="DC2626"/>
      </a:accent4>
      <a:accent5>
        <a:srgbClr val="2563EB"/>
      </a:accent5>
      <a:accent6>
        <a:srgbClr val="7E22CE"/>
      </a:accent6>
      <a:hlink>
        <a:srgbClr val="1D4ED8"/>
      </a:hlink>
      <a:folHlink>
        <a:srgbClr val="7E22CE"/>
      </a:folHlink>
    </a:clrScheme>
    <a:fontScheme name="Mapping with Kid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Paper to Map</dc:title>
  <dc:subject>PptxGenJS Presentation</dc:subject>
  <dc:creator>Sonia Das</dc:creator>
  <cp:lastModifiedBy>Sonia Das</cp:lastModifiedBy>
  <cp:revision>1</cp:revision>
  <dcterms:created xsi:type="dcterms:W3CDTF">2026-10-05T12:48:19Z</dcterms:created>
  <dcterms:modified xsi:type="dcterms:W3CDTF">2026-10-05T12:48:19Z</dcterms:modified>
</cp:coreProperties>
</file>