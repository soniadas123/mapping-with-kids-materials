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3705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back, mapmakers. Last time we drew the outline of India. Today we learn the secret address that every spot on Earth has, and we use it to put famous places of India on our map.</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Steps 1 to 3 are about the numbers that tell us where a place is. Steps 4 to 6 are the GIS skills you will use in Exercise 2. Ask: who has visited a famous place in India? Which one?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house, school and shop has a postal address. But a postman cannot deliver a letter to the middle of a forest. Scientists, pilots and ship captains use coordinates instead. Bengaluru is about 13 degrees north and 77.6 degrees east. Your phone's map app uses these numbers all the time.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Latitude lines run east-west around the Earth, but they measure how far north or south you are. A trick to remember: LAT-itude lines lie FLAT. The equator is 0. Places north of it are N, places south of it are S. Delhi is at about 29 N, Bengaluru at about 13 N, so Delhi is further north.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Longitude lines are called meridians. They all meet at the poles, like the segments of an orange. People agreed long ago to call the line through Greenwich in London zero. India is east of it, so Indian longitudes end in E. Latitude plus longitude gives one exact spot, like a square on a chess board.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to Bengaluru: about 13 N, 77.6 E. The Tropic of Cancer crosses eight states: Gujarat, Rajasthan, Madhya Pradesh, Chhattisgarh, Jharkhand, West Bengal, Tripura and Mizoram. Ask: is Bengaluru north or south of the Tropic of Cancer? (South.)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Students put a finger on the map where the lines cross. Answers: A is the Taj Mahal in Agra. B is the Golden Temple in Amritsar. C is the Meenakshi Temple in Madurai. All three are in today's data, so they will see them again in Exercise 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part of the file you will use, famous_places.csv. It has 16 rows. If you open it in Notepad you will see commas between every value: Taj Mahal,Monument,Agra,27.1751,78.0421. Spreadsheets like Excel show the same file as a neat grid.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GIS reads each row, finds the latitude and longitude, and puts a dot there. Three rows give three dots. In Exercise 2 your table has 16 rows, so you will get 16 dots. In Exercise 1 India was a polygon. Here each city is so small on a map of India that a point is enough.</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table has a type column with four groups. GIS software can colour the dots by that column automatically. Your colours in GeoLibre may be different from these, and that is fine. Ask: what group would your school go in? What new group could we add?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dot on a paper map is just a dot. A dot in GIS remembers every fact from its row in the table. A label writes one of those facts on the map. The attribute table shows all of them. If you change a name in the table, the label on the map changes too.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crow does not need roads, so it can fly straight. The straight line from Bengaluru to Mysuru is about 130 km. The road is about 145 km. In Exercise 2 the Measure tool gives you the straight-line distance. Ask: why might a train trip be longer still?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buffer is like drawing a circle with a compass, with the place at the centre. Everything inside the circle is within that distance. India's law for ancient monuments (the AMASR Act) uses two buffers around every protected monument: a 100 m prohibited area where nothing new can be built, and a further 200 m regulated area where building needs permission from the National Monuments Authority. Planners draw these buffers in GIS to check whether a new building is allowed. You will make your own buffers in Exercise 3.</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real map of Bengaluru's Purple and Green metro lines. On a city map a 500 m circle is tiny, so on the right we zoom in on one station. When an advert says a flat is 500 m from the metro, it means the flat is inside a 500 m buffer around the station: about a 6 minute walk. Bengaluru's Transit-Oriented Development policy (2022) uses this same 500 m zone to plan more homes, offices and footpaths near stations, so more people can walk to the metro. Ask: is your home or school near a station? Find Indiranagar or Rajajinagar on the map.</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one of these is a question about distance from a place, which is what a GIS answers. The school rule comes from Karnataka's Right to Education rules: a primary school within 1 km walking distance. Delivery apps draw a zone around each restaurant. Emergency services look for the nearest hospital or fire station. Ask: where else have you seen a distance like this? In Exercise 3 you will draw these zones around your own city.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good map has these four parts. Exercise 1 had a title, north arrow and scale bar. Because our dots now have different colours, the reader needs a legend to know what they mean. Without it, a red dot could mean anything.</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Answers: 1. Latitude. 2. North, all of it. 3. Comma-Separated Values. 4. Roads bend around hills, lakes and buildings, but a straight line does not. 5. The place is inside a 500 m buffer around a metro station, about a 6 minute walk. Then hand out the Exercise 2 tutorial.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40"/>
        </a:solidFill>
        <a:effectLst/>
      </p:bgPr>
    </p:bg>
    <p:spTree>
      <p:nvGrpSpPr>
        <p:cNvPr id="1" name=""/>
        <p:cNvGrpSpPr/>
        <p:nvPr/>
      </p:nvGrpSpPr>
      <p:grpSpPr>
        <a:xfrm>
          <a:off x="0" y="0"/>
          <a:ext cx="0" cy="0"/>
          <a:chOff x="0" y="0"/>
          <a:chExt cx="0" cy="0"/>
        </a:xfrm>
      </p:grpSpPr>
      <p:sp>
        <p:nvSpPr>
          <p:cNvPr id="2" name="TextBox 1"/>
          <p:cNvSpPr txBox="1"/>
          <p:nvPr/>
        </p:nvSpPr>
        <p:spPr>
          <a:xfrm>
            <a:off x="731520" y="1371600"/>
            <a:ext cx="5669280" cy="457200"/>
          </a:xfrm>
          <a:prstGeom prst="rect">
            <a:avLst/>
          </a:prstGeom>
          <a:noFill/>
        </p:spPr>
        <p:txBody>
          <a:bodyPr wrap="square" lIns="45720" rIns="45720" anchor="t">
            <a:spAutoFit/>
          </a:bodyPr>
          <a:lstStyle/>
          <a:p>
            <a:pPr algn="l">
              <a:spcAft>
                <a:spcPts val="1000"/>
              </a:spcAft>
            </a:pPr>
            <a:r>
              <a:rPr sz="1600" b="1">
                <a:solidFill>
                  <a:srgbClr val="E8A317"/>
                </a:solidFill>
                <a:latin typeface="Calibri"/>
              </a:rPr>
              <a:t>MAPPING WITH KIDS  |  BEFORE EXERCISE 2</a:t>
            </a:r>
          </a:p>
        </p:txBody>
      </p:sp>
      <p:sp>
        <p:nvSpPr>
          <p:cNvPr id="3" name="TextBox 2"/>
          <p:cNvSpPr txBox="1"/>
          <p:nvPr/>
        </p:nvSpPr>
        <p:spPr>
          <a:xfrm>
            <a:off x="731520" y="1920240"/>
            <a:ext cx="5669280" cy="1828800"/>
          </a:xfrm>
          <a:prstGeom prst="rect">
            <a:avLst/>
          </a:prstGeom>
          <a:noFill/>
        </p:spPr>
        <p:txBody>
          <a:bodyPr wrap="square" lIns="45720" rIns="45720" anchor="t">
            <a:spAutoFit/>
          </a:bodyPr>
          <a:lstStyle/>
          <a:p>
            <a:pPr algn="l">
              <a:spcAft>
                <a:spcPts val="1000"/>
              </a:spcAft>
            </a:pPr>
            <a:r>
              <a:rPr sz="4800" b="1">
                <a:solidFill>
                  <a:srgbClr val="FFFFFF"/>
                </a:solidFill>
                <a:latin typeface="Calibri"/>
              </a:rPr>
              <a:t>Every Place Has an Address</a:t>
            </a:r>
          </a:p>
        </p:txBody>
      </p:sp>
      <p:sp>
        <p:nvSpPr>
          <p:cNvPr id="4" name="TextBox 3"/>
          <p:cNvSpPr txBox="1"/>
          <p:nvPr/>
        </p:nvSpPr>
        <p:spPr>
          <a:xfrm>
            <a:off x="731520" y="3840480"/>
            <a:ext cx="5486400" cy="1097280"/>
          </a:xfrm>
          <a:prstGeom prst="rect">
            <a:avLst/>
          </a:prstGeom>
          <a:noFill/>
        </p:spPr>
        <p:txBody>
          <a:bodyPr wrap="square" lIns="45720" rIns="45720" anchor="t">
            <a:spAutoFit/>
          </a:bodyPr>
          <a:lstStyle/>
          <a:p>
            <a:pPr algn="l">
              <a:spcAft>
                <a:spcPts val="1000"/>
              </a:spcAft>
            </a:pPr>
            <a:r>
              <a:rPr sz="2400" b="0">
                <a:solidFill>
                  <a:srgbClr val="CBD5E1"/>
                </a:solidFill>
                <a:latin typeface="Calibri"/>
              </a:rPr>
              <a:t>Latitude, longitude, and turning a table into a map</a:t>
            </a:r>
          </a:p>
        </p:txBody>
      </p:sp>
      <p:pic>
        <p:nvPicPr>
          <p:cNvPr id="5" name="Picture 4" descr="s2.png"/>
          <p:cNvPicPr>
            <a:picLocks noChangeAspect="1"/>
          </p:cNvPicPr>
          <p:nvPr/>
        </p:nvPicPr>
        <p:blipFill>
          <a:blip r:embed="rId3"/>
          <a:stretch>
            <a:fillRect/>
          </a:stretch>
        </p:blipFill>
        <p:spPr>
          <a:xfrm>
            <a:off x="6675120" y="1828800"/>
            <a:ext cx="4937760" cy="2772929"/>
          </a:xfrm>
          <a:prstGeom prst="rect">
            <a:avLst/>
          </a:prstGeom>
          <a:ln w="12700">
            <a:solidFill>
              <a:srgbClr val="D1D5DB"/>
            </a:solid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Today's journey</a:t>
            </a:r>
          </a:p>
        </p:txBody>
      </p:sp>
      <p:sp>
        <p:nvSpPr>
          <p:cNvPr id="3" name="Oval 2"/>
          <p:cNvSpPr/>
          <p:nvPr/>
        </p:nvSpPr>
        <p:spPr>
          <a:xfrm>
            <a:off x="1097280" y="2377440"/>
            <a:ext cx="1005840" cy="1005840"/>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200" b="1">
                <a:solidFill>
                  <a:srgbClr val="FFFFFF"/>
                </a:solidFill>
                <a:latin typeface="Calibri"/>
              </a:rPr>
              <a:t>1</a:t>
            </a:r>
          </a:p>
        </p:txBody>
      </p:sp>
      <p:sp>
        <p:nvSpPr>
          <p:cNvPr id="4" name="TextBox 3"/>
          <p:cNvSpPr txBox="1"/>
          <p:nvPr/>
        </p:nvSpPr>
        <p:spPr>
          <a:xfrm>
            <a:off x="685800" y="3566160"/>
            <a:ext cx="1828800" cy="914400"/>
          </a:xfrm>
          <a:prstGeom prst="rect">
            <a:avLst/>
          </a:prstGeom>
          <a:noFill/>
        </p:spPr>
        <p:txBody>
          <a:bodyPr wrap="square" lIns="45720" rIns="45720" anchor="t">
            <a:spAutoFit/>
          </a:bodyPr>
          <a:lstStyle/>
          <a:p>
            <a:pPr algn="ctr">
              <a:spcAft>
                <a:spcPts val="1000"/>
              </a:spcAft>
            </a:pPr>
            <a:r>
              <a:rPr sz="1800" b="1">
                <a:solidFill>
                  <a:srgbClr val="1F2937"/>
                </a:solidFill>
                <a:latin typeface="Calibri"/>
              </a:rPr>
              <a:t>Addresses on Earth</a:t>
            </a:r>
          </a:p>
        </p:txBody>
      </p:sp>
      <p:cxnSp>
        <p:nvCxnSpPr>
          <p:cNvPr id="5" name="Connector 4"/>
          <p:cNvCxnSpPr/>
          <p:nvPr/>
        </p:nvCxnSpPr>
        <p:spPr>
          <a:xfrm>
            <a:off x="2194560" y="2880360"/>
            <a:ext cx="548640" cy="0"/>
          </a:xfrm>
          <a:prstGeom prst="line">
            <a:avLst/>
          </a:prstGeom>
          <a:ln w="2540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2926080" y="2377440"/>
            <a:ext cx="1005840" cy="1005840"/>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200" b="1">
                <a:solidFill>
                  <a:srgbClr val="FFFFFF"/>
                </a:solidFill>
                <a:latin typeface="Calibri"/>
              </a:rPr>
              <a:t>2</a:t>
            </a:r>
          </a:p>
        </p:txBody>
      </p:sp>
      <p:sp>
        <p:nvSpPr>
          <p:cNvPr id="7" name="TextBox 6"/>
          <p:cNvSpPr txBox="1"/>
          <p:nvPr/>
        </p:nvSpPr>
        <p:spPr>
          <a:xfrm>
            <a:off x="2514600" y="3566160"/>
            <a:ext cx="1828800" cy="914400"/>
          </a:xfrm>
          <a:prstGeom prst="rect">
            <a:avLst/>
          </a:prstGeom>
          <a:noFill/>
        </p:spPr>
        <p:txBody>
          <a:bodyPr wrap="square" lIns="45720" rIns="45720" anchor="t">
            <a:spAutoFit/>
          </a:bodyPr>
          <a:lstStyle/>
          <a:p>
            <a:pPr algn="ctr">
              <a:spcAft>
                <a:spcPts val="1000"/>
              </a:spcAft>
            </a:pPr>
            <a:r>
              <a:rPr sz="1800" b="1">
                <a:solidFill>
                  <a:srgbClr val="1F2937"/>
                </a:solidFill>
                <a:latin typeface="Calibri"/>
              </a:rPr>
              <a:t>Latitude</a:t>
            </a:r>
          </a:p>
        </p:txBody>
      </p:sp>
      <p:cxnSp>
        <p:nvCxnSpPr>
          <p:cNvPr id="8" name="Connector 7"/>
          <p:cNvCxnSpPr/>
          <p:nvPr/>
        </p:nvCxnSpPr>
        <p:spPr>
          <a:xfrm>
            <a:off x="4023360" y="2880360"/>
            <a:ext cx="548640" cy="0"/>
          </a:xfrm>
          <a:prstGeom prst="line">
            <a:avLst/>
          </a:prstGeom>
          <a:ln w="2540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4754880" y="2377440"/>
            <a:ext cx="1005840" cy="1005840"/>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200" b="1">
                <a:solidFill>
                  <a:srgbClr val="FFFFFF"/>
                </a:solidFill>
                <a:latin typeface="Calibri"/>
              </a:rPr>
              <a:t>3</a:t>
            </a:r>
          </a:p>
        </p:txBody>
      </p:sp>
      <p:sp>
        <p:nvSpPr>
          <p:cNvPr id="10" name="TextBox 9"/>
          <p:cNvSpPr txBox="1"/>
          <p:nvPr/>
        </p:nvSpPr>
        <p:spPr>
          <a:xfrm>
            <a:off x="4343400" y="3566160"/>
            <a:ext cx="1828800" cy="914400"/>
          </a:xfrm>
          <a:prstGeom prst="rect">
            <a:avLst/>
          </a:prstGeom>
          <a:noFill/>
        </p:spPr>
        <p:txBody>
          <a:bodyPr wrap="square" lIns="45720" rIns="45720" anchor="t">
            <a:spAutoFit/>
          </a:bodyPr>
          <a:lstStyle/>
          <a:p>
            <a:pPr algn="ctr">
              <a:spcAft>
                <a:spcPts val="1000"/>
              </a:spcAft>
            </a:pPr>
            <a:r>
              <a:rPr sz="1800" b="1">
                <a:solidFill>
                  <a:srgbClr val="1F2937"/>
                </a:solidFill>
                <a:latin typeface="Calibri"/>
              </a:rPr>
              <a:t>Longitude</a:t>
            </a:r>
          </a:p>
        </p:txBody>
      </p:sp>
      <p:cxnSp>
        <p:nvCxnSpPr>
          <p:cNvPr id="11" name="Connector 10"/>
          <p:cNvCxnSpPr/>
          <p:nvPr/>
        </p:nvCxnSpPr>
        <p:spPr>
          <a:xfrm>
            <a:off x="5852160" y="2880360"/>
            <a:ext cx="548640" cy="0"/>
          </a:xfrm>
          <a:prstGeom prst="line">
            <a:avLst/>
          </a:prstGeom>
          <a:ln w="2540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6583680" y="2377440"/>
            <a:ext cx="1005840" cy="1005840"/>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200" b="1">
                <a:solidFill>
                  <a:srgbClr val="FFFFFF"/>
                </a:solidFill>
                <a:latin typeface="Calibri"/>
              </a:rPr>
              <a:t>4</a:t>
            </a:r>
          </a:p>
        </p:txBody>
      </p:sp>
      <p:sp>
        <p:nvSpPr>
          <p:cNvPr id="13" name="TextBox 12"/>
          <p:cNvSpPr txBox="1"/>
          <p:nvPr/>
        </p:nvSpPr>
        <p:spPr>
          <a:xfrm>
            <a:off x="6172200" y="3566160"/>
            <a:ext cx="1828800" cy="914400"/>
          </a:xfrm>
          <a:prstGeom prst="rect">
            <a:avLst/>
          </a:prstGeom>
          <a:noFill/>
        </p:spPr>
        <p:txBody>
          <a:bodyPr wrap="square" lIns="45720" rIns="45720" anchor="t">
            <a:spAutoFit/>
          </a:bodyPr>
          <a:lstStyle/>
          <a:p>
            <a:pPr algn="ctr">
              <a:spcAft>
                <a:spcPts val="1000"/>
              </a:spcAft>
            </a:pPr>
            <a:r>
              <a:rPr sz="1800" b="1">
                <a:solidFill>
                  <a:srgbClr val="1F2937"/>
                </a:solidFill>
                <a:latin typeface="Calibri"/>
              </a:rPr>
              <a:t>From table to dots</a:t>
            </a:r>
          </a:p>
        </p:txBody>
      </p:sp>
      <p:cxnSp>
        <p:nvCxnSpPr>
          <p:cNvPr id="14" name="Connector 13"/>
          <p:cNvCxnSpPr/>
          <p:nvPr/>
        </p:nvCxnSpPr>
        <p:spPr>
          <a:xfrm>
            <a:off x="7680960" y="2880360"/>
            <a:ext cx="548640" cy="0"/>
          </a:xfrm>
          <a:prstGeom prst="line">
            <a:avLst/>
          </a:prstGeom>
          <a:ln w="2540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8412480" y="2377440"/>
            <a:ext cx="1005840" cy="1005840"/>
          </a:xfrm>
          <a:prstGeom prst="ellipse">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200" b="1">
                <a:solidFill>
                  <a:srgbClr val="FFFFFF"/>
                </a:solidFill>
                <a:latin typeface="Calibri"/>
              </a:rPr>
              <a:t>5</a:t>
            </a:r>
          </a:p>
        </p:txBody>
      </p:sp>
      <p:sp>
        <p:nvSpPr>
          <p:cNvPr id="16" name="TextBox 15"/>
          <p:cNvSpPr txBox="1"/>
          <p:nvPr/>
        </p:nvSpPr>
        <p:spPr>
          <a:xfrm>
            <a:off x="8001000" y="3566160"/>
            <a:ext cx="1828800" cy="914400"/>
          </a:xfrm>
          <a:prstGeom prst="rect">
            <a:avLst/>
          </a:prstGeom>
          <a:noFill/>
        </p:spPr>
        <p:txBody>
          <a:bodyPr wrap="square" lIns="45720" rIns="45720" anchor="t">
            <a:spAutoFit/>
          </a:bodyPr>
          <a:lstStyle/>
          <a:p>
            <a:pPr algn="ctr">
              <a:spcAft>
                <a:spcPts val="1000"/>
              </a:spcAft>
            </a:pPr>
            <a:r>
              <a:rPr sz="1800" b="1">
                <a:solidFill>
                  <a:srgbClr val="1F2937"/>
                </a:solidFill>
                <a:latin typeface="Calibri"/>
              </a:rPr>
              <a:t>Colours and labels</a:t>
            </a:r>
          </a:p>
        </p:txBody>
      </p:sp>
      <p:cxnSp>
        <p:nvCxnSpPr>
          <p:cNvPr id="17" name="Connector 16"/>
          <p:cNvCxnSpPr/>
          <p:nvPr/>
        </p:nvCxnSpPr>
        <p:spPr>
          <a:xfrm>
            <a:off x="9509760" y="2880360"/>
            <a:ext cx="548640" cy="0"/>
          </a:xfrm>
          <a:prstGeom prst="line">
            <a:avLst/>
          </a:prstGeom>
          <a:ln w="2540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0241280" y="2377440"/>
            <a:ext cx="1005840" cy="1005840"/>
          </a:xfrm>
          <a:prstGeom prst="ellipse">
            <a:avLst/>
          </a:prstGeom>
          <a:solidFill>
            <a:srgbClr val="D94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200" b="1">
                <a:solidFill>
                  <a:srgbClr val="FFFFFF"/>
                </a:solidFill>
                <a:latin typeface="Calibri"/>
              </a:rPr>
              <a:t>6</a:t>
            </a:r>
          </a:p>
        </p:txBody>
      </p:sp>
      <p:sp>
        <p:nvSpPr>
          <p:cNvPr id="19" name="TextBox 18"/>
          <p:cNvSpPr txBox="1"/>
          <p:nvPr/>
        </p:nvSpPr>
        <p:spPr>
          <a:xfrm>
            <a:off x="9829800" y="3566160"/>
            <a:ext cx="1828800" cy="914400"/>
          </a:xfrm>
          <a:prstGeom prst="rect">
            <a:avLst/>
          </a:prstGeom>
          <a:noFill/>
        </p:spPr>
        <p:txBody>
          <a:bodyPr wrap="square" lIns="45720" rIns="45720" anchor="t">
            <a:spAutoFit/>
          </a:bodyPr>
          <a:lstStyle/>
          <a:p>
            <a:pPr algn="ctr">
              <a:spcAft>
                <a:spcPts val="1000"/>
              </a:spcAft>
            </a:pPr>
            <a:r>
              <a:rPr sz="1800" b="1">
                <a:solidFill>
                  <a:srgbClr val="1F2937"/>
                </a:solidFill>
                <a:latin typeface="Calibri"/>
              </a:rPr>
              <a:t>Distance and buffers</a:t>
            </a:r>
          </a:p>
        </p:txBody>
      </p:sp>
      <p:sp>
        <p:nvSpPr>
          <p:cNvPr id="20" name="TextBox 19"/>
          <p:cNvSpPr txBox="1"/>
          <p:nvPr/>
        </p:nvSpPr>
        <p:spPr>
          <a:xfrm>
            <a:off x="685800" y="5029200"/>
            <a:ext cx="10789920" cy="731520"/>
          </a:xfrm>
          <a:prstGeom prst="rect">
            <a:avLst/>
          </a:prstGeom>
          <a:noFill/>
        </p:spPr>
        <p:txBody>
          <a:bodyPr wrap="square" lIns="45720" rIns="45720" anchor="t">
            <a:spAutoFit/>
          </a:bodyPr>
          <a:lstStyle/>
          <a:p>
            <a:pPr algn="ctr">
              <a:spcAft>
                <a:spcPts val="1000"/>
              </a:spcAft>
            </a:pPr>
            <a:r>
              <a:rPr sz="2200" b="0">
                <a:solidFill>
                  <a:srgbClr val="6B7280"/>
                </a:solidFill>
                <a:latin typeface="Calibri"/>
              </a:rPr>
              <a:t>At the end you will put 16 famous places of India on your own map.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Every place has two addresses</a:t>
            </a:r>
          </a:p>
        </p:txBody>
      </p:sp>
      <p:sp>
        <p:nvSpPr>
          <p:cNvPr id="3" name="Rounded Rectangle 2"/>
          <p:cNvSpPr/>
          <p:nvPr/>
        </p:nvSpPr>
        <p:spPr>
          <a:xfrm>
            <a:off x="548640" y="1463040"/>
            <a:ext cx="5120640" cy="23774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1645920"/>
            <a:ext cx="4663440" cy="365760"/>
          </a:xfrm>
          <a:prstGeom prst="rect">
            <a:avLst/>
          </a:prstGeom>
          <a:noFill/>
        </p:spPr>
        <p:txBody>
          <a:bodyPr wrap="square" lIns="45720" rIns="45720" anchor="t">
            <a:spAutoFit/>
          </a:bodyPr>
          <a:lstStyle/>
          <a:p>
            <a:pPr algn="l">
              <a:spcAft>
                <a:spcPts val="1000"/>
              </a:spcAft>
            </a:pPr>
            <a:r>
              <a:rPr sz="1400" b="1">
                <a:solidFill>
                  <a:srgbClr val="6B7280"/>
                </a:solidFill>
                <a:latin typeface="Calibri"/>
              </a:rPr>
              <a:t>POSTAL ADDRESS</a:t>
            </a:r>
          </a:p>
        </p:txBody>
      </p:sp>
      <p:sp>
        <p:nvSpPr>
          <p:cNvPr id="5" name="TextBox 4"/>
          <p:cNvSpPr txBox="1"/>
          <p:nvPr/>
        </p:nvSpPr>
        <p:spPr>
          <a:xfrm>
            <a:off x="777240" y="2011680"/>
            <a:ext cx="4663440" cy="1691640"/>
          </a:xfrm>
          <a:prstGeom prst="rect">
            <a:avLst/>
          </a:prstGeom>
          <a:noFill/>
        </p:spPr>
        <p:txBody>
          <a:bodyPr wrap="square" lIns="45720" rIns="45720" anchor="t">
            <a:spAutoFit/>
          </a:bodyPr>
          <a:lstStyle/>
          <a:p>
            <a:pPr algn="l">
              <a:spcAft>
                <a:spcPts val="1000"/>
              </a:spcAft>
            </a:pPr>
            <a:r>
              <a:rPr sz="2000" b="0">
                <a:solidFill>
                  <a:srgbClr val="1F2937"/>
                </a:solidFill>
                <a:latin typeface="Calibri"/>
              </a:rPr>
              <a:t>Vidhana Soudha</a:t>
            </a:r>
          </a:p>
          <a:p>
            <a:pPr algn="l">
              <a:spcAft>
                <a:spcPts val="1000"/>
              </a:spcAft>
            </a:pPr>
            <a:r>
              <a:rPr sz="2000" b="0">
                <a:solidFill>
                  <a:srgbClr val="1F2937"/>
                </a:solidFill>
                <a:latin typeface="Calibri"/>
              </a:rPr>
              <a:t>Ambedkar Veedhi</a:t>
            </a:r>
          </a:p>
          <a:p>
            <a:pPr algn="l">
              <a:spcAft>
                <a:spcPts val="1000"/>
              </a:spcAft>
            </a:pPr>
            <a:r>
              <a:rPr sz="2000" b="0">
                <a:solidFill>
                  <a:srgbClr val="1F2937"/>
                </a:solidFill>
                <a:latin typeface="Calibri"/>
              </a:rPr>
              <a:t>Bengaluru 560001</a:t>
            </a:r>
          </a:p>
        </p:txBody>
      </p:sp>
      <p:sp>
        <p:nvSpPr>
          <p:cNvPr id="6" name="Rounded Rectangle 5"/>
          <p:cNvSpPr/>
          <p:nvPr/>
        </p:nvSpPr>
        <p:spPr>
          <a:xfrm>
            <a:off x="6400800" y="1463040"/>
            <a:ext cx="5212080" cy="2377440"/>
          </a:xfrm>
          <a:prstGeom prst="roundRect">
            <a:avLst>
              <a:gd name="adj" fmla="val 8000"/>
            </a:avLst>
          </a:prstGeom>
          <a:solidFill>
            <a:srgbClr val="E7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29400" y="1645920"/>
            <a:ext cx="4754880" cy="365760"/>
          </a:xfrm>
          <a:prstGeom prst="rect">
            <a:avLst/>
          </a:prstGeom>
          <a:noFill/>
        </p:spPr>
        <p:txBody>
          <a:bodyPr wrap="square" lIns="45720" rIns="45720" anchor="t">
            <a:spAutoFit/>
          </a:bodyPr>
          <a:lstStyle/>
          <a:p>
            <a:pPr algn="l">
              <a:spcAft>
                <a:spcPts val="1000"/>
              </a:spcAft>
            </a:pPr>
            <a:r>
              <a:rPr sz="1400" b="1">
                <a:solidFill>
                  <a:srgbClr val="1F6FB2"/>
                </a:solidFill>
                <a:latin typeface="Calibri"/>
              </a:rPr>
              <a:t>EARTH ADDRESS</a:t>
            </a:r>
          </a:p>
        </p:txBody>
      </p:sp>
      <p:sp>
        <p:nvSpPr>
          <p:cNvPr id="8" name="TextBox 7"/>
          <p:cNvSpPr txBox="1"/>
          <p:nvPr/>
        </p:nvSpPr>
        <p:spPr>
          <a:xfrm>
            <a:off x="6629400" y="2011680"/>
            <a:ext cx="4754880" cy="1691640"/>
          </a:xfrm>
          <a:prstGeom prst="rect">
            <a:avLst/>
          </a:prstGeom>
          <a:noFill/>
        </p:spPr>
        <p:txBody>
          <a:bodyPr wrap="square" lIns="45720" rIns="45720" anchor="t">
            <a:spAutoFit/>
          </a:bodyPr>
          <a:lstStyle/>
          <a:p>
            <a:pPr algn="l">
              <a:spcAft>
                <a:spcPts val="1000"/>
              </a:spcAft>
            </a:pPr>
            <a:r>
              <a:rPr sz="2400" b="0">
                <a:solidFill>
                  <a:srgbClr val="1F2937"/>
                </a:solidFill>
                <a:latin typeface="Calibri"/>
              </a:rPr>
              <a:t>Latitude: 12.98 N</a:t>
            </a:r>
          </a:p>
          <a:p>
            <a:pPr algn="l">
              <a:spcAft>
                <a:spcPts val="1000"/>
              </a:spcAft>
            </a:pPr>
            <a:r>
              <a:rPr sz="2400" b="0">
                <a:solidFill>
                  <a:srgbClr val="1F2937"/>
                </a:solidFill>
                <a:latin typeface="Calibri"/>
              </a:rPr>
              <a:t>Longitude: 77.59 E</a:t>
            </a:r>
          </a:p>
        </p:txBody>
      </p:sp>
      <p:cxnSp>
        <p:nvCxnSpPr>
          <p:cNvPr id="9" name="Connector 8"/>
          <p:cNvCxnSpPr/>
          <p:nvPr/>
        </p:nvCxnSpPr>
        <p:spPr>
          <a:xfrm>
            <a:off x="5760720" y="2651760"/>
            <a:ext cx="548640" cy="0"/>
          </a:xfrm>
          <a:prstGeom prst="line">
            <a:avLst/>
          </a:prstGeom>
          <a:ln w="3810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4114800"/>
            <a:ext cx="5852160" cy="1828800"/>
          </a:xfrm>
          <a:prstGeom prst="rect">
            <a:avLst/>
          </a:prstGeom>
          <a:noFill/>
        </p:spPr>
        <p:txBody>
          <a:bodyPr wrap="square" lIns="45720" rIns="45720" anchor="t">
            <a:spAutoFit/>
          </a:bodyPr>
          <a:lstStyle/>
          <a:p>
            <a:pPr algn="l">
              <a:spcAft>
                <a:spcPts val="1000"/>
              </a:spcAft>
            </a:pPr>
            <a:r>
              <a:rPr sz="2000" b="0">
                <a:solidFill>
                  <a:srgbClr val="1F2937"/>
                </a:solidFill>
                <a:latin typeface="Calibri"/>
              </a:rPr>
              <a:t>A postal address only works if you know the street names. The Earth address works anywhere: in a city, a forest, or the middle of the sea.</a:t>
            </a:r>
          </a:p>
        </p:txBody>
      </p:sp>
      <p:sp>
        <p:nvSpPr>
          <p:cNvPr id="11" name="Rounded Rectangle 10"/>
          <p:cNvSpPr/>
          <p:nvPr/>
        </p:nvSpPr>
        <p:spPr>
          <a:xfrm>
            <a:off x="6400800" y="4114800"/>
            <a:ext cx="5212080" cy="173736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29400" y="4297680"/>
            <a:ext cx="4754880" cy="365760"/>
          </a:xfrm>
          <a:prstGeom prst="rect">
            <a:avLst/>
          </a:prstGeom>
          <a:noFill/>
        </p:spPr>
        <p:txBody>
          <a:bodyPr wrap="square" lIns="45720" rIns="45720" anchor="t">
            <a:spAutoFit/>
          </a:bodyPr>
          <a:lstStyle/>
          <a:p>
            <a:pPr algn="l">
              <a:spcAft>
                <a:spcPts val="1000"/>
              </a:spcAft>
            </a:pPr>
            <a:r>
              <a:rPr sz="1400" b="1">
                <a:solidFill>
                  <a:srgbClr val="92400E"/>
                </a:solidFill>
                <a:latin typeface="Calibri"/>
              </a:rPr>
              <a:t>WORD OF THE DAY</a:t>
            </a:r>
          </a:p>
        </p:txBody>
      </p:sp>
      <p:sp>
        <p:nvSpPr>
          <p:cNvPr id="13" name="TextBox 12"/>
          <p:cNvSpPr txBox="1"/>
          <p:nvPr/>
        </p:nvSpPr>
        <p:spPr>
          <a:xfrm>
            <a:off x="6629400" y="4663440"/>
            <a:ext cx="4754880" cy="1051560"/>
          </a:xfrm>
          <a:prstGeom prst="rect">
            <a:avLst/>
          </a:prstGeom>
          <a:noFill/>
        </p:spPr>
        <p:txBody>
          <a:bodyPr wrap="square" lIns="45720" rIns="45720" anchor="t">
            <a:spAutoFit/>
          </a:bodyPr>
          <a:lstStyle/>
          <a:p>
            <a:pPr algn="l">
              <a:spcAft>
                <a:spcPts val="1000"/>
              </a:spcAft>
            </a:pPr>
            <a:r>
              <a:rPr sz="1800" b="0">
                <a:solidFill>
                  <a:srgbClr val="1F2937"/>
                </a:solidFill>
                <a:latin typeface="Calibri"/>
              </a:rPr>
              <a:t>Coordinates: the two numbers, latitude and longitude, that pin down any spot on Earth.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Latitude: how far north or south</a:t>
            </a:r>
          </a:p>
        </p:txBody>
      </p:sp>
      <p:sp>
        <p:nvSpPr>
          <p:cNvPr id="3" name="Oval 2"/>
          <p:cNvSpPr/>
          <p:nvPr/>
        </p:nvSpPr>
        <p:spPr>
          <a:xfrm>
            <a:off x="777240" y="1554480"/>
            <a:ext cx="4663440" cy="4663440"/>
          </a:xfrm>
          <a:prstGeom prst="ellipse">
            <a:avLst/>
          </a:prstGeom>
          <a:solidFill>
            <a:srgbClr val="E7F0FA"/>
          </a:solidFill>
          <a:ln w="25400">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777240" y="3886200"/>
            <a:ext cx="4663439" cy="0"/>
          </a:xfrm>
          <a:custGeom>
            <a:avLst/>
            <a:gdLst/>
            <a:ahLst/>
            <a:cxnLst/>
            <a:rect l="l" t="t" r="r" b="b"/>
            <a:pathLst>
              <a:path w="4663439">
                <a:moveTo>
                  <a:pt x="0" y="0"/>
                </a:moveTo>
                <a:lnTo>
                  <a:pt x="4663439" y="0"/>
                </a:lnTo>
              </a:path>
            </a:pathLst>
          </a:custGeom>
          <a:noFill/>
          <a:ln w="50800">
            <a:solidFill>
              <a:srgbClr val="D948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532119" y="3657600"/>
            <a:ext cx="1828800" cy="457200"/>
          </a:xfrm>
          <a:prstGeom prst="rect">
            <a:avLst/>
          </a:prstGeom>
          <a:noFill/>
        </p:spPr>
        <p:txBody>
          <a:bodyPr wrap="square" lIns="45720" rIns="45720" anchor="t">
            <a:spAutoFit/>
          </a:bodyPr>
          <a:lstStyle/>
          <a:p>
            <a:pPr algn="l">
              <a:spcAft>
                <a:spcPts val="1000"/>
              </a:spcAft>
            </a:pPr>
            <a:r>
              <a:rPr sz="1600" b="1">
                <a:solidFill>
                  <a:srgbClr val="D9482B"/>
                </a:solidFill>
                <a:latin typeface="Calibri"/>
              </a:rPr>
              <a:t>Equator  0</a:t>
            </a:r>
          </a:p>
        </p:txBody>
      </p:sp>
      <p:sp>
        <p:nvSpPr>
          <p:cNvPr id="6" name="Freeform 5"/>
          <p:cNvSpPr/>
          <p:nvPr/>
        </p:nvSpPr>
        <p:spPr>
          <a:xfrm>
            <a:off x="1089690" y="2720340"/>
            <a:ext cx="4038539" cy="0"/>
          </a:xfrm>
          <a:custGeom>
            <a:avLst/>
            <a:gdLst/>
            <a:ahLst/>
            <a:cxnLst/>
            <a:rect l="l" t="t" r="r" b="b"/>
            <a:pathLst>
              <a:path w="4038539">
                <a:moveTo>
                  <a:pt x="0" y="0"/>
                </a:moveTo>
                <a:lnTo>
                  <a:pt x="4038539" y="0"/>
                </a:lnTo>
              </a:path>
            </a:pathLst>
          </a:custGeom>
          <a:noFill/>
          <a:ln w="25400">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219669" y="2491740"/>
            <a:ext cx="1828800" cy="457200"/>
          </a:xfrm>
          <a:prstGeom prst="rect">
            <a:avLst/>
          </a:prstGeom>
          <a:noFill/>
        </p:spPr>
        <p:txBody>
          <a:bodyPr wrap="square" lIns="45720" rIns="45720" anchor="t">
            <a:spAutoFit/>
          </a:bodyPr>
          <a:lstStyle/>
          <a:p>
            <a:pPr algn="l">
              <a:spcAft>
                <a:spcPts val="1000"/>
              </a:spcAft>
            </a:pPr>
            <a:r>
              <a:rPr sz="1600" b="1">
                <a:solidFill>
                  <a:srgbClr val="1F6FB2"/>
                </a:solidFill>
                <a:latin typeface="Calibri"/>
              </a:rPr>
              <a:t>30 N</a:t>
            </a:r>
          </a:p>
        </p:txBody>
      </p:sp>
      <p:sp>
        <p:nvSpPr>
          <p:cNvPr id="8" name="Freeform 7"/>
          <p:cNvSpPr/>
          <p:nvPr/>
        </p:nvSpPr>
        <p:spPr>
          <a:xfrm>
            <a:off x="1943100" y="1866930"/>
            <a:ext cx="2331720" cy="0"/>
          </a:xfrm>
          <a:custGeom>
            <a:avLst/>
            <a:gdLst/>
            <a:ahLst/>
            <a:cxnLst/>
            <a:rect l="l" t="t" r="r" b="b"/>
            <a:pathLst>
              <a:path w="2331720">
                <a:moveTo>
                  <a:pt x="0" y="0"/>
                </a:moveTo>
                <a:lnTo>
                  <a:pt x="2331720" y="0"/>
                </a:lnTo>
              </a:path>
            </a:pathLst>
          </a:custGeom>
          <a:noFill/>
          <a:ln w="25400">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66259" y="1638330"/>
            <a:ext cx="1828800" cy="457200"/>
          </a:xfrm>
          <a:prstGeom prst="rect">
            <a:avLst/>
          </a:prstGeom>
          <a:noFill/>
        </p:spPr>
        <p:txBody>
          <a:bodyPr wrap="square" lIns="45720" rIns="45720" anchor="t">
            <a:spAutoFit/>
          </a:bodyPr>
          <a:lstStyle/>
          <a:p>
            <a:pPr algn="l">
              <a:spcAft>
                <a:spcPts val="1000"/>
              </a:spcAft>
            </a:pPr>
            <a:r>
              <a:rPr sz="1600" b="1">
                <a:solidFill>
                  <a:srgbClr val="1F6FB2"/>
                </a:solidFill>
                <a:latin typeface="Calibri"/>
              </a:rPr>
              <a:t>60 N</a:t>
            </a:r>
          </a:p>
        </p:txBody>
      </p:sp>
      <p:sp>
        <p:nvSpPr>
          <p:cNvPr id="10" name="Oval 9"/>
          <p:cNvSpPr/>
          <p:nvPr/>
        </p:nvSpPr>
        <p:spPr>
          <a:xfrm>
            <a:off x="2971800" y="1417320"/>
            <a:ext cx="274320" cy="274320"/>
          </a:xfrm>
          <a:prstGeom prst="ellipse">
            <a:avLst/>
          </a:prstGeom>
          <a:solidFill>
            <a:srgbClr val="0F2340"/>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1234440"/>
            <a:ext cx="2194560" cy="457200"/>
          </a:xfrm>
          <a:prstGeom prst="rect">
            <a:avLst/>
          </a:prstGeom>
          <a:noFill/>
        </p:spPr>
        <p:txBody>
          <a:bodyPr wrap="square" lIns="45720" rIns="45720" anchor="t">
            <a:spAutoFit/>
          </a:bodyPr>
          <a:lstStyle/>
          <a:p>
            <a:pPr algn="r">
              <a:spcAft>
                <a:spcPts val="1000"/>
              </a:spcAft>
            </a:pPr>
            <a:r>
              <a:rPr sz="1600" b="1">
                <a:solidFill>
                  <a:srgbClr val="0F2340"/>
                </a:solidFill>
                <a:latin typeface="Calibri"/>
              </a:rPr>
              <a:t>North Pole  90 N</a:t>
            </a:r>
          </a:p>
        </p:txBody>
      </p:sp>
      <p:sp>
        <p:nvSpPr>
          <p:cNvPr id="12" name="TextBox 11"/>
          <p:cNvSpPr txBox="1"/>
          <p:nvPr/>
        </p:nvSpPr>
        <p:spPr>
          <a:xfrm>
            <a:off x="6583680" y="1463040"/>
            <a:ext cx="5029200" cy="2011680"/>
          </a:xfrm>
          <a:prstGeom prst="rect">
            <a:avLst/>
          </a:prstGeom>
          <a:noFill/>
        </p:spPr>
        <p:txBody>
          <a:bodyPr wrap="square" lIns="45720" rIns="45720" anchor="t">
            <a:spAutoFit/>
          </a:bodyPr>
          <a:lstStyle/>
          <a:p>
            <a:pPr marL="320040" indent="-274320" algn="l">
              <a:spcAft>
                <a:spcPts val="1000"/>
              </a:spcAft>
              <a:buChar char="•"/>
            </a:pPr>
            <a:r>
              <a:rPr sz="2000" b="0">
                <a:solidFill>
                  <a:srgbClr val="1F2937"/>
                </a:solidFill>
                <a:latin typeface="Calibri"/>
              </a:rPr>
              <a:t>Lines that go across, like the rungs of a ladder</a:t>
            </a:r>
          </a:p>
          <a:p>
            <a:pPr marL="320040" indent="-274320" algn="l">
              <a:spcAft>
                <a:spcPts val="1000"/>
              </a:spcAft>
              <a:buChar char="•"/>
            </a:pPr>
            <a:r>
              <a:rPr sz="2000" b="0">
                <a:solidFill>
                  <a:srgbClr val="1F2937"/>
                </a:solidFill>
                <a:latin typeface="Calibri"/>
              </a:rPr>
              <a:t>Start at 0 at the equator, the middle of the Earth</a:t>
            </a:r>
          </a:p>
          <a:p>
            <a:pPr marL="320040" indent="-274320" algn="l">
              <a:spcAft>
                <a:spcPts val="1000"/>
              </a:spcAft>
              <a:buChar char="•"/>
            </a:pPr>
            <a:r>
              <a:rPr sz="2000" b="0">
                <a:solidFill>
                  <a:srgbClr val="1F2937"/>
                </a:solidFill>
                <a:latin typeface="Calibri"/>
              </a:rPr>
              <a:t>Go up to 90 at the North Pole and the South Pole</a:t>
            </a:r>
          </a:p>
        </p:txBody>
      </p:sp>
      <p:sp>
        <p:nvSpPr>
          <p:cNvPr id="13" name="Rounded Rectangle 12"/>
          <p:cNvSpPr/>
          <p:nvPr/>
        </p:nvSpPr>
        <p:spPr>
          <a:xfrm>
            <a:off x="6583680" y="3931920"/>
            <a:ext cx="5029200" cy="1737360"/>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12280" y="4114800"/>
            <a:ext cx="4572000" cy="365760"/>
          </a:xfrm>
          <a:prstGeom prst="rect">
            <a:avLst/>
          </a:prstGeom>
          <a:noFill/>
        </p:spPr>
        <p:txBody>
          <a:bodyPr wrap="square" lIns="45720" rIns="45720" anchor="t">
            <a:spAutoFit/>
          </a:bodyPr>
          <a:lstStyle/>
          <a:p>
            <a:pPr algn="l">
              <a:spcAft>
                <a:spcPts val="1000"/>
              </a:spcAft>
            </a:pPr>
            <a:r>
              <a:rPr sz="1400" b="1">
                <a:solidFill>
                  <a:srgbClr val="2E7D4F"/>
                </a:solidFill>
                <a:latin typeface="Calibri"/>
              </a:rPr>
              <a:t>FUN FACT</a:t>
            </a:r>
          </a:p>
        </p:txBody>
      </p:sp>
      <p:sp>
        <p:nvSpPr>
          <p:cNvPr id="15" name="TextBox 14"/>
          <p:cNvSpPr txBox="1"/>
          <p:nvPr/>
        </p:nvSpPr>
        <p:spPr>
          <a:xfrm>
            <a:off x="6812280" y="4480559"/>
            <a:ext cx="4572000" cy="1051560"/>
          </a:xfrm>
          <a:prstGeom prst="rect">
            <a:avLst/>
          </a:prstGeom>
          <a:noFill/>
        </p:spPr>
        <p:txBody>
          <a:bodyPr wrap="square" lIns="45720" rIns="45720" anchor="t">
            <a:spAutoFit/>
          </a:bodyPr>
          <a:lstStyle/>
          <a:p>
            <a:pPr algn="l">
              <a:spcAft>
                <a:spcPts val="1000"/>
              </a:spcAft>
            </a:pPr>
            <a:r>
              <a:rPr sz="1800" b="0">
                <a:solidFill>
                  <a:srgbClr val="1F2937"/>
                </a:solidFill>
                <a:latin typeface="Calibri"/>
              </a:rPr>
              <a:t>All of India is north of the equator. Its southern tip, Kanyakumari, is at about 8 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Longitude: how far east or west</a:t>
            </a:r>
          </a:p>
        </p:txBody>
      </p:sp>
      <p:sp>
        <p:nvSpPr>
          <p:cNvPr id="3" name="Oval 2"/>
          <p:cNvSpPr/>
          <p:nvPr/>
        </p:nvSpPr>
        <p:spPr>
          <a:xfrm>
            <a:off x="777240" y="1554480"/>
            <a:ext cx="4663440" cy="4663440"/>
          </a:xfrm>
          <a:prstGeom prst="ellipse">
            <a:avLst/>
          </a:prstGeom>
          <a:solidFill>
            <a:srgbClr val="E7F0FA"/>
          </a:solidFill>
          <a:ln w="25400">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943100" y="1554480"/>
            <a:ext cx="2331720" cy="4663440"/>
          </a:xfrm>
          <a:prstGeom prst="ellipse">
            <a:avLst/>
          </a:prstGeom>
          <a:noFill/>
          <a:ln w="25400">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89690" y="1554480"/>
            <a:ext cx="4038539" cy="4663440"/>
          </a:xfrm>
          <a:prstGeom prst="ellipse">
            <a:avLst/>
          </a:prstGeom>
          <a:noFill/>
          <a:ln w="25400">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Freeform 5"/>
          <p:cNvSpPr/>
          <p:nvPr/>
        </p:nvSpPr>
        <p:spPr>
          <a:xfrm>
            <a:off x="3108960" y="1554480"/>
            <a:ext cx="0" cy="4663440"/>
          </a:xfrm>
          <a:custGeom>
            <a:avLst/>
            <a:gdLst/>
            <a:ahLst/>
            <a:cxnLst/>
            <a:rect l="l" t="t" r="r" b="b"/>
            <a:pathLst>
              <a:path h="4663440">
                <a:moveTo>
                  <a:pt x="0" y="0"/>
                </a:moveTo>
                <a:lnTo>
                  <a:pt x="0" y="4663440"/>
                </a:lnTo>
              </a:path>
            </a:pathLst>
          </a:custGeom>
          <a:noFill/>
          <a:ln w="50800">
            <a:solidFill>
              <a:srgbClr val="D948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19" y="6263640"/>
            <a:ext cx="2926080" cy="457200"/>
          </a:xfrm>
          <a:prstGeom prst="rect">
            <a:avLst/>
          </a:prstGeom>
          <a:noFill/>
        </p:spPr>
        <p:txBody>
          <a:bodyPr wrap="square" lIns="45720" rIns="45720" anchor="t">
            <a:spAutoFit/>
          </a:bodyPr>
          <a:lstStyle/>
          <a:p>
            <a:pPr algn="ctr">
              <a:spcAft>
                <a:spcPts val="1000"/>
              </a:spcAft>
            </a:pPr>
            <a:r>
              <a:rPr sz="1600" b="1">
                <a:solidFill>
                  <a:srgbClr val="D9482B"/>
                </a:solidFill>
                <a:latin typeface="Calibri"/>
              </a:rPr>
              <a:t>Prime meridian  0</a:t>
            </a:r>
          </a:p>
        </p:txBody>
      </p:sp>
      <p:sp>
        <p:nvSpPr>
          <p:cNvPr id="8" name="TextBox 7"/>
          <p:cNvSpPr txBox="1"/>
          <p:nvPr/>
        </p:nvSpPr>
        <p:spPr>
          <a:xfrm>
            <a:off x="6583680" y="1463040"/>
            <a:ext cx="5029200" cy="2194560"/>
          </a:xfrm>
          <a:prstGeom prst="rect">
            <a:avLst/>
          </a:prstGeom>
          <a:noFill/>
        </p:spPr>
        <p:txBody>
          <a:bodyPr wrap="square" lIns="45720" rIns="45720" anchor="t">
            <a:spAutoFit/>
          </a:bodyPr>
          <a:lstStyle/>
          <a:p>
            <a:pPr marL="320040" indent="-274320" algn="l">
              <a:spcAft>
                <a:spcPts val="1000"/>
              </a:spcAft>
              <a:buChar char="•"/>
            </a:pPr>
            <a:r>
              <a:rPr sz="2000" b="0">
                <a:solidFill>
                  <a:srgbClr val="1F2937"/>
                </a:solidFill>
                <a:latin typeface="Calibri"/>
              </a:rPr>
              <a:t>Lines that go from the North Pole to the South Pole</a:t>
            </a:r>
          </a:p>
          <a:p>
            <a:pPr marL="320040" indent="-274320" algn="l">
              <a:spcAft>
                <a:spcPts val="1000"/>
              </a:spcAft>
              <a:buChar char="•"/>
            </a:pPr>
            <a:r>
              <a:rPr sz="2000" b="0">
                <a:solidFill>
                  <a:srgbClr val="1F2937"/>
                </a:solidFill>
                <a:latin typeface="Calibri"/>
              </a:rPr>
              <a:t>Start at 0 at Greenwich, in London</a:t>
            </a:r>
          </a:p>
          <a:p>
            <a:pPr marL="320040" indent="-274320" algn="l">
              <a:spcAft>
                <a:spcPts val="1000"/>
              </a:spcAft>
              <a:buChar char="•"/>
            </a:pPr>
            <a:r>
              <a:rPr sz="2000" b="0">
                <a:solidFill>
                  <a:srgbClr val="1F2937"/>
                </a:solidFill>
                <a:latin typeface="Calibri"/>
              </a:rPr>
              <a:t>Go up to 180 degrees east and 180 degrees west</a:t>
            </a:r>
          </a:p>
        </p:txBody>
      </p:sp>
      <p:sp>
        <p:nvSpPr>
          <p:cNvPr id="9" name="Rounded Rectangle 8"/>
          <p:cNvSpPr/>
          <p:nvPr/>
        </p:nvSpPr>
        <p:spPr>
          <a:xfrm>
            <a:off x="6583680" y="3931920"/>
            <a:ext cx="5029200" cy="1737360"/>
          </a:xfrm>
          <a:prstGeom prst="roundRect">
            <a:avLst>
              <a:gd name="adj" fmla="val 8000"/>
            </a:avLst>
          </a:prstGeom>
          <a:solidFill>
            <a:srgbClr val="E7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12280" y="4114800"/>
            <a:ext cx="4572000" cy="365760"/>
          </a:xfrm>
          <a:prstGeom prst="rect">
            <a:avLst/>
          </a:prstGeom>
          <a:noFill/>
        </p:spPr>
        <p:txBody>
          <a:bodyPr wrap="square" lIns="45720" rIns="45720" anchor="t">
            <a:spAutoFit/>
          </a:bodyPr>
          <a:lstStyle/>
          <a:p>
            <a:pPr algn="l">
              <a:spcAft>
                <a:spcPts val="1000"/>
              </a:spcAft>
            </a:pPr>
            <a:r>
              <a:rPr sz="1400" b="1">
                <a:solidFill>
                  <a:srgbClr val="1F6FB2"/>
                </a:solidFill>
                <a:latin typeface="Calibri"/>
              </a:rPr>
              <a:t>INDIA ON THE GLOBE</a:t>
            </a:r>
          </a:p>
        </p:txBody>
      </p:sp>
      <p:sp>
        <p:nvSpPr>
          <p:cNvPr id="11" name="TextBox 10"/>
          <p:cNvSpPr txBox="1"/>
          <p:nvPr/>
        </p:nvSpPr>
        <p:spPr>
          <a:xfrm>
            <a:off x="6812280" y="4480559"/>
            <a:ext cx="4572000" cy="1051560"/>
          </a:xfrm>
          <a:prstGeom prst="rect">
            <a:avLst/>
          </a:prstGeom>
          <a:noFill/>
        </p:spPr>
        <p:txBody>
          <a:bodyPr wrap="square" lIns="45720" rIns="45720" anchor="t">
            <a:spAutoFit/>
          </a:bodyPr>
          <a:lstStyle/>
          <a:p>
            <a:pPr algn="l">
              <a:spcAft>
                <a:spcPts val="1000"/>
              </a:spcAft>
            </a:pPr>
            <a:r>
              <a:rPr sz="2000" b="0">
                <a:solidFill>
                  <a:srgbClr val="1F2937"/>
                </a:solidFill>
                <a:latin typeface="Calibri"/>
              </a:rPr>
              <a:t>India is east of Greenwich, between about 68 E and 97 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India on the grid</a:t>
            </a:r>
          </a:p>
        </p:txBody>
      </p:sp>
      <p:pic>
        <p:nvPicPr>
          <p:cNvPr id="3" name="Picture 2" descr="india_grid.png"/>
          <p:cNvPicPr>
            <a:picLocks noChangeAspect="1"/>
          </p:cNvPicPr>
          <p:nvPr/>
        </p:nvPicPr>
        <p:blipFill>
          <a:blip r:embed="rId3"/>
          <a:stretch>
            <a:fillRect/>
          </a:stretch>
        </p:blipFill>
        <p:spPr>
          <a:xfrm>
            <a:off x="548640" y="1234440"/>
            <a:ext cx="5485388" cy="5303520"/>
          </a:xfrm>
          <a:prstGeom prst="rect">
            <a:avLst/>
          </a:prstGeom>
          <a:ln w="12700">
            <a:solidFill>
              <a:srgbClr val="D1D5DB"/>
            </a:solidFill>
          </a:ln>
        </p:spPr>
      </p:pic>
      <p:sp>
        <p:nvSpPr>
          <p:cNvPr id="4" name="TextBox 3"/>
          <p:cNvSpPr txBox="1"/>
          <p:nvPr/>
        </p:nvSpPr>
        <p:spPr>
          <a:xfrm>
            <a:off x="6400800" y="1371600"/>
            <a:ext cx="5303520" cy="2194560"/>
          </a:xfrm>
          <a:prstGeom prst="rect">
            <a:avLst/>
          </a:prstGeom>
          <a:noFill/>
        </p:spPr>
        <p:txBody>
          <a:bodyPr wrap="square" lIns="45720" rIns="45720" anchor="t">
            <a:spAutoFit/>
          </a:bodyPr>
          <a:lstStyle/>
          <a:p>
            <a:pPr marL="320040" indent="-274320" algn="l">
              <a:spcAft>
                <a:spcPts val="1000"/>
              </a:spcAft>
              <a:buChar char="•"/>
            </a:pPr>
            <a:r>
              <a:rPr sz="2000" b="0">
                <a:solidFill>
                  <a:srgbClr val="1F2937"/>
                </a:solidFill>
                <a:latin typeface="Calibri"/>
              </a:rPr>
              <a:t>Each grey line is 5 degrees apart</a:t>
            </a:r>
          </a:p>
          <a:p>
            <a:pPr marL="320040" indent="-274320" algn="l">
              <a:spcAft>
                <a:spcPts val="1000"/>
              </a:spcAft>
              <a:buChar char="•"/>
            </a:pPr>
            <a:r>
              <a:rPr sz="2000" b="0">
                <a:solidFill>
                  <a:srgbClr val="1F2937"/>
                </a:solidFill>
                <a:latin typeface="Calibri"/>
              </a:rPr>
              <a:t>Read a place's latitude on the left</a:t>
            </a:r>
          </a:p>
          <a:p>
            <a:pPr marL="320040" indent="-274320" algn="l">
              <a:spcAft>
                <a:spcPts val="1000"/>
              </a:spcAft>
              <a:buChar char="•"/>
            </a:pPr>
            <a:r>
              <a:rPr sz="2000" b="0">
                <a:solidFill>
                  <a:srgbClr val="1F2937"/>
                </a:solidFill>
                <a:latin typeface="Calibri"/>
              </a:rPr>
              <a:t>Read its longitude along the bottom</a:t>
            </a:r>
          </a:p>
        </p:txBody>
      </p:sp>
      <p:sp>
        <p:nvSpPr>
          <p:cNvPr id="5" name="Rounded Rectangle 4"/>
          <p:cNvSpPr/>
          <p:nvPr/>
        </p:nvSpPr>
        <p:spPr>
          <a:xfrm>
            <a:off x="6400800" y="3566160"/>
            <a:ext cx="5212080" cy="219456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29400" y="3749039"/>
            <a:ext cx="4754880" cy="365760"/>
          </a:xfrm>
          <a:prstGeom prst="rect">
            <a:avLst/>
          </a:prstGeom>
          <a:noFill/>
        </p:spPr>
        <p:txBody>
          <a:bodyPr wrap="square" lIns="45720" rIns="45720" anchor="t">
            <a:spAutoFit/>
          </a:bodyPr>
          <a:lstStyle/>
          <a:p>
            <a:pPr algn="l">
              <a:spcAft>
                <a:spcPts val="1000"/>
              </a:spcAft>
            </a:pPr>
            <a:r>
              <a:rPr sz="1400" b="1">
                <a:solidFill>
                  <a:srgbClr val="92400E"/>
                </a:solidFill>
                <a:latin typeface="Calibri"/>
              </a:rPr>
              <a:t>TROPIC OF CANCER</a:t>
            </a:r>
          </a:p>
        </p:txBody>
      </p:sp>
      <p:sp>
        <p:nvSpPr>
          <p:cNvPr id="7" name="TextBox 6"/>
          <p:cNvSpPr txBox="1"/>
          <p:nvPr/>
        </p:nvSpPr>
        <p:spPr>
          <a:xfrm>
            <a:off x="6629400" y="4114800"/>
            <a:ext cx="4754880" cy="1508760"/>
          </a:xfrm>
          <a:prstGeom prst="rect">
            <a:avLst/>
          </a:prstGeom>
          <a:noFill/>
        </p:spPr>
        <p:txBody>
          <a:bodyPr wrap="square" lIns="45720" rIns="45720" anchor="t">
            <a:spAutoFit/>
          </a:bodyPr>
          <a:lstStyle/>
          <a:p>
            <a:pPr algn="l">
              <a:spcAft>
                <a:spcPts val="1000"/>
              </a:spcAft>
            </a:pPr>
            <a:r>
              <a:rPr sz="1800" b="0">
                <a:solidFill>
                  <a:srgbClr val="1F2937"/>
                </a:solidFill>
                <a:latin typeface="Calibri"/>
              </a:rPr>
              <a:t>This special line at 23.5 N runs right through the middle of India. Can you guess which states it crosses?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Game: find the place</a:t>
            </a:r>
          </a:p>
        </p:txBody>
      </p:sp>
      <p:pic>
        <p:nvPicPr>
          <p:cNvPr id="3" name="Picture 2" descr="india_grid.png"/>
          <p:cNvPicPr>
            <a:picLocks noChangeAspect="1"/>
          </p:cNvPicPr>
          <p:nvPr/>
        </p:nvPicPr>
        <p:blipFill>
          <a:blip r:embed="rId3"/>
          <a:stretch>
            <a:fillRect/>
          </a:stretch>
        </p:blipFill>
        <p:spPr>
          <a:xfrm>
            <a:off x="548640" y="1234440"/>
            <a:ext cx="5485388" cy="5303520"/>
          </a:xfrm>
          <a:prstGeom prst="rect">
            <a:avLst/>
          </a:prstGeom>
          <a:ln w="12700">
            <a:solidFill>
              <a:srgbClr val="D1D5DB"/>
            </a:solidFill>
          </a:ln>
        </p:spPr>
      </p:pic>
      <p:sp>
        <p:nvSpPr>
          <p:cNvPr id="4" name="TextBox 3"/>
          <p:cNvSpPr txBox="1"/>
          <p:nvPr/>
        </p:nvSpPr>
        <p:spPr>
          <a:xfrm>
            <a:off x="6400800" y="1371600"/>
            <a:ext cx="5303520" cy="548640"/>
          </a:xfrm>
          <a:prstGeom prst="rect">
            <a:avLst/>
          </a:prstGeom>
          <a:noFill/>
        </p:spPr>
        <p:txBody>
          <a:bodyPr wrap="square" lIns="45720" rIns="45720" anchor="t">
            <a:spAutoFit/>
          </a:bodyPr>
          <a:lstStyle/>
          <a:p>
            <a:pPr algn="l">
              <a:spcAft>
                <a:spcPts val="1000"/>
              </a:spcAft>
            </a:pPr>
            <a:r>
              <a:rPr sz="2200" b="1">
                <a:solidFill>
                  <a:srgbClr val="1F2937"/>
                </a:solidFill>
                <a:latin typeface="Calibri"/>
              </a:rPr>
              <a:t>Where on the map are these places?</a:t>
            </a:r>
          </a:p>
        </p:txBody>
      </p:sp>
      <p:sp>
        <p:nvSpPr>
          <p:cNvPr id="5" name="Oval 4"/>
          <p:cNvSpPr/>
          <p:nvPr/>
        </p:nvSpPr>
        <p:spPr>
          <a:xfrm>
            <a:off x="6409944" y="2249424"/>
            <a:ext cx="438912" cy="438912"/>
          </a:xfrm>
          <a:prstGeom prst="ellipse">
            <a:avLst/>
          </a:prstGeom>
          <a:solidFill>
            <a:srgbClr val="E8A31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A</a:t>
            </a:r>
          </a:p>
        </p:txBody>
      </p:sp>
      <p:sp>
        <p:nvSpPr>
          <p:cNvPr id="6" name="TextBox 5"/>
          <p:cNvSpPr txBox="1"/>
          <p:nvPr/>
        </p:nvSpPr>
        <p:spPr>
          <a:xfrm>
            <a:off x="7086600" y="2148840"/>
            <a:ext cx="4572000" cy="457200"/>
          </a:xfrm>
          <a:prstGeom prst="rect">
            <a:avLst/>
          </a:prstGeom>
          <a:noFill/>
        </p:spPr>
        <p:txBody>
          <a:bodyPr wrap="square" lIns="45720" rIns="45720" anchor="t">
            <a:spAutoFit/>
          </a:bodyPr>
          <a:lstStyle/>
          <a:p>
            <a:pPr algn="l">
              <a:spcAft>
                <a:spcPts val="1000"/>
              </a:spcAft>
            </a:pPr>
            <a:r>
              <a:rPr sz="2200" b="1">
                <a:solidFill>
                  <a:srgbClr val="0F2340"/>
                </a:solidFill>
                <a:latin typeface="Calibri"/>
              </a:rPr>
              <a:t>27 N, 78 E</a:t>
            </a:r>
          </a:p>
        </p:txBody>
      </p:sp>
      <p:sp>
        <p:nvSpPr>
          <p:cNvPr id="7" name="TextBox 6"/>
          <p:cNvSpPr txBox="1"/>
          <p:nvPr/>
        </p:nvSpPr>
        <p:spPr>
          <a:xfrm>
            <a:off x="7086600" y="2606040"/>
            <a:ext cx="4572000" cy="457200"/>
          </a:xfrm>
          <a:prstGeom prst="rect">
            <a:avLst/>
          </a:prstGeom>
          <a:noFill/>
        </p:spPr>
        <p:txBody>
          <a:bodyPr wrap="square" lIns="45720" rIns="45720" anchor="t">
            <a:spAutoFit/>
          </a:bodyPr>
          <a:lstStyle/>
          <a:p>
            <a:pPr algn="l">
              <a:spcAft>
                <a:spcPts val="1000"/>
              </a:spcAft>
            </a:pPr>
            <a:r>
              <a:rPr sz="1800" b="0">
                <a:solidFill>
                  <a:srgbClr val="6B7280"/>
                </a:solidFill>
                <a:latin typeface="Calibri"/>
              </a:rPr>
              <a:t>A white marble tomb</a:t>
            </a:r>
          </a:p>
        </p:txBody>
      </p:sp>
      <p:sp>
        <p:nvSpPr>
          <p:cNvPr id="8" name="Oval 7"/>
          <p:cNvSpPr/>
          <p:nvPr/>
        </p:nvSpPr>
        <p:spPr>
          <a:xfrm>
            <a:off x="6409944" y="3483863"/>
            <a:ext cx="438912" cy="438912"/>
          </a:xfrm>
          <a:prstGeom prst="ellipse">
            <a:avLst/>
          </a:prstGeom>
          <a:solidFill>
            <a:srgbClr val="E8A31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B</a:t>
            </a:r>
          </a:p>
        </p:txBody>
      </p:sp>
      <p:sp>
        <p:nvSpPr>
          <p:cNvPr id="9" name="TextBox 8"/>
          <p:cNvSpPr txBox="1"/>
          <p:nvPr/>
        </p:nvSpPr>
        <p:spPr>
          <a:xfrm>
            <a:off x="7086600" y="3383280"/>
            <a:ext cx="4572000" cy="457200"/>
          </a:xfrm>
          <a:prstGeom prst="rect">
            <a:avLst/>
          </a:prstGeom>
          <a:noFill/>
        </p:spPr>
        <p:txBody>
          <a:bodyPr wrap="square" lIns="45720" rIns="45720" anchor="t">
            <a:spAutoFit/>
          </a:bodyPr>
          <a:lstStyle/>
          <a:p>
            <a:pPr algn="l">
              <a:spcAft>
                <a:spcPts val="1000"/>
              </a:spcAft>
            </a:pPr>
            <a:r>
              <a:rPr sz="2200" b="1">
                <a:solidFill>
                  <a:srgbClr val="0F2340"/>
                </a:solidFill>
                <a:latin typeface="Calibri"/>
              </a:rPr>
              <a:t>31.6 N, 74.9 E</a:t>
            </a:r>
          </a:p>
        </p:txBody>
      </p:sp>
      <p:sp>
        <p:nvSpPr>
          <p:cNvPr id="10" name="TextBox 9"/>
          <p:cNvSpPr txBox="1"/>
          <p:nvPr/>
        </p:nvSpPr>
        <p:spPr>
          <a:xfrm>
            <a:off x="7086600" y="3840480"/>
            <a:ext cx="4572000" cy="457200"/>
          </a:xfrm>
          <a:prstGeom prst="rect">
            <a:avLst/>
          </a:prstGeom>
          <a:noFill/>
        </p:spPr>
        <p:txBody>
          <a:bodyPr wrap="square" lIns="45720" rIns="45720" anchor="t">
            <a:spAutoFit/>
          </a:bodyPr>
          <a:lstStyle/>
          <a:p>
            <a:pPr algn="l">
              <a:spcAft>
                <a:spcPts val="1000"/>
              </a:spcAft>
            </a:pPr>
            <a:r>
              <a:rPr sz="1800" b="0">
                <a:solidFill>
                  <a:srgbClr val="6B7280"/>
                </a:solidFill>
                <a:latin typeface="Calibri"/>
              </a:rPr>
              <a:t>A temple with a free kitchen</a:t>
            </a:r>
          </a:p>
        </p:txBody>
      </p:sp>
      <p:sp>
        <p:nvSpPr>
          <p:cNvPr id="11" name="Oval 10"/>
          <p:cNvSpPr/>
          <p:nvPr/>
        </p:nvSpPr>
        <p:spPr>
          <a:xfrm>
            <a:off x="6409944" y="4718304"/>
            <a:ext cx="438912" cy="438912"/>
          </a:xfrm>
          <a:prstGeom prst="ellipse">
            <a:avLst/>
          </a:prstGeom>
          <a:solidFill>
            <a:srgbClr val="E8A31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C</a:t>
            </a:r>
          </a:p>
        </p:txBody>
      </p:sp>
      <p:sp>
        <p:nvSpPr>
          <p:cNvPr id="12" name="TextBox 11"/>
          <p:cNvSpPr txBox="1"/>
          <p:nvPr/>
        </p:nvSpPr>
        <p:spPr>
          <a:xfrm>
            <a:off x="7086600" y="4617720"/>
            <a:ext cx="4572000" cy="457200"/>
          </a:xfrm>
          <a:prstGeom prst="rect">
            <a:avLst/>
          </a:prstGeom>
          <a:noFill/>
        </p:spPr>
        <p:txBody>
          <a:bodyPr wrap="square" lIns="45720" rIns="45720" anchor="t">
            <a:spAutoFit/>
          </a:bodyPr>
          <a:lstStyle/>
          <a:p>
            <a:pPr algn="l">
              <a:spcAft>
                <a:spcPts val="1000"/>
              </a:spcAft>
            </a:pPr>
            <a:r>
              <a:rPr sz="2200" b="1">
                <a:solidFill>
                  <a:srgbClr val="0F2340"/>
                </a:solidFill>
                <a:latin typeface="Calibri"/>
              </a:rPr>
              <a:t>9.9 N, 78.1 E</a:t>
            </a:r>
          </a:p>
        </p:txBody>
      </p:sp>
      <p:sp>
        <p:nvSpPr>
          <p:cNvPr id="13" name="TextBox 12"/>
          <p:cNvSpPr txBox="1"/>
          <p:nvPr/>
        </p:nvSpPr>
        <p:spPr>
          <a:xfrm>
            <a:off x="7086600" y="5074920"/>
            <a:ext cx="4572000" cy="457200"/>
          </a:xfrm>
          <a:prstGeom prst="rect">
            <a:avLst/>
          </a:prstGeom>
          <a:noFill/>
        </p:spPr>
        <p:txBody>
          <a:bodyPr wrap="square" lIns="45720" rIns="45720" anchor="t">
            <a:spAutoFit/>
          </a:bodyPr>
          <a:lstStyle/>
          <a:p>
            <a:pPr algn="l">
              <a:spcAft>
                <a:spcPts val="1000"/>
              </a:spcAft>
            </a:pPr>
            <a:r>
              <a:rPr sz="1800" b="0">
                <a:solidFill>
                  <a:srgbClr val="6B7280"/>
                </a:solidFill>
                <a:latin typeface="Calibri"/>
              </a:rPr>
              <a:t>A temple with colourful towers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A table can hold places</a:t>
            </a:r>
          </a:p>
        </p:txBody>
      </p:sp>
      <p:graphicFrame>
        <p:nvGraphicFramePr>
          <p:cNvPr id="3" name="Table 2"/>
          <p:cNvGraphicFramePr>
            <a:graphicFrameLocks noGrp="1"/>
          </p:cNvGraphicFramePr>
          <p:nvPr/>
        </p:nvGraphicFramePr>
        <p:xfrm>
          <a:off x="548640" y="1463040"/>
          <a:ext cx="7498080" cy="228600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457200">
                <a:tc>
                  <a:txBody>
                    <a:bodyPr/>
                    <a:lstStyle/>
                    <a:p>
                      <a:r>
                        <a:rPr sz="1600" b="1">
                          <a:solidFill>
                            <a:srgbClr val="FFFFFF"/>
                          </a:solidFill>
                          <a:latin typeface="Calibri"/>
                        </a:rPr>
                        <a:t>name</a:t>
                      </a:r>
                    </a:p>
                  </a:txBody>
                  <a:tcPr>
                    <a:solidFill>
                      <a:srgbClr val="0F2340"/>
                    </a:solidFill>
                  </a:tcPr>
                </a:tc>
                <a:tc>
                  <a:txBody>
                    <a:bodyPr/>
                    <a:lstStyle/>
                    <a:p>
                      <a:r>
                        <a:rPr sz="1600" b="1">
                          <a:solidFill>
                            <a:srgbClr val="FFFFFF"/>
                          </a:solidFill>
                          <a:latin typeface="Calibri"/>
                        </a:rPr>
                        <a:t>type</a:t>
                      </a:r>
                    </a:p>
                  </a:txBody>
                  <a:tcPr>
                    <a:solidFill>
                      <a:srgbClr val="0F2340"/>
                    </a:solidFill>
                  </a:tcPr>
                </a:tc>
                <a:tc>
                  <a:txBody>
                    <a:bodyPr/>
                    <a:lstStyle/>
                    <a:p>
                      <a:r>
                        <a:rPr sz="1600" b="1">
                          <a:solidFill>
                            <a:srgbClr val="FFFFFF"/>
                          </a:solidFill>
                          <a:latin typeface="Calibri"/>
                        </a:rPr>
                        <a:t>city</a:t>
                      </a:r>
                    </a:p>
                  </a:txBody>
                  <a:tcPr>
                    <a:solidFill>
                      <a:srgbClr val="0F2340"/>
                    </a:solidFill>
                  </a:tcPr>
                </a:tc>
                <a:tc>
                  <a:txBody>
                    <a:bodyPr/>
                    <a:lstStyle/>
                    <a:p>
                      <a:r>
                        <a:rPr sz="1600" b="1">
                          <a:solidFill>
                            <a:srgbClr val="FFFFFF"/>
                          </a:solidFill>
                          <a:latin typeface="Calibri"/>
                        </a:rPr>
                        <a:t>latitude</a:t>
                      </a:r>
                    </a:p>
                  </a:txBody>
                  <a:tcPr>
                    <a:solidFill>
                      <a:srgbClr val="0F2340"/>
                    </a:solidFill>
                  </a:tcPr>
                </a:tc>
                <a:tc>
                  <a:txBody>
                    <a:bodyPr/>
                    <a:lstStyle/>
                    <a:p>
                      <a:r>
                        <a:rPr sz="1600" b="1">
                          <a:solidFill>
                            <a:srgbClr val="FFFFFF"/>
                          </a:solidFill>
                          <a:latin typeface="Calibri"/>
                        </a:rPr>
                        <a:t>longitude</a:t>
                      </a:r>
                    </a:p>
                  </a:txBody>
                  <a:tcPr>
                    <a:solidFill>
                      <a:srgbClr val="0F2340"/>
                    </a:solidFill>
                  </a:tcPr>
                </a:tc>
                <a:extLst>
                  <a:ext uri="{0D108BD9-81ED-4DB2-BD59-A6C34878D82A}">
                    <a16:rowId xmlns:a16="http://schemas.microsoft.com/office/drawing/2014/main" val="10000"/>
                  </a:ext>
                </a:extLst>
              </a:tr>
              <a:tr h="457200">
                <a:tc>
                  <a:txBody>
                    <a:bodyPr/>
                    <a:lstStyle/>
                    <a:p>
                      <a:r>
                        <a:rPr sz="1600" b="0">
                          <a:solidFill>
                            <a:srgbClr val="1F2937"/>
                          </a:solidFill>
                          <a:latin typeface="Calibri"/>
                        </a:rPr>
                        <a:t>Taj Mahal</a:t>
                      </a:r>
                    </a:p>
                  </a:txBody>
                  <a:tcPr>
                    <a:solidFill>
                      <a:srgbClr val="FFFFFF"/>
                    </a:solidFill>
                  </a:tcPr>
                </a:tc>
                <a:tc>
                  <a:txBody>
                    <a:bodyPr/>
                    <a:lstStyle/>
                    <a:p>
                      <a:r>
                        <a:rPr sz="1600" b="0">
                          <a:solidFill>
                            <a:srgbClr val="1F2937"/>
                          </a:solidFill>
                          <a:latin typeface="Calibri"/>
                        </a:rPr>
                        <a:t>Monument</a:t>
                      </a:r>
                    </a:p>
                  </a:txBody>
                  <a:tcPr>
                    <a:solidFill>
                      <a:srgbClr val="FFFFFF"/>
                    </a:solidFill>
                  </a:tcPr>
                </a:tc>
                <a:tc>
                  <a:txBody>
                    <a:bodyPr/>
                    <a:lstStyle/>
                    <a:p>
                      <a:r>
                        <a:rPr sz="1600" b="0">
                          <a:solidFill>
                            <a:srgbClr val="1F2937"/>
                          </a:solidFill>
                          <a:latin typeface="Calibri"/>
                        </a:rPr>
                        <a:t>Agra</a:t>
                      </a:r>
                    </a:p>
                  </a:txBody>
                  <a:tcPr>
                    <a:solidFill>
                      <a:srgbClr val="FFFFFF"/>
                    </a:solidFill>
                  </a:tcPr>
                </a:tc>
                <a:tc>
                  <a:txBody>
                    <a:bodyPr/>
                    <a:lstStyle/>
                    <a:p>
                      <a:r>
                        <a:rPr sz="1600" b="0">
                          <a:solidFill>
                            <a:srgbClr val="1F2937"/>
                          </a:solidFill>
                          <a:latin typeface="Calibri"/>
                        </a:rPr>
                        <a:t>27.1751</a:t>
                      </a:r>
                    </a:p>
                  </a:txBody>
                  <a:tcPr>
                    <a:solidFill>
                      <a:srgbClr val="FFFFFF"/>
                    </a:solidFill>
                  </a:tcPr>
                </a:tc>
                <a:tc>
                  <a:txBody>
                    <a:bodyPr/>
                    <a:lstStyle/>
                    <a:p>
                      <a:r>
                        <a:rPr sz="1600" b="0">
                          <a:solidFill>
                            <a:srgbClr val="1F2937"/>
                          </a:solidFill>
                          <a:latin typeface="Calibri"/>
                        </a:rPr>
                        <a:t>78.0421</a:t>
                      </a:r>
                    </a:p>
                  </a:txBody>
                  <a:tcPr>
                    <a:solidFill>
                      <a:srgbClr val="FFFFFF"/>
                    </a:solidFill>
                  </a:tcPr>
                </a:tc>
                <a:extLst>
                  <a:ext uri="{0D108BD9-81ED-4DB2-BD59-A6C34878D82A}">
                    <a16:rowId xmlns:a16="http://schemas.microsoft.com/office/drawing/2014/main" val="10001"/>
                  </a:ext>
                </a:extLst>
              </a:tr>
              <a:tr h="457200">
                <a:tc>
                  <a:txBody>
                    <a:bodyPr/>
                    <a:lstStyle/>
                    <a:p>
                      <a:r>
                        <a:rPr sz="1600" b="0">
                          <a:solidFill>
                            <a:srgbClr val="1F2937"/>
                          </a:solidFill>
                          <a:latin typeface="Calibri"/>
                        </a:rPr>
                        <a:t>Hawa Mahal</a:t>
                      </a:r>
                    </a:p>
                  </a:txBody>
                  <a:tcPr>
                    <a:solidFill>
                      <a:srgbClr val="F3F4F6"/>
                    </a:solidFill>
                  </a:tcPr>
                </a:tc>
                <a:tc>
                  <a:txBody>
                    <a:bodyPr/>
                    <a:lstStyle/>
                    <a:p>
                      <a:r>
                        <a:rPr sz="1600" b="0">
                          <a:solidFill>
                            <a:srgbClr val="1F2937"/>
                          </a:solidFill>
                          <a:latin typeface="Calibri"/>
                        </a:rPr>
                        <a:t>Palace</a:t>
                      </a:r>
                    </a:p>
                  </a:txBody>
                  <a:tcPr>
                    <a:solidFill>
                      <a:srgbClr val="F3F4F6"/>
                    </a:solidFill>
                  </a:tcPr>
                </a:tc>
                <a:tc>
                  <a:txBody>
                    <a:bodyPr/>
                    <a:lstStyle/>
                    <a:p>
                      <a:r>
                        <a:rPr sz="1600" b="0">
                          <a:solidFill>
                            <a:srgbClr val="1F2937"/>
                          </a:solidFill>
                          <a:latin typeface="Calibri"/>
                        </a:rPr>
                        <a:t>Jaipur</a:t>
                      </a:r>
                    </a:p>
                  </a:txBody>
                  <a:tcPr>
                    <a:solidFill>
                      <a:srgbClr val="F3F4F6"/>
                    </a:solidFill>
                  </a:tcPr>
                </a:tc>
                <a:tc>
                  <a:txBody>
                    <a:bodyPr/>
                    <a:lstStyle/>
                    <a:p>
                      <a:r>
                        <a:rPr sz="1600" b="0">
                          <a:solidFill>
                            <a:srgbClr val="1F2937"/>
                          </a:solidFill>
                          <a:latin typeface="Calibri"/>
                        </a:rPr>
                        <a:t>26.9239</a:t>
                      </a:r>
                    </a:p>
                  </a:txBody>
                  <a:tcPr>
                    <a:solidFill>
                      <a:srgbClr val="F3F4F6"/>
                    </a:solidFill>
                  </a:tcPr>
                </a:tc>
                <a:tc>
                  <a:txBody>
                    <a:bodyPr/>
                    <a:lstStyle/>
                    <a:p>
                      <a:r>
                        <a:rPr sz="1600" b="0">
                          <a:solidFill>
                            <a:srgbClr val="1F2937"/>
                          </a:solidFill>
                          <a:latin typeface="Calibri"/>
                        </a:rPr>
                        <a:t>75.8267</a:t>
                      </a:r>
                    </a:p>
                  </a:txBody>
                  <a:tcPr>
                    <a:solidFill>
                      <a:srgbClr val="F3F4F6"/>
                    </a:solidFill>
                  </a:tcPr>
                </a:tc>
                <a:extLst>
                  <a:ext uri="{0D108BD9-81ED-4DB2-BD59-A6C34878D82A}">
                    <a16:rowId xmlns:a16="http://schemas.microsoft.com/office/drawing/2014/main" val="10002"/>
                  </a:ext>
                </a:extLst>
              </a:tr>
              <a:tr h="457200">
                <a:tc>
                  <a:txBody>
                    <a:bodyPr/>
                    <a:lstStyle/>
                    <a:p>
                      <a:r>
                        <a:rPr sz="1600" b="0">
                          <a:solidFill>
                            <a:srgbClr val="1F2937"/>
                          </a:solidFill>
                          <a:latin typeface="Calibri"/>
                        </a:rPr>
                        <a:t>Golden Temple</a:t>
                      </a:r>
                    </a:p>
                  </a:txBody>
                  <a:tcPr>
                    <a:solidFill>
                      <a:srgbClr val="FFFFFF"/>
                    </a:solidFill>
                  </a:tcPr>
                </a:tc>
                <a:tc>
                  <a:txBody>
                    <a:bodyPr/>
                    <a:lstStyle/>
                    <a:p>
                      <a:r>
                        <a:rPr sz="1600" b="0">
                          <a:solidFill>
                            <a:srgbClr val="1F2937"/>
                          </a:solidFill>
                          <a:latin typeface="Calibri"/>
                        </a:rPr>
                        <a:t>Temple</a:t>
                      </a:r>
                    </a:p>
                  </a:txBody>
                  <a:tcPr>
                    <a:solidFill>
                      <a:srgbClr val="FFFFFF"/>
                    </a:solidFill>
                  </a:tcPr>
                </a:tc>
                <a:tc>
                  <a:txBody>
                    <a:bodyPr/>
                    <a:lstStyle/>
                    <a:p>
                      <a:r>
                        <a:rPr sz="1600" b="0">
                          <a:solidFill>
                            <a:srgbClr val="1F2937"/>
                          </a:solidFill>
                          <a:latin typeface="Calibri"/>
                        </a:rPr>
                        <a:t>Amritsar</a:t>
                      </a:r>
                    </a:p>
                  </a:txBody>
                  <a:tcPr>
                    <a:solidFill>
                      <a:srgbClr val="FFFFFF"/>
                    </a:solidFill>
                  </a:tcPr>
                </a:tc>
                <a:tc>
                  <a:txBody>
                    <a:bodyPr/>
                    <a:lstStyle/>
                    <a:p>
                      <a:r>
                        <a:rPr sz="1600" b="0">
                          <a:solidFill>
                            <a:srgbClr val="1F2937"/>
                          </a:solidFill>
                          <a:latin typeface="Calibri"/>
                        </a:rPr>
                        <a:t>31.6200</a:t>
                      </a:r>
                    </a:p>
                  </a:txBody>
                  <a:tcPr>
                    <a:solidFill>
                      <a:srgbClr val="FFFFFF"/>
                    </a:solidFill>
                  </a:tcPr>
                </a:tc>
                <a:tc>
                  <a:txBody>
                    <a:bodyPr/>
                    <a:lstStyle/>
                    <a:p>
                      <a:r>
                        <a:rPr sz="1600" b="0">
                          <a:solidFill>
                            <a:srgbClr val="1F2937"/>
                          </a:solidFill>
                          <a:latin typeface="Calibri"/>
                        </a:rPr>
                        <a:t>74.8765</a:t>
                      </a:r>
                    </a:p>
                  </a:txBody>
                  <a:tcPr>
                    <a:solidFill>
                      <a:srgbClr val="FFFFFF"/>
                    </a:solidFill>
                  </a:tcPr>
                </a:tc>
                <a:extLst>
                  <a:ext uri="{0D108BD9-81ED-4DB2-BD59-A6C34878D82A}">
                    <a16:rowId xmlns:a16="http://schemas.microsoft.com/office/drawing/2014/main" val="10003"/>
                  </a:ext>
                </a:extLst>
              </a:tr>
              <a:tr h="457200">
                <a:tc>
                  <a:txBody>
                    <a:bodyPr/>
                    <a:lstStyle/>
                    <a:p>
                      <a:r>
                        <a:rPr sz="1600" b="0">
                          <a:solidFill>
                            <a:srgbClr val="1F2937"/>
                          </a:solidFill>
                          <a:latin typeface="Calibri"/>
                        </a:rPr>
                        <a:t>Kaziranga</a:t>
                      </a:r>
                    </a:p>
                  </a:txBody>
                  <a:tcPr>
                    <a:solidFill>
                      <a:srgbClr val="F3F4F6"/>
                    </a:solidFill>
                  </a:tcPr>
                </a:tc>
                <a:tc>
                  <a:txBody>
                    <a:bodyPr/>
                    <a:lstStyle/>
                    <a:p>
                      <a:r>
                        <a:rPr sz="1600" b="0">
                          <a:solidFill>
                            <a:srgbClr val="1F2937"/>
                          </a:solidFill>
                          <a:latin typeface="Calibri"/>
                        </a:rPr>
                        <a:t>Nature</a:t>
                      </a:r>
                    </a:p>
                  </a:txBody>
                  <a:tcPr>
                    <a:solidFill>
                      <a:srgbClr val="F3F4F6"/>
                    </a:solidFill>
                  </a:tcPr>
                </a:tc>
                <a:tc>
                  <a:txBody>
                    <a:bodyPr/>
                    <a:lstStyle/>
                    <a:p>
                      <a:r>
                        <a:rPr sz="1600" b="0">
                          <a:solidFill>
                            <a:srgbClr val="1F2937"/>
                          </a:solidFill>
                          <a:latin typeface="Calibri"/>
                        </a:rPr>
                        <a:t>Golaghat</a:t>
                      </a:r>
                    </a:p>
                  </a:txBody>
                  <a:tcPr>
                    <a:solidFill>
                      <a:srgbClr val="F3F4F6"/>
                    </a:solidFill>
                  </a:tcPr>
                </a:tc>
                <a:tc>
                  <a:txBody>
                    <a:bodyPr/>
                    <a:lstStyle/>
                    <a:p>
                      <a:r>
                        <a:rPr sz="1600" b="0">
                          <a:solidFill>
                            <a:srgbClr val="1F2937"/>
                          </a:solidFill>
                          <a:latin typeface="Calibri"/>
                        </a:rPr>
                        <a:t>26.5775</a:t>
                      </a:r>
                    </a:p>
                  </a:txBody>
                  <a:tcPr>
                    <a:solidFill>
                      <a:srgbClr val="F3F4F6"/>
                    </a:solidFill>
                  </a:tcPr>
                </a:tc>
                <a:tc>
                  <a:txBody>
                    <a:bodyPr/>
                    <a:lstStyle/>
                    <a:p>
                      <a:r>
                        <a:rPr sz="1600" b="0">
                          <a:solidFill>
                            <a:srgbClr val="1F2937"/>
                          </a:solidFill>
                          <a:latin typeface="Calibri"/>
                        </a:rPr>
                        <a:t>93.1711</a:t>
                      </a:r>
                    </a:p>
                  </a:txBody>
                  <a:tcPr>
                    <a:solidFill>
                      <a:srgbClr val="F3F4F6"/>
                    </a:solidFill>
                  </a:tcPr>
                </a:tc>
                <a:extLst>
                  <a:ext uri="{0D108BD9-81ED-4DB2-BD59-A6C34878D82A}">
                    <a16:rowId xmlns:a16="http://schemas.microsoft.com/office/drawing/2014/main" val="10004"/>
                  </a:ext>
                </a:extLst>
              </a:tr>
            </a:tbl>
          </a:graphicData>
        </a:graphic>
      </p:graphicFrame>
      <p:sp>
        <p:nvSpPr>
          <p:cNvPr id="4" name="TextBox 3"/>
          <p:cNvSpPr txBox="1"/>
          <p:nvPr/>
        </p:nvSpPr>
        <p:spPr>
          <a:xfrm>
            <a:off x="548640" y="4023360"/>
            <a:ext cx="7498079" cy="1280160"/>
          </a:xfrm>
          <a:prstGeom prst="rect">
            <a:avLst/>
          </a:prstGeom>
          <a:noFill/>
        </p:spPr>
        <p:txBody>
          <a:bodyPr wrap="square" lIns="45720" rIns="45720" anchor="t">
            <a:spAutoFit/>
          </a:bodyPr>
          <a:lstStyle/>
          <a:p>
            <a:pPr marL="320040" indent="-274320" algn="l">
              <a:spcAft>
                <a:spcPts val="1000"/>
              </a:spcAft>
              <a:buChar char="•"/>
            </a:pPr>
            <a:r>
              <a:rPr sz="2000" b="0">
                <a:solidFill>
                  <a:srgbClr val="1F2937"/>
                </a:solidFill>
                <a:latin typeface="Calibri"/>
              </a:rPr>
              <a:t>Each row is one place</a:t>
            </a:r>
          </a:p>
          <a:p>
            <a:pPr marL="320040" indent="-274320" algn="l">
              <a:spcAft>
                <a:spcPts val="1000"/>
              </a:spcAft>
              <a:buChar char="•"/>
            </a:pPr>
            <a:r>
              <a:rPr sz="2000" b="0">
                <a:solidFill>
                  <a:srgbClr val="1F2937"/>
                </a:solidFill>
                <a:latin typeface="Calibri"/>
              </a:rPr>
              <a:t>Each column is one fact about it</a:t>
            </a:r>
          </a:p>
          <a:p>
            <a:pPr marL="320040" indent="-274320" algn="l">
              <a:spcAft>
                <a:spcPts val="1000"/>
              </a:spcAft>
              <a:buChar char="•"/>
            </a:pPr>
            <a:r>
              <a:rPr sz="2000" b="0">
                <a:solidFill>
                  <a:srgbClr val="1F2937"/>
                </a:solidFill>
                <a:latin typeface="Calibri"/>
              </a:rPr>
              <a:t>Latitude and longitude tell the map where to put it</a:t>
            </a:r>
          </a:p>
        </p:txBody>
      </p:sp>
      <p:sp>
        <p:nvSpPr>
          <p:cNvPr id="5" name="Rounded Rectangle 4"/>
          <p:cNvSpPr/>
          <p:nvPr/>
        </p:nvSpPr>
        <p:spPr>
          <a:xfrm>
            <a:off x="8412480" y="1463040"/>
            <a:ext cx="3200400" cy="237744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41080" y="1645920"/>
            <a:ext cx="2743200" cy="365760"/>
          </a:xfrm>
          <a:prstGeom prst="rect">
            <a:avLst/>
          </a:prstGeom>
          <a:noFill/>
        </p:spPr>
        <p:txBody>
          <a:bodyPr wrap="square" lIns="45720" rIns="45720" anchor="t">
            <a:spAutoFit/>
          </a:bodyPr>
          <a:lstStyle/>
          <a:p>
            <a:pPr algn="l">
              <a:spcAft>
                <a:spcPts val="1000"/>
              </a:spcAft>
            </a:pPr>
            <a:r>
              <a:rPr sz="1400" b="1">
                <a:solidFill>
                  <a:srgbClr val="92400E"/>
                </a:solidFill>
                <a:latin typeface="Calibri"/>
              </a:rPr>
              <a:t>WORD OF THE DAY</a:t>
            </a:r>
          </a:p>
        </p:txBody>
      </p:sp>
      <p:sp>
        <p:nvSpPr>
          <p:cNvPr id="7" name="TextBox 6"/>
          <p:cNvSpPr txBox="1"/>
          <p:nvPr/>
        </p:nvSpPr>
        <p:spPr>
          <a:xfrm>
            <a:off x="8641080" y="2011680"/>
            <a:ext cx="2743200" cy="1691640"/>
          </a:xfrm>
          <a:prstGeom prst="rect">
            <a:avLst/>
          </a:prstGeom>
          <a:noFill/>
        </p:spPr>
        <p:txBody>
          <a:bodyPr wrap="square" lIns="45720" rIns="45720" anchor="t">
            <a:spAutoFit/>
          </a:bodyPr>
          <a:lstStyle/>
          <a:p>
            <a:pPr algn="l">
              <a:spcAft>
                <a:spcPts val="1000"/>
              </a:spcAft>
            </a:pPr>
            <a:r>
              <a:rPr sz="1800" b="0">
                <a:solidFill>
                  <a:srgbClr val="1F2937"/>
                </a:solidFill>
                <a:latin typeface="Calibri"/>
              </a:rPr>
              <a:t>CSV: Comma-Separated Values. A plain text table with commas between the values.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Each row becomes a dot</a:t>
            </a:r>
          </a:p>
        </p:txBody>
      </p:sp>
      <p:graphicFrame>
        <p:nvGraphicFramePr>
          <p:cNvPr id="3" name="Table 2"/>
          <p:cNvGraphicFramePr>
            <a:graphicFrameLocks noGrp="1"/>
          </p:cNvGraphicFramePr>
          <p:nvPr/>
        </p:nvGraphicFramePr>
        <p:xfrm>
          <a:off x="548640" y="2011680"/>
          <a:ext cx="4572000" cy="18288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457200">
                <a:tc>
                  <a:txBody>
                    <a:bodyPr/>
                    <a:lstStyle/>
                    <a:p>
                      <a:r>
                        <a:rPr sz="1600" b="1">
                          <a:solidFill>
                            <a:srgbClr val="FFFFFF"/>
                          </a:solidFill>
                          <a:latin typeface="Calibri"/>
                        </a:rPr>
                        <a:t>name</a:t>
                      </a:r>
                    </a:p>
                  </a:txBody>
                  <a:tcPr>
                    <a:solidFill>
                      <a:srgbClr val="0F2340"/>
                    </a:solidFill>
                  </a:tcPr>
                </a:tc>
                <a:tc>
                  <a:txBody>
                    <a:bodyPr/>
                    <a:lstStyle/>
                    <a:p>
                      <a:r>
                        <a:rPr sz="1600" b="1">
                          <a:solidFill>
                            <a:srgbClr val="FFFFFF"/>
                          </a:solidFill>
                          <a:latin typeface="Calibri"/>
                        </a:rPr>
                        <a:t>latitude</a:t>
                      </a:r>
                    </a:p>
                  </a:txBody>
                  <a:tcPr>
                    <a:solidFill>
                      <a:srgbClr val="0F2340"/>
                    </a:solidFill>
                  </a:tcPr>
                </a:tc>
                <a:tc>
                  <a:txBody>
                    <a:bodyPr/>
                    <a:lstStyle/>
                    <a:p>
                      <a:r>
                        <a:rPr sz="1600" b="1">
                          <a:solidFill>
                            <a:srgbClr val="FFFFFF"/>
                          </a:solidFill>
                          <a:latin typeface="Calibri"/>
                        </a:rPr>
                        <a:t>longitude</a:t>
                      </a:r>
                    </a:p>
                  </a:txBody>
                  <a:tcPr>
                    <a:solidFill>
                      <a:srgbClr val="0F2340"/>
                    </a:solidFill>
                  </a:tcPr>
                </a:tc>
                <a:extLst>
                  <a:ext uri="{0D108BD9-81ED-4DB2-BD59-A6C34878D82A}">
                    <a16:rowId xmlns:a16="http://schemas.microsoft.com/office/drawing/2014/main" val="10000"/>
                  </a:ext>
                </a:extLst>
              </a:tr>
              <a:tr h="457200">
                <a:tc>
                  <a:txBody>
                    <a:bodyPr/>
                    <a:lstStyle/>
                    <a:p>
                      <a:r>
                        <a:rPr sz="1600" b="0">
                          <a:solidFill>
                            <a:srgbClr val="1F2937"/>
                          </a:solidFill>
                          <a:latin typeface="Calibri"/>
                        </a:rPr>
                        <a:t>Delhi</a:t>
                      </a:r>
                    </a:p>
                  </a:txBody>
                  <a:tcPr>
                    <a:solidFill>
                      <a:srgbClr val="FFFFFF"/>
                    </a:solidFill>
                  </a:tcPr>
                </a:tc>
                <a:tc>
                  <a:txBody>
                    <a:bodyPr/>
                    <a:lstStyle/>
                    <a:p>
                      <a:r>
                        <a:rPr sz="1600" b="0">
                          <a:solidFill>
                            <a:srgbClr val="1F2937"/>
                          </a:solidFill>
                          <a:latin typeface="Calibri"/>
                        </a:rPr>
                        <a:t>28.61</a:t>
                      </a:r>
                    </a:p>
                  </a:txBody>
                  <a:tcPr>
                    <a:solidFill>
                      <a:srgbClr val="FFFFFF"/>
                    </a:solidFill>
                  </a:tcPr>
                </a:tc>
                <a:tc>
                  <a:txBody>
                    <a:bodyPr/>
                    <a:lstStyle/>
                    <a:p>
                      <a:r>
                        <a:rPr sz="1600" b="0">
                          <a:solidFill>
                            <a:srgbClr val="1F2937"/>
                          </a:solidFill>
                          <a:latin typeface="Calibri"/>
                        </a:rPr>
                        <a:t>77.21</a:t>
                      </a:r>
                    </a:p>
                  </a:txBody>
                  <a:tcPr>
                    <a:solidFill>
                      <a:srgbClr val="FFFFFF"/>
                    </a:solidFill>
                  </a:tcPr>
                </a:tc>
                <a:extLst>
                  <a:ext uri="{0D108BD9-81ED-4DB2-BD59-A6C34878D82A}">
                    <a16:rowId xmlns:a16="http://schemas.microsoft.com/office/drawing/2014/main" val="10001"/>
                  </a:ext>
                </a:extLst>
              </a:tr>
              <a:tr h="457200">
                <a:tc>
                  <a:txBody>
                    <a:bodyPr/>
                    <a:lstStyle/>
                    <a:p>
                      <a:r>
                        <a:rPr sz="1600" b="0">
                          <a:solidFill>
                            <a:srgbClr val="1F2937"/>
                          </a:solidFill>
                          <a:latin typeface="Calibri"/>
                        </a:rPr>
                        <a:t>Kolkata</a:t>
                      </a:r>
                    </a:p>
                  </a:txBody>
                  <a:tcPr>
                    <a:solidFill>
                      <a:srgbClr val="F3F4F6"/>
                    </a:solidFill>
                  </a:tcPr>
                </a:tc>
                <a:tc>
                  <a:txBody>
                    <a:bodyPr/>
                    <a:lstStyle/>
                    <a:p>
                      <a:r>
                        <a:rPr sz="1600" b="0">
                          <a:solidFill>
                            <a:srgbClr val="1F2937"/>
                          </a:solidFill>
                          <a:latin typeface="Calibri"/>
                        </a:rPr>
                        <a:t>22.57</a:t>
                      </a:r>
                    </a:p>
                  </a:txBody>
                  <a:tcPr>
                    <a:solidFill>
                      <a:srgbClr val="F3F4F6"/>
                    </a:solidFill>
                  </a:tcPr>
                </a:tc>
                <a:tc>
                  <a:txBody>
                    <a:bodyPr/>
                    <a:lstStyle/>
                    <a:p>
                      <a:r>
                        <a:rPr sz="1600" b="0">
                          <a:solidFill>
                            <a:srgbClr val="1F2937"/>
                          </a:solidFill>
                          <a:latin typeface="Calibri"/>
                        </a:rPr>
                        <a:t>88.36</a:t>
                      </a:r>
                    </a:p>
                  </a:txBody>
                  <a:tcPr>
                    <a:solidFill>
                      <a:srgbClr val="F3F4F6"/>
                    </a:solidFill>
                  </a:tcPr>
                </a:tc>
                <a:extLst>
                  <a:ext uri="{0D108BD9-81ED-4DB2-BD59-A6C34878D82A}">
                    <a16:rowId xmlns:a16="http://schemas.microsoft.com/office/drawing/2014/main" val="10002"/>
                  </a:ext>
                </a:extLst>
              </a:tr>
              <a:tr h="457200">
                <a:tc>
                  <a:txBody>
                    <a:bodyPr/>
                    <a:lstStyle/>
                    <a:p>
                      <a:r>
                        <a:rPr sz="1600" b="0">
                          <a:solidFill>
                            <a:srgbClr val="1F2937"/>
                          </a:solidFill>
                          <a:latin typeface="Calibri"/>
                        </a:rPr>
                        <a:t>Bengaluru</a:t>
                      </a:r>
                    </a:p>
                  </a:txBody>
                  <a:tcPr>
                    <a:solidFill>
                      <a:srgbClr val="FFFFFF"/>
                    </a:solidFill>
                  </a:tcPr>
                </a:tc>
                <a:tc>
                  <a:txBody>
                    <a:bodyPr/>
                    <a:lstStyle/>
                    <a:p>
                      <a:r>
                        <a:rPr sz="1600" b="0">
                          <a:solidFill>
                            <a:srgbClr val="1F2937"/>
                          </a:solidFill>
                          <a:latin typeface="Calibri"/>
                        </a:rPr>
                        <a:t>12.97</a:t>
                      </a:r>
                    </a:p>
                  </a:txBody>
                  <a:tcPr>
                    <a:solidFill>
                      <a:srgbClr val="FFFFFF"/>
                    </a:solidFill>
                  </a:tcPr>
                </a:tc>
                <a:tc>
                  <a:txBody>
                    <a:bodyPr/>
                    <a:lstStyle/>
                    <a:p>
                      <a:r>
                        <a:rPr sz="1600" b="0">
                          <a:solidFill>
                            <a:srgbClr val="1F2937"/>
                          </a:solidFill>
                          <a:latin typeface="Calibri"/>
                        </a:rPr>
                        <a:t>77.59</a:t>
                      </a:r>
                    </a:p>
                  </a:txBody>
                  <a:tcPr>
                    <a:solidFill>
                      <a:srgbClr val="FFFFFF"/>
                    </a:solidFill>
                  </a:tcPr>
                </a:tc>
                <a:extLst>
                  <a:ext uri="{0D108BD9-81ED-4DB2-BD59-A6C34878D82A}">
                    <a16:rowId xmlns:a16="http://schemas.microsoft.com/office/drawing/2014/main" val="10003"/>
                  </a:ext>
                </a:extLst>
              </a:tr>
            </a:tbl>
          </a:graphicData>
        </a:graphic>
      </p:graphicFrame>
      <p:cxnSp>
        <p:nvCxnSpPr>
          <p:cNvPr id="4" name="Connector 3"/>
          <p:cNvCxnSpPr/>
          <p:nvPr/>
        </p:nvCxnSpPr>
        <p:spPr>
          <a:xfrm>
            <a:off x="5349240" y="2926080"/>
            <a:ext cx="1051560" cy="0"/>
          </a:xfrm>
          <a:prstGeom prst="line">
            <a:avLst/>
          </a:prstGeom>
          <a:ln w="50800">
            <a:solidFill>
              <a:srgbClr val="2E7D4F"/>
            </a:solidFill>
            <a:tailEnd type="triangle"/>
          </a:ln>
        </p:spPr>
        <p:style>
          <a:lnRef idx="2">
            <a:schemeClr val="accent1"/>
          </a:lnRef>
          <a:fillRef idx="0">
            <a:schemeClr val="accent1"/>
          </a:fillRef>
          <a:effectRef idx="1">
            <a:schemeClr val="accent1"/>
          </a:effectRef>
          <a:fontRef idx="minor">
            <a:schemeClr val="tx1"/>
          </a:fontRef>
        </p:style>
      </p:cxnSp>
      <p:pic>
        <p:nvPicPr>
          <p:cNvPr id="5" name="Picture 4" descr="india_places.png"/>
          <p:cNvPicPr>
            <a:picLocks noChangeAspect="1"/>
          </p:cNvPicPr>
          <p:nvPr/>
        </p:nvPicPr>
        <p:blipFill>
          <a:blip r:embed="rId3"/>
          <a:stretch>
            <a:fillRect/>
          </a:stretch>
        </p:blipFill>
        <p:spPr>
          <a:xfrm>
            <a:off x="6675120" y="1234440"/>
            <a:ext cx="4937760" cy="4937760"/>
          </a:xfrm>
          <a:prstGeom prst="rect">
            <a:avLst/>
          </a:prstGeom>
          <a:ln w="12700">
            <a:solidFill>
              <a:srgbClr val="D1D5DB"/>
            </a:solidFill>
          </a:ln>
        </p:spPr>
      </p:pic>
      <p:sp>
        <p:nvSpPr>
          <p:cNvPr id="6" name="Rounded Rectangle 5"/>
          <p:cNvSpPr/>
          <p:nvPr/>
        </p:nvSpPr>
        <p:spPr>
          <a:xfrm>
            <a:off x="548640" y="4206240"/>
            <a:ext cx="4572000" cy="1737360"/>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4389120"/>
            <a:ext cx="4114800" cy="365760"/>
          </a:xfrm>
          <a:prstGeom prst="rect">
            <a:avLst/>
          </a:prstGeom>
          <a:noFill/>
        </p:spPr>
        <p:txBody>
          <a:bodyPr wrap="square" lIns="45720" rIns="45720" anchor="t">
            <a:spAutoFit/>
          </a:bodyPr>
          <a:lstStyle/>
          <a:p>
            <a:pPr algn="l">
              <a:spcAft>
                <a:spcPts val="1000"/>
              </a:spcAft>
            </a:pPr>
            <a:r>
              <a:rPr sz="1400" b="1">
                <a:solidFill>
                  <a:srgbClr val="2E7D4F"/>
                </a:solidFill>
                <a:latin typeface="Calibri"/>
              </a:rPr>
              <a:t>REMEMBER FROM EXERCISE 1</a:t>
            </a:r>
          </a:p>
        </p:txBody>
      </p:sp>
      <p:sp>
        <p:nvSpPr>
          <p:cNvPr id="8" name="TextBox 7"/>
          <p:cNvSpPr txBox="1"/>
          <p:nvPr/>
        </p:nvSpPr>
        <p:spPr>
          <a:xfrm>
            <a:off x="777240" y="4754879"/>
            <a:ext cx="4114800" cy="1051560"/>
          </a:xfrm>
          <a:prstGeom prst="rect">
            <a:avLst/>
          </a:prstGeom>
          <a:noFill/>
        </p:spPr>
        <p:txBody>
          <a:bodyPr wrap="square" lIns="45720" rIns="45720" anchor="t">
            <a:spAutoFit/>
          </a:bodyPr>
          <a:lstStyle/>
          <a:p>
            <a:pPr algn="l">
              <a:spcAft>
                <a:spcPts val="1000"/>
              </a:spcAft>
            </a:pPr>
            <a:r>
              <a:rPr sz="2000" b="0">
                <a:solidFill>
                  <a:srgbClr val="1F2937"/>
                </a:solidFill>
                <a:latin typeface="Calibri"/>
              </a:rPr>
              <a:t>Each place is a point: one dot, at one spot.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Sorting places into groups</a:t>
            </a:r>
          </a:p>
        </p:txBody>
      </p:sp>
      <p:sp>
        <p:nvSpPr>
          <p:cNvPr id="3" name="Rounded Rectangle 2"/>
          <p:cNvSpPr/>
          <p:nvPr/>
        </p:nvSpPr>
        <p:spPr>
          <a:xfrm>
            <a:off x="548640" y="1463040"/>
            <a:ext cx="2651760" cy="27432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22959" y="1783080"/>
            <a:ext cx="457200" cy="457200"/>
          </a:xfrm>
          <a:prstGeom prst="ellipse">
            <a:avLst/>
          </a:prstGeom>
          <a:solidFill>
            <a:srgbClr val="D948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17319" y="1783080"/>
            <a:ext cx="1737360" cy="457200"/>
          </a:xfrm>
          <a:prstGeom prst="rect">
            <a:avLst/>
          </a:prstGeom>
          <a:noFill/>
        </p:spPr>
        <p:txBody>
          <a:bodyPr wrap="square" lIns="45720" rIns="45720" anchor="t">
            <a:spAutoFit/>
          </a:bodyPr>
          <a:lstStyle/>
          <a:p>
            <a:pPr algn="l">
              <a:spcAft>
                <a:spcPts val="1000"/>
              </a:spcAft>
            </a:pPr>
            <a:r>
              <a:rPr sz="2200" b="1">
                <a:solidFill>
                  <a:srgbClr val="D9482B"/>
                </a:solidFill>
                <a:latin typeface="Calibri"/>
              </a:rPr>
              <a:t>Monument</a:t>
            </a:r>
          </a:p>
        </p:txBody>
      </p:sp>
      <p:sp>
        <p:nvSpPr>
          <p:cNvPr id="6" name="TextBox 5"/>
          <p:cNvSpPr txBox="1"/>
          <p:nvPr/>
        </p:nvSpPr>
        <p:spPr>
          <a:xfrm>
            <a:off x="777240" y="2560320"/>
            <a:ext cx="2286000" cy="1463040"/>
          </a:xfrm>
          <a:prstGeom prst="rect">
            <a:avLst/>
          </a:prstGeom>
          <a:noFill/>
        </p:spPr>
        <p:txBody>
          <a:bodyPr wrap="square" lIns="45720" rIns="45720" anchor="t">
            <a:spAutoFit/>
          </a:bodyPr>
          <a:lstStyle/>
          <a:p>
            <a:pPr marL="320040" indent="-274320" algn="l">
              <a:spcAft>
                <a:spcPts val="1000"/>
              </a:spcAft>
              <a:buChar char="•"/>
            </a:pPr>
            <a:r>
              <a:rPr sz="1800" b="0">
                <a:solidFill>
                  <a:srgbClr val="1F2937"/>
                </a:solidFill>
                <a:latin typeface="Calibri"/>
              </a:rPr>
              <a:t>Taj Mahal</a:t>
            </a:r>
          </a:p>
          <a:p>
            <a:pPr marL="320040" indent="-274320" algn="l">
              <a:spcAft>
                <a:spcPts val="1000"/>
              </a:spcAft>
              <a:buChar char="•"/>
            </a:pPr>
            <a:r>
              <a:rPr sz="1800" b="0">
                <a:solidFill>
                  <a:srgbClr val="1F2937"/>
                </a:solidFill>
                <a:latin typeface="Calibri"/>
              </a:rPr>
              <a:t>Qutub Minar</a:t>
            </a:r>
          </a:p>
        </p:txBody>
      </p:sp>
      <p:sp>
        <p:nvSpPr>
          <p:cNvPr id="7" name="Rounded Rectangle 6"/>
          <p:cNvSpPr/>
          <p:nvPr/>
        </p:nvSpPr>
        <p:spPr>
          <a:xfrm>
            <a:off x="3383280" y="1463040"/>
            <a:ext cx="2651760" cy="27432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3657600" y="1783080"/>
            <a:ext cx="457200" cy="457200"/>
          </a:xfrm>
          <a:prstGeom prst="ellipse">
            <a:avLst/>
          </a:prstGeom>
          <a:solidFill>
            <a:srgbClr val="E8A31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51960" y="1783080"/>
            <a:ext cx="1737360" cy="457200"/>
          </a:xfrm>
          <a:prstGeom prst="rect">
            <a:avLst/>
          </a:prstGeom>
          <a:noFill/>
        </p:spPr>
        <p:txBody>
          <a:bodyPr wrap="square" lIns="45720" rIns="45720" anchor="t">
            <a:spAutoFit/>
          </a:bodyPr>
          <a:lstStyle/>
          <a:p>
            <a:pPr algn="l">
              <a:spcAft>
                <a:spcPts val="1000"/>
              </a:spcAft>
            </a:pPr>
            <a:r>
              <a:rPr sz="2200" b="1">
                <a:solidFill>
                  <a:srgbClr val="E8A317"/>
                </a:solidFill>
                <a:latin typeface="Calibri"/>
              </a:rPr>
              <a:t>Palace</a:t>
            </a:r>
          </a:p>
        </p:txBody>
      </p:sp>
      <p:sp>
        <p:nvSpPr>
          <p:cNvPr id="10" name="TextBox 9"/>
          <p:cNvSpPr txBox="1"/>
          <p:nvPr/>
        </p:nvSpPr>
        <p:spPr>
          <a:xfrm>
            <a:off x="3611880" y="2560320"/>
            <a:ext cx="2286000" cy="1463040"/>
          </a:xfrm>
          <a:prstGeom prst="rect">
            <a:avLst/>
          </a:prstGeom>
          <a:noFill/>
        </p:spPr>
        <p:txBody>
          <a:bodyPr wrap="square" lIns="45720" rIns="45720" anchor="t">
            <a:spAutoFit/>
          </a:bodyPr>
          <a:lstStyle/>
          <a:p>
            <a:pPr marL="320040" indent="-274320" algn="l">
              <a:spcAft>
                <a:spcPts val="1000"/>
              </a:spcAft>
              <a:buChar char="•"/>
            </a:pPr>
            <a:r>
              <a:rPr sz="1800" b="0">
                <a:solidFill>
                  <a:srgbClr val="1F2937"/>
                </a:solidFill>
                <a:latin typeface="Calibri"/>
              </a:rPr>
              <a:t>Hawa Mahal</a:t>
            </a:r>
          </a:p>
          <a:p>
            <a:pPr marL="320040" indent="-274320" algn="l">
              <a:spcAft>
                <a:spcPts val="1000"/>
              </a:spcAft>
              <a:buChar char="•"/>
            </a:pPr>
            <a:r>
              <a:rPr sz="1800" b="0">
                <a:solidFill>
                  <a:srgbClr val="1F2937"/>
                </a:solidFill>
                <a:latin typeface="Calibri"/>
              </a:rPr>
              <a:t>Mysore Palace</a:t>
            </a:r>
          </a:p>
        </p:txBody>
      </p:sp>
      <p:sp>
        <p:nvSpPr>
          <p:cNvPr id="11" name="Rounded Rectangle 10"/>
          <p:cNvSpPr/>
          <p:nvPr/>
        </p:nvSpPr>
        <p:spPr>
          <a:xfrm>
            <a:off x="6217920" y="1463040"/>
            <a:ext cx="2651760" cy="27432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492240" y="1783080"/>
            <a:ext cx="457200" cy="457200"/>
          </a:xfrm>
          <a:prstGeom prst="ellipse">
            <a:avLst/>
          </a:prstGeom>
          <a:solidFill>
            <a:srgbClr val="1F6FB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86600" y="1783080"/>
            <a:ext cx="1737360" cy="457200"/>
          </a:xfrm>
          <a:prstGeom prst="rect">
            <a:avLst/>
          </a:prstGeom>
          <a:noFill/>
        </p:spPr>
        <p:txBody>
          <a:bodyPr wrap="square" lIns="45720" rIns="45720" anchor="t">
            <a:spAutoFit/>
          </a:bodyPr>
          <a:lstStyle/>
          <a:p>
            <a:pPr algn="l">
              <a:spcAft>
                <a:spcPts val="1000"/>
              </a:spcAft>
            </a:pPr>
            <a:r>
              <a:rPr sz="2200" b="1">
                <a:solidFill>
                  <a:srgbClr val="1F6FB2"/>
                </a:solidFill>
                <a:latin typeface="Calibri"/>
              </a:rPr>
              <a:t>Temple</a:t>
            </a:r>
          </a:p>
        </p:txBody>
      </p:sp>
      <p:sp>
        <p:nvSpPr>
          <p:cNvPr id="14" name="TextBox 13"/>
          <p:cNvSpPr txBox="1"/>
          <p:nvPr/>
        </p:nvSpPr>
        <p:spPr>
          <a:xfrm>
            <a:off x="6446520" y="2560320"/>
            <a:ext cx="2286000" cy="1463040"/>
          </a:xfrm>
          <a:prstGeom prst="rect">
            <a:avLst/>
          </a:prstGeom>
          <a:noFill/>
        </p:spPr>
        <p:txBody>
          <a:bodyPr wrap="square" lIns="45720" rIns="45720" anchor="t">
            <a:spAutoFit/>
          </a:bodyPr>
          <a:lstStyle/>
          <a:p>
            <a:pPr marL="320040" indent="-274320" algn="l">
              <a:spcAft>
                <a:spcPts val="1000"/>
              </a:spcAft>
              <a:buChar char="•"/>
            </a:pPr>
            <a:r>
              <a:rPr sz="1800" b="0">
                <a:solidFill>
                  <a:srgbClr val="1F2937"/>
                </a:solidFill>
                <a:latin typeface="Calibri"/>
              </a:rPr>
              <a:t>Golden Temple</a:t>
            </a:r>
          </a:p>
          <a:p>
            <a:pPr marL="320040" indent="-274320" algn="l">
              <a:spcAft>
                <a:spcPts val="1000"/>
              </a:spcAft>
              <a:buChar char="•"/>
            </a:pPr>
            <a:r>
              <a:rPr sz="1800" b="0">
                <a:solidFill>
                  <a:srgbClr val="1F2937"/>
                </a:solidFill>
                <a:latin typeface="Calibri"/>
              </a:rPr>
              <a:t>Konark Sun Temple</a:t>
            </a:r>
          </a:p>
        </p:txBody>
      </p:sp>
      <p:sp>
        <p:nvSpPr>
          <p:cNvPr id="15" name="Rounded Rectangle 14"/>
          <p:cNvSpPr/>
          <p:nvPr/>
        </p:nvSpPr>
        <p:spPr>
          <a:xfrm>
            <a:off x="9052560" y="1463040"/>
            <a:ext cx="2651760" cy="27432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326880" y="1783080"/>
            <a:ext cx="457200" cy="457200"/>
          </a:xfrm>
          <a:prstGeom prst="ellipse">
            <a:avLst/>
          </a:prstGeom>
          <a:solidFill>
            <a:srgbClr val="2E7D4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921240" y="1783080"/>
            <a:ext cx="1737360" cy="457200"/>
          </a:xfrm>
          <a:prstGeom prst="rect">
            <a:avLst/>
          </a:prstGeom>
          <a:noFill/>
        </p:spPr>
        <p:txBody>
          <a:bodyPr wrap="square" lIns="45720" rIns="45720" anchor="t">
            <a:spAutoFit/>
          </a:bodyPr>
          <a:lstStyle/>
          <a:p>
            <a:pPr algn="l">
              <a:spcAft>
                <a:spcPts val="1000"/>
              </a:spcAft>
            </a:pPr>
            <a:r>
              <a:rPr sz="2200" b="1">
                <a:solidFill>
                  <a:srgbClr val="2E7D4F"/>
                </a:solidFill>
                <a:latin typeface="Calibri"/>
              </a:rPr>
              <a:t>Nature</a:t>
            </a:r>
          </a:p>
        </p:txBody>
      </p:sp>
      <p:sp>
        <p:nvSpPr>
          <p:cNvPr id="18" name="TextBox 17"/>
          <p:cNvSpPr txBox="1"/>
          <p:nvPr/>
        </p:nvSpPr>
        <p:spPr>
          <a:xfrm>
            <a:off x="9281160" y="2560320"/>
            <a:ext cx="2286000" cy="1463040"/>
          </a:xfrm>
          <a:prstGeom prst="rect">
            <a:avLst/>
          </a:prstGeom>
          <a:noFill/>
        </p:spPr>
        <p:txBody>
          <a:bodyPr wrap="square" lIns="45720" rIns="45720" anchor="t">
            <a:spAutoFit/>
          </a:bodyPr>
          <a:lstStyle/>
          <a:p>
            <a:pPr marL="320040" indent="-274320" algn="l">
              <a:spcAft>
                <a:spcPts val="1000"/>
              </a:spcAft>
              <a:buChar char="•"/>
            </a:pPr>
            <a:r>
              <a:rPr sz="1800" b="0">
                <a:solidFill>
                  <a:srgbClr val="1F2937"/>
                </a:solidFill>
                <a:latin typeface="Calibri"/>
              </a:rPr>
              <a:t>Kaziranga</a:t>
            </a:r>
          </a:p>
          <a:p>
            <a:pPr marL="320040" indent="-274320" algn="l">
              <a:spcAft>
                <a:spcPts val="1000"/>
              </a:spcAft>
              <a:buChar char="•"/>
            </a:pPr>
            <a:r>
              <a:rPr sz="1800" b="0">
                <a:solidFill>
                  <a:srgbClr val="1F2937"/>
                </a:solidFill>
                <a:latin typeface="Calibri"/>
              </a:rPr>
              <a:t>Valley of Flowers</a:t>
            </a:r>
          </a:p>
        </p:txBody>
      </p:sp>
      <p:sp>
        <p:nvSpPr>
          <p:cNvPr id="19" name="Rounded Rectangle 18"/>
          <p:cNvSpPr/>
          <p:nvPr/>
        </p:nvSpPr>
        <p:spPr>
          <a:xfrm>
            <a:off x="548640" y="4526280"/>
            <a:ext cx="6766560" cy="155448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4709160"/>
            <a:ext cx="6309360" cy="365760"/>
          </a:xfrm>
          <a:prstGeom prst="rect">
            <a:avLst/>
          </a:prstGeom>
          <a:noFill/>
        </p:spPr>
        <p:txBody>
          <a:bodyPr wrap="square" lIns="45720" rIns="45720" anchor="t">
            <a:spAutoFit/>
          </a:bodyPr>
          <a:lstStyle/>
          <a:p>
            <a:pPr algn="l">
              <a:spcAft>
                <a:spcPts val="1000"/>
              </a:spcAft>
            </a:pPr>
            <a:r>
              <a:rPr sz="1400" b="1">
                <a:solidFill>
                  <a:srgbClr val="92400E"/>
                </a:solidFill>
                <a:latin typeface="Calibri"/>
              </a:rPr>
              <a:t>WORD OF THE DAY</a:t>
            </a:r>
          </a:p>
        </p:txBody>
      </p:sp>
      <p:sp>
        <p:nvSpPr>
          <p:cNvPr id="21" name="TextBox 20"/>
          <p:cNvSpPr txBox="1"/>
          <p:nvPr/>
        </p:nvSpPr>
        <p:spPr>
          <a:xfrm>
            <a:off x="777240" y="5074920"/>
            <a:ext cx="6309360" cy="868680"/>
          </a:xfrm>
          <a:prstGeom prst="rect">
            <a:avLst/>
          </a:prstGeom>
          <a:noFill/>
        </p:spPr>
        <p:txBody>
          <a:bodyPr wrap="square" lIns="45720" rIns="45720" anchor="t">
            <a:spAutoFit/>
          </a:bodyPr>
          <a:lstStyle/>
          <a:p>
            <a:pPr algn="l">
              <a:spcAft>
                <a:spcPts val="1000"/>
              </a:spcAft>
            </a:pPr>
            <a:r>
              <a:rPr sz="1800" b="0">
                <a:solidFill>
                  <a:srgbClr val="1F2937"/>
                </a:solidFill>
                <a:latin typeface="Calibri"/>
              </a:rPr>
              <a:t>Categorized style: giving each group of things on a map its own colour.</a:t>
            </a:r>
          </a:p>
        </p:txBody>
      </p:sp>
      <p:sp>
        <p:nvSpPr>
          <p:cNvPr id="22" name="TextBox 21"/>
          <p:cNvSpPr txBox="1"/>
          <p:nvPr/>
        </p:nvSpPr>
        <p:spPr>
          <a:xfrm>
            <a:off x="7680960" y="4617720"/>
            <a:ext cx="3931920" cy="1463040"/>
          </a:xfrm>
          <a:prstGeom prst="rect">
            <a:avLst/>
          </a:prstGeom>
          <a:noFill/>
        </p:spPr>
        <p:txBody>
          <a:bodyPr wrap="square" lIns="45720" rIns="45720" anchor="t">
            <a:spAutoFit/>
          </a:bodyPr>
          <a:lstStyle/>
          <a:p>
            <a:pPr algn="l">
              <a:spcAft>
                <a:spcPts val="1000"/>
              </a:spcAft>
            </a:pPr>
            <a:r>
              <a:rPr sz="1800" b="0">
                <a:solidFill>
                  <a:srgbClr val="6B7280"/>
                </a:solidFill>
                <a:latin typeface="Calibri"/>
              </a:rPr>
              <a:t>One look at the colours tells you what kind of place each dot 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Maps that know facts</a:t>
            </a:r>
          </a:p>
        </p:txBody>
      </p:sp>
      <p:sp>
        <p:nvSpPr>
          <p:cNvPr id="3" name="Rounded Rectangle 2"/>
          <p:cNvSpPr/>
          <p:nvPr/>
        </p:nvSpPr>
        <p:spPr>
          <a:xfrm>
            <a:off x="548640" y="1371600"/>
            <a:ext cx="5669280" cy="4572000"/>
          </a:xfrm>
          <a:prstGeom prst="roundRect">
            <a:avLst>
              <a:gd name="adj" fmla="val 4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623060" y="4549140"/>
            <a:ext cx="411480" cy="411480"/>
          </a:xfrm>
          <a:prstGeom prst="ellipse">
            <a:avLst/>
          </a:prstGeom>
          <a:solidFill>
            <a:srgbClr val="E8A31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148840" y="4892040"/>
            <a:ext cx="1325880" cy="411480"/>
          </a:xfrm>
          <a:prstGeom prst="roundRect">
            <a:avLst/>
          </a:prstGeom>
          <a:solidFill>
            <a:srgbClr val="0F2340"/>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libri"/>
              </a:rPr>
              <a:t>Hawa Mahal</a:t>
            </a:r>
          </a:p>
        </p:txBody>
      </p:sp>
      <p:cxnSp>
        <p:nvCxnSpPr>
          <p:cNvPr id="6" name="Connector 5"/>
          <p:cNvCxnSpPr/>
          <p:nvPr/>
        </p:nvCxnSpPr>
        <p:spPr>
          <a:xfrm flipV="1">
            <a:off x="1920240" y="3931920"/>
            <a:ext cx="457200" cy="594360"/>
          </a:xfrm>
          <a:prstGeom prst="line">
            <a:avLst/>
          </a:prstGeom>
          <a:ln w="2540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194560" y="1645920"/>
            <a:ext cx="3749039" cy="2240280"/>
          </a:xfrm>
          <a:prstGeom prst="roundRect">
            <a:avLst>
              <a:gd name="adj" fmla="val 6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377440" y="1783080"/>
            <a:ext cx="3474720" cy="2103120"/>
          </a:xfrm>
          <a:prstGeom prst="rect">
            <a:avLst/>
          </a:prstGeom>
          <a:noFill/>
        </p:spPr>
        <p:txBody>
          <a:bodyPr wrap="square" lIns="45720" rIns="45720" anchor="t">
            <a:spAutoFit/>
          </a:bodyPr>
          <a:lstStyle/>
          <a:p>
            <a:pPr algn="l">
              <a:spcAft>
                <a:spcPts val="1000"/>
              </a:spcAft>
            </a:pPr>
            <a:r>
              <a:rPr sz="1600" b="0">
                <a:solidFill>
                  <a:srgbClr val="1F2937"/>
                </a:solidFill>
                <a:latin typeface="Calibri"/>
              </a:rPr>
              <a:t>name: Hawa Mahal</a:t>
            </a:r>
          </a:p>
          <a:p>
            <a:pPr algn="l">
              <a:spcAft>
                <a:spcPts val="1000"/>
              </a:spcAft>
            </a:pPr>
            <a:r>
              <a:rPr sz="1600" b="0">
                <a:solidFill>
                  <a:srgbClr val="1F2937"/>
                </a:solidFill>
                <a:latin typeface="Calibri"/>
              </a:rPr>
              <a:t>city: Jaipur</a:t>
            </a:r>
          </a:p>
          <a:p>
            <a:pPr algn="l">
              <a:spcAft>
                <a:spcPts val="1000"/>
              </a:spcAft>
            </a:pPr>
            <a:r>
              <a:rPr sz="1600" b="0">
                <a:solidFill>
                  <a:srgbClr val="1F2937"/>
                </a:solidFill>
                <a:latin typeface="Calibri"/>
              </a:rPr>
              <a:t>type: Palace</a:t>
            </a:r>
          </a:p>
          <a:p>
            <a:pPr algn="l">
              <a:spcAft>
                <a:spcPts val="1000"/>
              </a:spcAft>
            </a:pPr>
            <a:r>
              <a:rPr sz="1600" b="0">
                <a:solidFill>
                  <a:srgbClr val="1F2937"/>
                </a:solidFill>
                <a:latin typeface="Calibri"/>
              </a:rPr>
              <a:t>fun_fact: has 953 small windows</a:t>
            </a:r>
          </a:p>
        </p:txBody>
      </p:sp>
      <p:sp>
        <p:nvSpPr>
          <p:cNvPr id="9" name="TextBox 8"/>
          <p:cNvSpPr txBox="1"/>
          <p:nvPr/>
        </p:nvSpPr>
        <p:spPr>
          <a:xfrm>
            <a:off x="6675120" y="1463040"/>
            <a:ext cx="4937760" cy="457200"/>
          </a:xfrm>
          <a:prstGeom prst="rect">
            <a:avLst/>
          </a:prstGeom>
          <a:noFill/>
        </p:spPr>
        <p:txBody>
          <a:bodyPr wrap="square" lIns="45720" rIns="45720" anchor="t">
            <a:spAutoFit/>
          </a:bodyPr>
          <a:lstStyle/>
          <a:p>
            <a:pPr algn="l">
              <a:spcAft>
                <a:spcPts val="1000"/>
              </a:spcAft>
            </a:pPr>
            <a:r>
              <a:rPr sz="2400" b="1">
                <a:solidFill>
                  <a:srgbClr val="0F2340"/>
                </a:solidFill>
                <a:latin typeface="Calibri"/>
              </a:rPr>
              <a:t>Two ways to see the facts</a:t>
            </a:r>
          </a:p>
        </p:txBody>
      </p:sp>
      <p:sp>
        <p:nvSpPr>
          <p:cNvPr id="10" name="Rounded Rectangle 9"/>
          <p:cNvSpPr/>
          <p:nvPr/>
        </p:nvSpPr>
        <p:spPr>
          <a:xfrm>
            <a:off x="6675120" y="2103120"/>
            <a:ext cx="4937760" cy="164592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903720" y="2286000"/>
            <a:ext cx="4480560" cy="365760"/>
          </a:xfrm>
          <a:prstGeom prst="rect">
            <a:avLst/>
          </a:prstGeom>
          <a:noFill/>
        </p:spPr>
        <p:txBody>
          <a:bodyPr wrap="square" lIns="45720" rIns="45720" anchor="t">
            <a:spAutoFit/>
          </a:bodyPr>
          <a:lstStyle/>
          <a:p>
            <a:pPr algn="l">
              <a:spcAft>
                <a:spcPts val="1000"/>
              </a:spcAft>
            </a:pPr>
            <a:r>
              <a:rPr sz="1400" b="1">
                <a:solidFill>
                  <a:srgbClr val="92400E"/>
                </a:solidFill>
                <a:latin typeface="Calibri"/>
              </a:rPr>
              <a:t>LABEL</a:t>
            </a:r>
          </a:p>
        </p:txBody>
      </p:sp>
      <p:sp>
        <p:nvSpPr>
          <p:cNvPr id="12" name="TextBox 11"/>
          <p:cNvSpPr txBox="1"/>
          <p:nvPr/>
        </p:nvSpPr>
        <p:spPr>
          <a:xfrm>
            <a:off x="6903720" y="2651760"/>
            <a:ext cx="4480560" cy="960120"/>
          </a:xfrm>
          <a:prstGeom prst="rect">
            <a:avLst/>
          </a:prstGeom>
          <a:noFill/>
        </p:spPr>
        <p:txBody>
          <a:bodyPr wrap="square" lIns="45720" rIns="45720" anchor="t">
            <a:spAutoFit/>
          </a:bodyPr>
          <a:lstStyle/>
          <a:p>
            <a:pPr algn="l">
              <a:spcAft>
                <a:spcPts val="1000"/>
              </a:spcAft>
            </a:pPr>
            <a:r>
              <a:rPr sz="1800" b="0">
                <a:solidFill>
                  <a:srgbClr val="1F2937"/>
                </a:solidFill>
                <a:latin typeface="Calibri"/>
              </a:rPr>
              <a:t>Text on the map that comes from one column, such as the name.</a:t>
            </a:r>
          </a:p>
        </p:txBody>
      </p:sp>
      <p:sp>
        <p:nvSpPr>
          <p:cNvPr id="13" name="Rounded Rectangle 12"/>
          <p:cNvSpPr/>
          <p:nvPr/>
        </p:nvSpPr>
        <p:spPr>
          <a:xfrm>
            <a:off x="6675120" y="3977639"/>
            <a:ext cx="4937760" cy="1645920"/>
          </a:xfrm>
          <a:prstGeom prst="roundRect">
            <a:avLst>
              <a:gd name="adj" fmla="val 8000"/>
            </a:avLst>
          </a:prstGeom>
          <a:solidFill>
            <a:srgbClr val="E7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03720" y="4160520"/>
            <a:ext cx="4480560" cy="365760"/>
          </a:xfrm>
          <a:prstGeom prst="rect">
            <a:avLst/>
          </a:prstGeom>
          <a:noFill/>
        </p:spPr>
        <p:txBody>
          <a:bodyPr wrap="square" lIns="45720" rIns="45720" anchor="t">
            <a:spAutoFit/>
          </a:bodyPr>
          <a:lstStyle/>
          <a:p>
            <a:pPr algn="l">
              <a:spcAft>
                <a:spcPts val="1000"/>
              </a:spcAft>
            </a:pPr>
            <a:r>
              <a:rPr sz="1400" b="1">
                <a:solidFill>
                  <a:srgbClr val="1F6FB2"/>
                </a:solidFill>
                <a:latin typeface="Calibri"/>
              </a:rPr>
              <a:t>ATTRIBUTE TABLE</a:t>
            </a:r>
          </a:p>
        </p:txBody>
      </p:sp>
      <p:sp>
        <p:nvSpPr>
          <p:cNvPr id="15" name="TextBox 14"/>
          <p:cNvSpPr txBox="1"/>
          <p:nvPr/>
        </p:nvSpPr>
        <p:spPr>
          <a:xfrm>
            <a:off x="6903720" y="4526279"/>
            <a:ext cx="4480560" cy="960120"/>
          </a:xfrm>
          <a:prstGeom prst="rect">
            <a:avLst/>
          </a:prstGeom>
          <a:noFill/>
        </p:spPr>
        <p:txBody>
          <a:bodyPr wrap="square" lIns="45720" rIns="45720" anchor="t">
            <a:spAutoFit/>
          </a:bodyPr>
          <a:lstStyle/>
          <a:p>
            <a:pPr algn="l">
              <a:spcAft>
                <a:spcPts val="1000"/>
              </a:spcAft>
            </a:pPr>
            <a:r>
              <a:rPr sz="1800" b="0">
                <a:solidFill>
                  <a:srgbClr val="1F2937"/>
                </a:solidFill>
                <a:latin typeface="Calibri"/>
              </a:rPr>
              <a:t>The whole table behind the dots. Click a row and its dot lights up.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As the crow flies</a:t>
            </a:r>
          </a:p>
        </p:txBody>
      </p:sp>
      <p:sp>
        <p:nvSpPr>
          <p:cNvPr id="3" name="Freeform 2"/>
          <p:cNvSpPr/>
          <p:nvPr/>
        </p:nvSpPr>
        <p:spPr>
          <a:xfrm>
            <a:off x="1188720" y="2103120"/>
            <a:ext cx="3931920" cy="3017520"/>
          </a:xfrm>
          <a:custGeom>
            <a:avLst/>
            <a:gdLst/>
            <a:ahLst/>
            <a:cxnLst/>
            <a:rect l="l" t="t" r="r" b="b"/>
            <a:pathLst>
              <a:path w="3931920" h="3017520">
                <a:moveTo>
                  <a:pt x="3931920" y="0"/>
                </a:moveTo>
                <a:lnTo>
                  <a:pt x="3840480" y="914400"/>
                </a:lnTo>
                <a:lnTo>
                  <a:pt x="3108960" y="1188720"/>
                </a:lnTo>
                <a:lnTo>
                  <a:pt x="2743200" y="1920240"/>
                </a:lnTo>
                <a:lnTo>
                  <a:pt x="1920240" y="2011680"/>
                </a:lnTo>
                <a:lnTo>
                  <a:pt x="1463040" y="2743200"/>
                </a:lnTo>
                <a:lnTo>
                  <a:pt x="640080" y="2651760"/>
                </a:lnTo>
                <a:lnTo>
                  <a:pt x="0" y="3017520"/>
                </a:lnTo>
              </a:path>
            </a:pathLst>
          </a:custGeom>
          <a:noFill/>
          <a:ln w="635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1188720" y="2103120"/>
            <a:ext cx="3931920" cy="3017520"/>
          </a:xfrm>
          <a:custGeom>
            <a:avLst/>
            <a:gdLst/>
            <a:ahLst/>
            <a:cxnLst/>
            <a:rect l="l" t="t" r="r" b="b"/>
            <a:pathLst>
              <a:path w="3931920" h="3017520">
                <a:moveTo>
                  <a:pt x="3931920" y="0"/>
                </a:moveTo>
                <a:lnTo>
                  <a:pt x="0" y="3017520"/>
                </a:lnTo>
              </a:path>
            </a:pathLst>
          </a:custGeom>
          <a:noFill/>
          <a:ln w="38100">
            <a:solidFill>
              <a:srgbClr val="D9482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4892040" y="1874519"/>
            <a:ext cx="457200" cy="457200"/>
          </a:xfrm>
          <a:prstGeom prst="ellipse">
            <a:avLst/>
          </a:prstGeom>
          <a:solidFill>
            <a:srgbClr val="0F2340"/>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60120" y="4892040"/>
            <a:ext cx="457200" cy="457200"/>
          </a:xfrm>
          <a:prstGeom prst="ellipse">
            <a:avLst/>
          </a:prstGeom>
          <a:solidFill>
            <a:srgbClr val="0F2340"/>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40680" y="1874519"/>
            <a:ext cx="1828800" cy="457200"/>
          </a:xfrm>
          <a:prstGeom prst="rect">
            <a:avLst/>
          </a:prstGeom>
          <a:noFill/>
        </p:spPr>
        <p:txBody>
          <a:bodyPr wrap="square" lIns="45720" rIns="45720" anchor="t">
            <a:spAutoFit/>
          </a:bodyPr>
          <a:lstStyle/>
          <a:p>
            <a:pPr algn="l">
              <a:spcAft>
                <a:spcPts val="1000"/>
              </a:spcAft>
            </a:pPr>
            <a:r>
              <a:rPr sz="2000" b="1">
                <a:solidFill>
                  <a:srgbClr val="1F2937"/>
                </a:solidFill>
                <a:latin typeface="Calibri"/>
              </a:rPr>
              <a:t>Bengaluru</a:t>
            </a:r>
          </a:p>
        </p:txBody>
      </p:sp>
      <p:sp>
        <p:nvSpPr>
          <p:cNvPr id="8" name="TextBox 7"/>
          <p:cNvSpPr txBox="1"/>
          <p:nvPr/>
        </p:nvSpPr>
        <p:spPr>
          <a:xfrm>
            <a:off x="548640" y="5486400"/>
            <a:ext cx="1828800" cy="457200"/>
          </a:xfrm>
          <a:prstGeom prst="rect">
            <a:avLst/>
          </a:prstGeom>
          <a:noFill/>
        </p:spPr>
        <p:txBody>
          <a:bodyPr wrap="square" lIns="45720" rIns="45720" anchor="t">
            <a:spAutoFit/>
          </a:bodyPr>
          <a:lstStyle/>
          <a:p>
            <a:pPr algn="l">
              <a:spcAft>
                <a:spcPts val="1000"/>
              </a:spcAft>
            </a:pPr>
            <a:r>
              <a:rPr sz="2000" b="1">
                <a:solidFill>
                  <a:srgbClr val="1F2937"/>
                </a:solidFill>
                <a:latin typeface="Calibri"/>
              </a:rPr>
              <a:t>Mysuru</a:t>
            </a:r>
          </a:p>
        </p:txBody>
      </p:sp>
      <p:sp>
        <p:nvSpPr>
          <p:cNvPr id="9" name="Rounded Rectangle 8"/>
          <p:cNvSpPr/>
          <p:nvPr/>
        </p:nvSpPr>
        <p:spPr>
          <a:xfrm>
            <a:off x="1463040" y="3108960"/>
            <a:ext cx="1554480" cy="411480"/>
          </a:xfrm>
          <a:prstGeom prst="roundRect">
            <a:avLst/>
          </a:prstGeom>
          <a:solidFill>
            <a:srgbClr val="D9482B"/>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libri"/>
              </a:rPr>
              <a:t>about 130 km</a:t>
            </a:r>
          </a:p>
        </p:txBody>
      </p:sp>
      <p:sp>
        <p:nvSpPr>
          <p:cNvPr id="10" name="Rounded Rectangle 9"/>
          <p:cNvSpPr/>
          <p:nvPr/>
        </p:nvSpPr>
        <p:spPr>
          <a:xfrm>
            <a:off x="3291840" y="4572000"/>
            <a:ext cx="2377440" cy="411480"/>
          </a:xfrm>
          <a:prstGeom prst="round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libri"/>
              </a:rPr>
              <a:t>about 145 km by road</a:t>
            </a:r>
          </a:p>
        </p:txBody>
      </p:sp>
      <p:sp>
        <p:nvSpPr>
          <p:cNvPr id="11" name="TextBox 10"/>
          <p:cNvSpPr txBox="1"/>
          <p:nvPr/>
        </p:nvSpPr>
        <p:spPr>
          <a:xfrm>
            <a:off x="7132320" y="1463040"/>
            <a:ext cx="4480560" cy="2194560"/>
          </a:xfrm>
          <a:prstGeom prst="rect">
            <a:avLst/>
          </a:prstGeom>
          <a:noFill/>
        </p:spPr>
        <p:txBody>
          <a:bodyPr wrap="square" lIns="45720" rIns="45720" anchor="t">
            <a:spAutoFit/>
          </a:bodyPr>
          <a:lstStyle/>
          <a:p>
            <a:pPr marL="320040" indent="-274320" algn="l">
              <a:spcAft>
                <a:spcPts val="1000"/>
              </a:spcAft>
              <a:buChar char="•"/>
            </a:pPr>
            <a:r>
              <a:rPr sz="2000" b="0">
                <a:solidFill>
                  <a:srgbClr val="1F2937"/>
                </a:solidFill>
                <a:latin typeface="Calibri"/>
              </a:rPr>
              <a:t>The red line is the straight line between the two cities</a:t>
            </a:r>
          </a:p>
          <a:p>
            <a:pPr marL="320040" indent="-274320" algn="l">
              <a:spcAft>
                <a:spcPts val="1000"/>
              </a:spcAft>
              <a:buChar char="•"/>
            </a:pPr>
            <a:r>
              <a:rPr sz="2000" b="0">
                <a:solidFill>
                  <a:srgbClr val="1F2937"/>
                </a:solidFill>
                <a:latin typeface="Calibri"/>
              </a:rPr>
              <a:t>The grey line is the road, which bends around hills, lakes and towns</a:t>
            </a:r>
          </a:p>
        </p:txBody>
      </p:sp>
      <p:sp>
        <p:nvSpPr>
          <p:cNvPr id="12" name="Rounded Rectangle 11"/>
          <p:cNvSpPr/>
          <p:nvPr/>
        </p:nvSpPr>
        <p:spPr>
          <a:xfrm>
            <a:off x="7132320" y="3931920"/>
            <a:ext cx="4480560" cy="182880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60920" y="4114800"/>
            <a:ext cx="4023360" cy="365760"/>
          </a:xfrm>
          <a:prstGeom prst="rect">
            <a:avLst/>
          </a:prstGeom>
          <a:noFill/>
        </p:spPr>
        <p:txBody>
          <a:bodyPr wrap="square" lIns="45720" rIns="45720" anchor="t">
            <a:spAutoFit/>
          </a:bodyPr>
          <a:lstStyle/>
          <a:p>
            <a:pPr algn="l">
              <a:spcAft>
                <a:spcPts val="1000"/>
              </a:spcAft>
            </a:pPr>
            <a:r>
              <a:rPr sz="1400" b="1">
                <a:solidFill>
                  <a:srgbClr val="92400E"/>
                </a:solidFill>
                <a:latin typeface="Calibri"/>
              </a:rPr>
              <a:t>WORD OF THE DAY</a:t>
            </a:r>
          </a:p>
        </p:txBody>
      </p:sp>
      <p:sp>
        <p:nvSpPr>
          <p:cNvPr id="14" name="TextBox 13"/>
          <p:cNvSpPr txBox="1"/>
          <p:nvPr/>
        </p:nvSpPr>
        <p:spPr>
          <a:xfrm>
            <a:off x="7360920" y="4480559"/>
            <a:ext cx="4023360" cy="1143000"/>
          </a:xfrm>
          <a:prstGeom prst="rect">
            <a:avLst/>
          </a:prstGeom>
          <a:noFill/>
        </p:spPr>
        <p:txBody>
          <a:bodyPr wrap="square" lIns="45720" rIns="45720" anchor="t">
            <a:spAutoFit/>
          </a:bodyPr>
          <a:lstStyle/>
          <a:p>
            <a:pPr algn="l">
              <a:spcAft>
                <a:spcPts val="1000"/>
              </a:spcAft>
            </a:pPr>
            <a:r>
              <a:rPr sz="1800" b="0">
                <a:solidFill>
                  <a:srgbClr val="1F2937"/>
                </a:solidFill>
                <a:latin typeface="Calibri"/>
              </a:rPr>
              <a:t>Straight-line distance: the shortest distance between two places, as a bird would fly.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Draw a circle around a place: buffers</a:t>
            </a:r>
          </a:p>
        </p:txBody>
      </p:sp>
      <p:sp>
        <p:nvSpPr>
          <p:cNvPr id="3" name="Oval 2"/>
          <p:cNvSpPr/>
          <p:nvPr/>
        </p:nvSpPr>
        <p:spPr>
          <a:xfrm>
            <a:off x="914400" y="1828800"/>
            <a:ext cx="4206240" cy="4206240"/>
          </a:xfrm>
          <a:prstGeom prst="ellipse">
            <a:avLst/>
          </a:prstGeom>
          <a:solidFill>
            <a:srgbClr val="E7F0FA"/>
          </a:solidFill>
          <a:ln w="31750">
            <a:solidFill>
              <a:srgbClr val="1F6F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 name="Connector 3"/>
          <p:cNvCxnSpPr/>
          <p:nvPr/>
        </p:nvCxnSpPr>
        <p:spPr>
          <a:xfrm>
            <a:off x="3017520" y="3931920"/>
            <a:ext cx="2057400" cy="0"/>
          </a:xfrm>
          <a:prstGeom prst="line">
            <a:avLst/>
          </a:prstGeom>
          <a:ln w="38100">
            <a:solidFill>
              <a:srgbClr val="1F6FB2"/>
            </a:solidFill>
            <a:tailEnd type="triangle"/>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3566160" y="3383279"/>
            <a:ext cx="1005840" cy="411480"/>
          </a:xfrm>
          <a:prstGeom prst="round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600" b="1">
                <a:solidFill>
                  <a:srgbClr val="FFFFFF"/>
                </a:solidFill>
                <a:latin typeface="Calibri"/>
              </a:rPr>
              <a:t>500 m</a:t>
            </a:r>
          </a:p>
        </p:txBody>
      </p:sp>
      <p:sp>
        <p:nvSpPr>
          <p:cNvPr id="6" name="Oval 5"/>
          <p:cNvSpPr/>
          <p:nvPr/>
        </p:nvSpPr>
        <p:spPr>
          <a:xfrm>
            <a:off x="2788920" y="3703320"/>
            <a:ext cx="457200" cy="457200"/>
          </a:xfrm>
          <a:prstGeom prst="ellipse">
            <a:avLst/>
          </a:prstGeom>
          <a:solidFill>
            <a:srgbClr val="D948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240279" y="4297680"/>
            <a:ext cx="1371600" cy="411480"/>
          </a:xfrm>
          <a:prstGeom prst="roundRect">
            <a:avLst/>
          </a:prstGeom>
          <a:solidFill>
            <a:srgbClr val="0F2340"/>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libri"/>
              </a:rPr>
              <a:t>Taj Mahal</a:t>
            </a:r>
          </a:p>
        </p:txBody>
      </p:sp>
      <p:sp>
        <p:nvSpPr>
          <p:cNvPr id="8" name="TextBox 7"/>
          <p:cNvSpPr txBox="1"/>
          <p:nvPr/>
        </p:nvSpPr>
        <p:spPr>
          <a:xfrm>
            <a:off x="6035040" y="1371600"/>
            <a:ext cx="5577840" cy="1280160"/>
          </a:xfrm>
          <a:prstGeom prst="rect">
            <a:avLst/>
          </a:prstGeom>
          <a:noFill/>
        </p:spPr>
        <p:txBody>
          <a:bodyPr wrap="square" lIns="45720" rIns="45720" anchor="t">
            <a:spAutoFit/>
          </a:bodyPr>
          <a:lstStyle/>
          <a:p>
            <a:pPr algn="l">
              <a:spcAft>
                <a:spcPts val="1000"/>
              </a:spcAft>
            </a:pPr>
            <a:r>
              <a:rPr sz="2000" b="0">
                <a:solidFill>
                  <a:srgbClr val="1F2937"/>
                </a:solidFill>
                <a:latin typeface="Calibri"/>
              </a:rPr>
              <a:t>In GeoLibre, click a place and open Quick analysis. It can draw a 500 m buffer: a circle that covers every spot within 500 m of the place.</a:t>
            </a:r>
          </a:p>
        </p:txBody>
      </p:sp>
      <p:sp>
        <p:nvSpPr>
          <p:cNvPr id="9" name="Rounded Rectangle 8"/>
          <p:cNvSpPr/>
          <p:nvPr/>
        </p:nvSpPr>
        <p:spPr>
          <a:xfrm>
            <a:off x="6035040" y="2788920"/>
            <a:ext cx="5577840" cy="137160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63640" y="2971800"/>
            <a:ext cx="5120640" cy="365760"/>
          </a:xfrm>
          <a:prstGeom prst="rect">
            <a:avLst/>
          </a:prstGeom>
          <a:noFill/>
        </p:spPr>
        <p:txBody>
          <a:bodyPr wrap="square" lIns="45720" rIns="45720" anchor="t">
            <a:spAutoFit/>
          </a:bodyPr>
          <a:lstStyle/>
          <a:p>
            <a:pPr algn="l">
              <a:spcAft>
                <a:spcPts val="1000"/>
              </a:spcAft>
            </a:pPr>
            <a:r>
              <a:rPr sz="1400" b="1">
                <a:solidFill>
                  <a:srgbClr val="92400E"/>
                </a:solidFill>
                <a:latin typeface="Calibri"/>
              </a:rPr>
              <a:t>WORD OF THE DAY</a:t>
            </a:r>
          </a:p>
        </p:txBody>
      </p:sp>
      <p:sp>
        <p:nvSpPr>
          <p:cNvPr id="11" name="TextBox 10"/>
          <p:cNvSpPr txBox="1"/>
          <p:nvPr/>
        </p:nvSpPr>
        <p:spPr>
          <a:xfrm>
            <a:off x="6263640" y="3337560"/>
            <a:ext cx="5120640" cy="685800"/>
          </a:xfrm>
          <a:prstGeom prst="rect">
            <a:avLst/>
          </a:prstGeom>
          <a:noFill/>
        </p:spPr>
        <p:txBody>
          <a:bodyPr wrap="square" lIns="45720" rIns="45720" anchor="t">
            <a:spAutoFit/>
          </a:bodyPr>
          <a:lstStyle/>
          <a:p>
            <a:pPr algn="l">
              <a:spcAft>
                <a:spcPts val="1000"/>
              </a:spcAft>
            </a:pPr>
            <a:r>
              <a:rPr sz="1800" b="0">
                <a:solidFill>
                  <a:srgbClr val="1F2937"/>
                </a:solidFill>
                <a:latin typeface="Calibri"/>
              </a:rPr>
              <a:t>Buffer: a zone that covers everything within a set distance of a place.</a:t>
            </a:r>
          </a:p>
        </p:txBody>
      </p:sp>
      <p:sp>
        <p:nvSpPr>
          <p:cNvPr id="12" name="Rounded Rectangle 11"/>
          <p:cNvSpPr/>
          <p:nvPr/>
        </p:nvSpPr>
        <p:spPr>
          <a:xfrm>
            <a:off x="6035040" y="4389120"/>
            <a:ext cx="5577840" cy="1737360"/>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63640" y="4572000"/>
            <a:ext cx="5120640" cy="365760"/>
          </a:xfrm>
          <a:prstGeom prst="rect">
            <a:avLst/>
          </a:prstGeom>
          <a:noFill/>
        </p:spPr>
        <p:txBody>
          <a:bodyPr wrap="square" lIns="45720" rIns="45720" anchor="t">
            <a:spAutoFit/>
          </a:bodyPr>
          <a:lstStyle/>
          <a:p>
            <a:pPr algn="l">
              <a:spcAft>
                <a:spcPts val="1000"/>
              </a:spcAft>
            </a:pPr>
            <a:r>
              <a:rPr sz="1400" b="1">
                <a:solidFill>
                  <a:srgbClr val="2E7D4F"/>
                </a:solidFill>
                <a:latin typeface="Calibri"/>
              </a:rPr>
              <a:t>HOW PLANNERS USE IT</a:t>
            </a:r>
          </a:p>
        </p:txBody>
      </p:sp>
      <p:sp>
        <p:nvSpPr>
          <p:cNvPr id="14" name="TextBox 13"/>
          <p:cNvSpPr txBox="1"/>
          <p:nvPr/>
        </p:nvSpPr>
        <p:spPr>
          <a:xfrm>
            <a:off x="6263640" y="4937759"/>
            <a:ext cx="5120640" cy="1051560"/>
          </a:xfrm>
          <a:prstGeom prst="rect">
            <a:avLst/>
          </a:prstGeom>
          <a:noFill/>
        </p:spPr>
        <p:txBody>
          <a:bodyPr wrap="square" lIns="45720" rIns="45720" anchor="t">
            <a:spAutoFit/>
          </a:bodyPr>
          <a:lstStyle/>
          <a:p>
            <a:pPr algn="l">
              <a:spcAft>
                <a:spcPts val="1000"/>
              </a:spcAft>
            </a:pPr>
            <a:r>
              <a:rPr sz="1700" b="0">
                <a:solidFill>
                  <a:srgbClr val="1F2937"/>
                </a:solidFill>
                <a:latin typeface="Calibri"/>
              </a:rPr>
              <a:t>No new buildings are allowed within 100 m of a protected monument like the Taj Mahal. For 200 m beyond that, building needs special permission.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"500 m from the metro": what does it mean?</a:t>
            </a:r>
          </a:p>
        </p:txBody>
      </p:sp>
      <p:pic>
        <p:nvPicPr>
          <p:cNvPr id="3" name="Picture 2" descr="bengaluru_metro.jpg"/>
          <p:cNvPicPr>
            <a:picLocks noChangeAspect="1"/>
          </p:cNvPicPr>
          <p:nvPr/>
        </p:nvPicPr>
        <p:blipFill>
          <a:blip r:embed="rId3"/>
          <a:stretch>
            <a:fillRect/>
          </a:stretch>
        </p:blipFill>
        <p:spPr>
          <a:xfrm>
            <a:off x="548640" y="1188720"/>
            <a:ext cx="5701478" cy="5120640"/>
          </a:xfrm>
          <a:prstGeom prst="rect">
            <a:avLst/>
          </a:prstGeom>
          <a:ln w="12700">
            <a:solidFill>
              <a:srgbClr val="D1D5DB"/>
            </a:solidFill>
          </a:ln>
        </p:spPr>
      </p:pic>
      <p:sp>
        <p:nvSpPr>
          <p:cNvPr id="4" name="TextBox 3"/>
          <p:cNvSpPr txBox="1"/>
          <p:nvPr/>
        </p:nvSpPr>
        <p:spPr>
          <a:xfrm>
            <a:off x="548640" y="6355080"/>
            <a:ext cx="5760720" cy="365760"/>
          </a:xfrm>
          <a:prstGeom prst="rect">
            <a:avLst/>
          </a:prstGeom>
          <a:noFill/>
        </p:spPr>
        <p:txBody>
          <a:bodyPr wrap="square" lIns="45720" rIns="45720" anchor="t">
            <a:spAutoFit/>
          </a:bodyPr>
          <a:lstStyle/>
          <a:p>
            <a:pPr algn="l">
              <a:spcAft>
                <a:spcPts val="1000"/>
              </a:spcAft>
            </a:pPr>
            <a:r>
              <a:rPr sz="1200" b="0">
                <a:solidFill>
                  <a:srgbClr val="6B7280"/>
                </a:solidFill>
                <a:latin typeface="Calibri"/>
              </a:rPr>
              <a:t>Map by Sonia Das: metro stations in Bengaluru (2024)</a:t>
            </a:r>
          </a:p>
        </p:txBody>
      </p:sp>
      <p:sp>
        <p:nvSpPr>
          <p:cNvPr id="5" name="TextBox 4"/>
          <p:cNvSpPr txBox="1"/>
          <p:nvPr/>
        </p:nvSpPr>
        <p:spPr>
          <a:xfrm>
            <a:off x="6675120" y="1234440"/>
            <a:ext cx="4937760" cy="457200"/>
          </a:xfrm>
          <a:prstGeom prst="rect">
            <a:avLst/>
          </a:prstGeom>
          <a:noFill/>
        </p:spPr>
        <p:txBody>
          <a:bodyPr wrap="square" lIns="45720" rIns="45720" anchor="t">
            <a:spAutoFit/>
          </a:bodyPr>
          <a:lstStyle/>
          <a:p>
            <a:pPr algn="l">
              <a:spcAft>
                <a:spcPts val="1000"/>
              </a:spcAft>
            </a:pPr>
            <a:r>
              <a:rPr sz="2200" b="1">
                <a:solidFill>
                  <a:srgbClr val="0F2340"/>
                </a:solidFill>
                <a:latin typeface="Calibri"/>
              </a:rPr>
              <a:t>Zoom in on one station</a:t>
            </a:r>
          </a:p>
        </p:txBody>
      </p:sp>
      <p:sp>
        <p:nvSpPr>
          <p:cNvPr id="6" name="Oval 5"/>
          <p:cNvSpPr/>
          <p:nvPr/>
        </p:nvSpPr>
        <p:spPr>
          <a:xfrm>
            <a:off x="7635240" y="2011680"/>
            <a:ext cx="2834640" cy="2834640"/>
          </a:xfrm>
          <a:prstGeom prst="ellipse">
            <a:avLst/>
          </a:prstGeom>
          <a:solidFill>
            <a:srgbClr val="E6F4EA"/>
          </a:solidFill>
          <a:ln w="31750">
            <a:solidFill>
              <a:srgbClr val="2E7D4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092440" y="2697480"/>
            <a:ext cx="274320" cy="274320"/>
          </a:xfrm>
          <a:prstGeom prst="rect">
            <a:avLst/>
          </a:prstGeom>
          <a:solidFill>
            <a:srgbClr val="2E7D4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9646919" y="3977639"/>
            <a:ext cx="274320" cy="274320"/>
          </a:xfrm>
          <a:prstGeom prst="rect">
            <a:avLst/>
          </a:prstGeom>
          <a:solidFill>
            <a:srgbClr val="2E7D4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464040" y="2377440"/>
            <a:ext cx="274320" cy="274320"/>
          </a:xfrm>
          <a:prstGeom prst="rect">
            <a:avLst/>
          </a:prstGeom>
          <a:solidFill>
            <a:srgbClr val="2E7D4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949440" y="1965960"/>
            <a:ext cx="274320" cy="274320"/>
          </a:xfrm>
          <a:prstGeom prst="rect">
            <a:avLst/>
          </a:prstGeom>
          <a:solidFill>
            <a:srgbClr val="6B7280"/>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835640" y="2788920"/>
            <a:ext cx="274320" cy="274320"/>
          </a:xfrm>
          <a:prstGeom prst="rect">
            <a:avLst/>
          </a:prstGeom>
          <a:solidFill>
            <a:srgbClr val="6B7280"/>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269479" y="4709159"/>
            <a:ext cx="274320" cy="274320"/>
          </a:xfrm>
          <a:prstGeom prst="rect">
            <a:avLst/>
          </a:prstGeom>
          <a:solidFill>
            <a:srgbClr val="6B7280"/>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846820" y="3223260"/>
            <a:ext cx="411480" cy="411480"/>
          </a:xfrm>
          <a:prstGeom prst="ellipse">
            <a:avLst/>
          </a:prstGeom>
          <a:solidFill>
            <a:srgbClr val="5B3FA8"/>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503920" y="3749039"/>
            <a:ext cx="1097280" cy="411480"/>
          </a:xfrm>
          <a:prstGeom prst="roundRect">
            <a:avLst/>
          </a:prstGeom>
          <a:solidFill>
            <a:srgbClr val="0F2340"/>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libri"/>
              </a:rPr>
              <a:t>Metro</a:t>
            </a:r>
          </a:p>
        </p:txBody>
      </p:sp>
      <p:sp>
        <p:nvSpPr>
          <p:cNvPr id="15" name="Rectangle 14"/>
          <p:cNvSpPr/>
          <p:nvPr/>
        </p:nvSpPr>
        <p:spPr>
          <a:xfrm>
            <a:off x="6766560" y="5166360"/>
            <a:ext cx="274320" cy="274320"/>
          </a:xfrm>
          <a:prstGeom prst="rect">
            <a:avLst/>
          </a:prstGeom>
          <a:solidFill>
            <a:srgbClr val="2E7D4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0" y="5074920"/>
            <a:ext cx="4480560" cy="457200"/>
          </a:xfrm>
          <a:prstGeom prst="rect">
            <a:avLst/>
          </a:prstGeom>
          <a:noFill/>
        </p:spPr>
        <p:txBody>
          <a:bodyPr wrap="square" lIns="45720" rIns="45720" anchor="t">
            <a:spAutoFit/>
          </a:bodyPr>
          <a:lstStyle/>
          <a:p>
            <a:pPr algn="l">
              <a:spcAft>
                <a:spcPts val="1000"/>
              </a:spcAft>
            </a:pPr>
            <a:r>
              <a:rPr sz="1600" b="0">
                <a:solidFill>
                  <a:srgbClr val="1F2937"/>
                </a:solidFill>
                <a:latin typeface="Calibri"/>
              </a:rPr>
              <a:t>Inside: within 500 m of the station</a:t>
            </a:r>
          </a:p>
        </p:txBody>
      </p:sp>
      <p:sp>
        <p:nvSpPr>
          <p:cNvPr id="17" name="Rectangle 16"/>
          <p:cNvSpPr/>
          <p:nvPr/>
        </p:nvSpPr>
        <p:spPr>
          <a:xfrm>
            <a:off x="6766560" y="5623560"/>
            <a:ext cx="274320" cy="274320"/>
          </a:xfrm>
          <a:prstGeom prst="rect">
            <a:avLst/>
          </a:prstGeom>
          <a:solidFill>
            <a:srgbClr val="6B7280"/>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0" y="5532120"/>
            <a:ext cx="4480560" cy="457200"/>
          </a:xfrm>
          <a:prstGeom prst="rect">
            <a:avLst/>
          </a:prstGeom>
          <a:noFill/>
        </p:spPr>
        <p:txBody>
          <a:bodyPr wrap="square" lIns="45720" rIns="45720" anchor="t">
            <a:spAutoFit/>
          </a:bodyPr>
          <a:lstStyle/>
          <a:p>
            <a:pPr algn="l">
              <a:spcAft>
                <a:spcPts val="1000"/>
              </a:spcAft>
            </a:pPr>
            <a:r>
              <a:rPr sz="1600" b="0">
                <a:solidFill>
                  <a:srgbClr val="1F2937"/>
                </a:solidFill>
                <a:latin typeface="Calibri"/>
              </a:rPr>
              <a:t>Outside: further than 500 m</a:t>
            </a:r>
          </a:p>
        </p:txBody>
      </p:sp>
      <p:sp>
        <p:nvSpPr>
          <p:cNvPr id="19" name="Rounded Rectangle 18"/>
          <p:cNvSpPr/>
          <p:nvPr/>
        </p:nvSpPr>
        <p:spPr>
          <a:xfrm>
            <a:off x="6766560" y="6035040"/>
            <a:ext cx="3291840" cy="411480"/>
          </a:xfrm>
          <a:prstGeom prst="round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libri"/>
              </a:rPr>
              <a:t>500 m is about a 6 minute walk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GIS is all around us</a:t>
            </a:r>
          </a:p>
        </p:txBody>
      </p:sp>
      <p:sp>
        <p:nvSpPr>
          <p:cNvPr id="3" name="Rounded Rectangle 2"/>
          <p:cNvSpPr/>
          <p:nvPr/>
        </p:nvSpPr>
        <p:spPr>
          <a:xfrm>
            <a:off x="548640" y="1371600"/>
            <a:ext cx="3566160" cy="1828800"/>
          </a:xfrm>
          <a:prstGeom prst="roundRect">
            <a:avLst>
              <a:gd name="adj" fmla="val 8000"/>
            </a:avLst>
          </a:prstGeom>
          <a:solidFill>
            <a:srgbClr val="E7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1554480"/>
            <a:ext cx="3108960" cy="365760"/>
          </a:xfrm>
          <a:prstGeom prst="rect">
            <a:avLst/>
          </a:prstGeom>
          <a:noFill/>
        </p:spPr>
        <p:txBody>
          <a:bodyPr wrap="square" lIns="45720" rIns="45720" anchor="t">
            <a:spAutoFit/>
          </a:bodyPr>
          <a:lstStyle/>
          <a:p>
            <a:pPr algn="l">
              <a:spcAft>
                <a:spcPts val="1000"/>
              </a:spcAft>
            </a:pPr>
            <a:r>
              <a:rPr sz="1400" b="1">
                <a:solidFill>
                  <a:srgbClr val="1F6FB2"/>
                </a:solidFill>
                <a:latin typeface="Calibri"/>
              </a:rPr>
              <a:t>HOME ADVERTS</a:t>
            </a:r>
          </a:p>
        </p:txBody>
      </p:sp>
      <p:sp>
        <p:nvSpPr>
          <p:cNvPr id="5" name="TextBox 4"/>
          <p:cNvSpPr txBox="1"/>
          <p:nvPr/>
        </p:nvSpPr>
        <p:spPr>
          <a:xfrm>
            <a:off x="777240" y="1920240"/>
            <a:ext cx="3108960" cy="1143000"/>
          </a:xfrm>
          <a:prstGeom prst="rect">
            <a:avLst/>
          </a:prstGeom>
          <a:noFill/>
        </p:spPr>
        <p:txBody>
          <a:bodyPr wrap="square" lIns="45720" rIns="45720" anchor="t">
            <a:spAutoFit/>
          </a:bodyPr>
          <a:lstStyle/>
          <a:p>
            <a:pPr algn="l">
              <a:spcAft>
                <a:spcPts val="1000"/>
              </a:spcAft>
            </a:pPr>
            <a:r>
              <a:rPr sz="1700" b="0">
                <a:solidFill>
                  <a:srgbClr val="1F2937"/>
                </a:solidFill>
                <a:latin typeface="Calibri"/>
              </a:rPr>
              <a:t>"Flat for sale, 500 m from the metro." That is a buffer around a station.</a:t>
            </a:r>
          </a:p>
        </p:txBody>
      </p:sp>
      <p:sp>
        <p:nvSpPr>
          <p:cNvPr id="6" name="Rounded Rectangle 5"/>
          <p:cNvSpPr/>
          <p:nvPr/>
        </p:nvSpPr>
        <p:spPr>
          <a:xfrm>
            <a:off x="4297679" y="1371600"/>
            <a:ext cx="3566160" cy="1828800"/>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26279" y="1554480"/>
            <a:ext cx="3108960" cy="365760"/>
          </a:xfrm>
          <a:prstGeom prst="rect">
            <a:avLst/>
          </a:prstGeom>
          <a:noFill/>
        </p:spPr>
        <p:txBody>
          <a:bodyPr wrap="square" lIns="45720" rIns="45720" anchor="t">
            <a:spAutoFit/>
          </a:bodyPr>
          <a:lstStyle/>
          <a:p>
            <a:pPr algn="l">
              <a:spcAft>
                <a:spcPts val="1000"/>
              </a:spcAft>
            </a:pPr>
            <a:r>
              <a:rPr sz="1400" b="1">
                <a:solidFill>
                  <a:srgbClr val="2E7D4F"/>
                </a:solidFill>
                <a:latin typeface="Calibri"/>
              </a:rPr>
              <a:t>CITY PLANNING</a:t>
            </a:r>
          </a:p>
        </p:txBody>
      </p:sp>
      <p:sp>
        <p:nvSpPr>
          <p:cNvPr id="8" name="TextBox 7"/>
          <p:cNvSpPr txBox="1"/>
          <p:nvPr/>
        </p:nvSpPr>
        <p:spPr>
          <a:xfrm>
            <a:off x="4526279" y="1920240"/>
            <a:ext cx="3108960" cy="1143000"/>
          </a:xfrm>
          <a:prstGeom prst="rect">
            <a:avLst/>
          </a:prstGeom>
          <a:noFill/>
        </p:spPr>
        <p:txBody>
          <a:bodyPr wrap="square" lIns="45720" rIns="45720" anchor="t">
            <a:spAutoFit/>
          </a:bodyPr>
          <a:lstStyle/>
          <a:p>
            <a:pPr algn="l">
              <a:spcAft>
                <a:spcPts val="1000"/>
              </a:spcAft>
            </a:pPr>
            <a:r>
              <a:rPr sz="1700" b="0">
                <a:solidFill>
                  <a:srgbClr val="1F2937"/>
                </a:solidFill>
                <a:latin typeface="Calibri"/>
              </a:rPr>
              <a:t>Bengaluru plans more homes and offices within 500 m of metro stations.</a:t>
            </a:r>
          </a:p>
        </p:txBody>
      </p:sp>
      <p:sp>
        <p:nvSpPr>
          <p:cNvPr id="9" name="Rounded Rectangle 8"/>
          <p:cNvSpPr/>
          <p:nvPr/>
        </p:nvSpPr>
        <p:spPr>
          <a:xfrm>
            <a:off x="8046719" y="1371600"/>
            <a:ext cx="3566160" cy="182880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75319" y="1554480"/>
            <a:ext cx="3108960" cy="365760"/>
          </a:xfrm>
          <a:prstGeom prst="rect">
            <a:avLst/>
          </a:prstGeom>
          <a:noFill/>
        </p:spPr>
        <p:txBody>
          <a:bodyPr wrap="square" lIns="45720" rIns="45720" anchor="t">
            <a:spAutoFit/>
          </a:bodyPr>
          <a:lstStyle/>
          <a:p>
            <a:pPr algn="l">
              <a:spcAft>
                <a:spcPts val="1000"/>
              </a:spcAft>
            </a:pPr>
            <a:r>
              <a:rPr sz="1400" b="1">
                <a:solidFill>
                  <a:srgbClr val="92400E"/>
                </a:solidFill>
                <a:latin typeface="Calibri"/>
              </a:rPr>
              <a:t>MONUMENTS</a:t>
            </a:r>
          </a:p>
        </p:txBody>
      </p:sp>
      <p:sp>
        <p:nvSpPr>
          <p:cNvPr id="11" name="TextBox 10"/>
          <p:cNvSpPr txBox="1"/>
          <p:nvPr/>
        </p:nvSpPr>
        <p:spPr>
          <a:xfrm>
            <a:off x="8275319" y="1920240"/>
            <a:ext cx="3108960" cy="1143000"/>
          </a:xfrm>
          <a:prstGeom prst="rect">
            <a:avLst/>
          </a:prstGeom>
          <a:noFill/>
        </p:spPr>
        <p:txBody>
          <a:bodyPr wrap="square" lIns="45720" rIns="45720" anchor="t">
            <a:spAutoFit/>
          </a:bodyPr>
          <a:lstStyle/>
          <a:p>
            <a:pPr algn="l">
              <a:spcAft>
                <a:spcPts val="1000"/>
              </a:spcAft>
            </a:pPr>
            <a:r>
              <a:rPr sz="1700" b="0">
                <a:solidFill>
                  <a:srgbClr val="1F2937"/>
                </a:solidFill>
                <a:latin typeface="Calibri"/>
              </a:rPr>
              <a:t>No new buildings within 100 m of a protected monument.</a:t>
            </a:r>
          </a:p>
        </p:txBody>
      </p:sp>
      <p:sp>
        <p:nvSpPr>
          <p:cNvPr id="12" name="Rounded Rectangle 11"/>
          <p:cNvSpPr/>
          <p:nvPr/>
        </p:nvSpPr>
        <p:spPr>
          <a:xfrm>
            <a:off x="548640" y="3383280"/>
            <a:ext cx="3566160" cy="1828800"/>
          </a:xfrm>
          <a:prstGeom prst="roundRect">
            <a:avLst>
              <a:gd name="adj" fmla="val 8000"/>
            </a:avLst>
          </a:prstGeom>
          <a:solidFill>
            <a:srgbClr val="E7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3566160"/>
            <a:ext cx="3108960" cy="365760"/>
          </a:xfrm>
          <a:prstGeom prst="rect">
            <a:avLst/>
          </a:prstGeom>
          <a:noFill/>
        </p:spPr>
        <p:txBody>
          <a:bodyPr wrap="square" lIns="45720" rIns="45720" anchor="t">
            <a:spAutoFit/>
          </a:bodyPr>
          <a:lstStyle/>
          <a:p>
            <a:pPr algn="l">
              <a:spcAft>
                <a:spcPts val="1000"/>
              </a:spcAft>
            </a:pPr>
            <a:r>
              <a:rPr sz="1400" b="1">
                <a:solidFill>
                  <a:srgbClr val="1F6FB2"/>
                </a:solidFill>
                <a:latin typeface="Calibri"/>
              </a:rPr>
              <a:t>SCHOOLS</a:t>
            </a:r>
          </a:p>
        </p:txBody>
      </p:sp>
      <p:sp>
        <p:nvSpPr>
          <p:cNvPr id="14" name="TextBox 13"/>
          <p:cNvSpPr txBox="1"/>
          <p:nvPr/>
        </p:nvSpPr>
        <p:spPr>
          <a:xfrm>
            <a:off x="777240" y="3931920"/>
            <a:ext cx="3108960" cy="1143000"/>
          </a:xfrm>
          <a:prstGeom prst="rect">
            <a:avLst/>
          </a:prstGeom>
          <a:noFill/>
        </p:spPr>
        <p:txBody>
          <a:bodyPr wrap="square" lIns="45720" rIns="45720" anchor="t">
            <a:spAutoFit/>
          </a:bodyPr>
          <a:lstStyle/>
          <a:p>
            <a:pPr algn="l">
              <a:spcAft>
                <a:spcPts val="1000"/>
              </a:spcAft>
            </a:pPr>
            <a:r>
              <a:rPr sz="1700" b="0">
                <a:solidFill>
                  <a:srgbClr val="1F2937"/>
                </a:solidFill>
                <a:latin typeface="Calibri"/>
              </a:rPr>
              <a:t>Young children should have a primary school within 1 km of home.</a:t>
            </a:r>
          </a:p>
        </p:txBody>
      </p:sp>
      <p:sp>
        <p:nvSpPr>
          <p:cNvPr id="15" name="Rounded Rectangle 14"/>
          <p:cNvSpPr/>
          <p:nvPr/>
        </p:nvSpPr>
        <p:spPr>
          <a:xfrm>
            <a:off x="4297679" y="3383280"/>
            <a:ext cx="3566160" cy="1828800"/>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26279" y="3566160"/>
            <a:ext cx="3108960" cy="365760"/>
          </a:xfrm>
          <a:prstGeom prst="rect">
            <a:avLst/>
          </a:prstGeom>
          <a:noFill/>
        </p:spPr>
        <p:txBody>
          <a:bodyPr wrap="square" lIns="45720" rIns="45720" anchor="t">
            <a:spAutoFit/>
          </a:bodyPr>
          <a:lstStyle/>
          <a:p>
            <a:pPr algn="l">
              <a:spcAft>
                <a:spcPts val="1000"/>
              </a:spcAft>
            </a:pPr>
            <a:r>
              <a:rPr sz="1400" b="1">
                <a:solidFill>
                  <a:srgbClr val="2E7D4F"/>
                </a:solidFill>
                <a:latin typeface="Calibri"/>
              </a:rPr>
              <a:t>FOOD DELIVERY</a:t>
            </a:r>
          </a:p>
        </p:txBody>
      </p:sp>
      <p:sp>
        <p:nvSpPr>
          <p:cNvPr id="17" name="TextBox 16"/>
          <p:cNvSpPr txBox="1"/>
          <p:nvPr/>
        </p:nvSpPr>
        <p:spPr>
          <a:xfrm>
            <a:off x="4526279" y="3931920"/>
            <a:ext cx="3108960" cy="1143000"/>
          </a:xfrm>
          <a:prstGeom prst="rect">
            <a:avLst/>
          </a:prstGeom>
          <a:noFill/>
        </p:spPr>
        <p:txBody>
          <a:bodyPr wrap="square" lIns="45720" rIns="45720" anchor="t">
            <a:spAutoFit/>
          </a:bodyPr>
          <a:lstStyle/>
          <a:p>
            <a:pPr algn="l">
              <a:spcAft>
                <a:spcPts val="1000"/>
              </a:spcAft>
            </a:pPr>
            <a:r>
              <a:rPr sz="1700" b="0">
                <a:solidFill>
                  <a:srgbClr val="1F2937"/>
                </a:solidFill>
                <a:latin typeface="Calibri"/>
              </a:rPr>
              <a:t>Apps only show restaurants close enough to deliver to you.</a:t>
            </a:r>
          </a:p>
        </p:txBody>
      </p:sp>
      <p:sp>
        <p:nvSpPr>
          <p:cNvPr id="18" name="Rounded Rectangle 17"/>
          <p:cNvSpPr/>
          <p:nvPr/>
        </p:nvSpPr>
        <p:spPr>
          <a:xfrm>
            <a:off x="8046719" y="3383280"/>
            <a:ext cx="3566160" cy="182880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75319" y="3566160"/>
            <a:ext cx="3108960" cy="365760"/>
          </a:xfrm>
          <a:prstGeom prst="rect">
            <a:avLst/>
          </a:prstGeom>
          <a:noFill/>
        </p:spPr>
        <p:txBody>
          <a:bodyPr wrap="square" lIns="45720" rIns="45720" anchor="t">
            <a:spAutoFit/>
          </a:bodyPr>
          <a:lstStyle/>
          <a:p>
            <a:pPr algn="l">
              <a:spcAft>
                <a:spcPts val="1000"/>
              </a:spcAft>
            </a:pPr>
            <a:r>
              <a:rPr sz="1400" b="1">
                <a:solidFill>
                  <a:srgbClr val="92400E"/>
                </a:solidFill>
                <a:latin typeface="Calibri"/>
              </a:rPr>
              <a:t>EMERGENCIES</a:t>
            </a:r>
          </a:p>
        </p:txBody>
      </p:sp>
      <p:sp>
        <p:nvSpPr>
          <p:cNvPr id="20" name="TextBox 19"/>
          <p:cNvSpPr txBox="1"/>
          <p:nvPr/>
        </p:nvSpPr>
        <p:spPr>
          <a:xfrm>
            <a:off x="8275319" y="3931920"/>
            <a:ext cx="3108960" cy="1143000"/>
          </a:xfrm>
          <a:prstGeom prst="rect">
            <a:avLst/>
          </a:prstGeom>
          <a:noFill/>
        </p:spPr>
        <p:txBody>
          <a:bodyPr wrap="square" lIns="45720" rIns="45720" anchor="t">
            <a:spAutoFit/>
          </a:bodyPr>
          <a:lstStyle/>
          <a:p>
            <a:pPr algn="l">
              <a:spcAft>
                <a:spcPts val="1000"/>
              </a:spcAft>
            </a:pPr>
            <a:r>
              <a:rPr sz="1700" b="0">
                <a:solidFill>
                  <a:srgbClr val="1F2937"/>
                </a:solidFill>
                <a:latin typeface="Calibri"/>
              </a:rPr>
              <a:t>An ambulance is sent from the nearest hospital.</a:t>
            </a:r>
          </a:p>
        </p:txBody>
      </p:sp>
      <p:sp>
        <p:nvSpPr>
          <p:cNvPr id="21" name="TextBox 20"/>
          <p:cNvSpPr txBox="1"/>
          <p:nvPr/>
        </p:nvSpPr>
        <p:spPr>
          <a:xfrm>
            <a:off x="548640" y="5486400"/>
            <a:ext cx="11064240" cy="822960"/>
          </a:xfrm>
          <a:prstGeom prst="rect">
            <a:avLst/>
          </a:prstGeom>
          <a:noFill/>
        </p:spPr>
        <p:txBody>
          <a:bodyPr wrap="square" lIns="45720" rIns="45720" anchor="t">
            <a:spAutoFit/>
          </a:bodyPr>
          <a:lstStyle/>
          <a:p>
            <a:pPr algn="ctr">
              <a:spcAft>
                <a:spcPts val="1000"/>
              </a:spcAft>
            </a:pPr>
            <a:r>
              <a:rPr sz="2200" b="1">
                <a:solidFill>
                  <a:srgbClr val="0F2340"/>
                </a:solidFill>
                <a:latin typeface="Calibri"/>
              </a:rPr>
              <a:t>Next time you see a distance in an advert or an app, think: that's GIS!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Your map checklist</a:t>
            </a:r>
          </a:p>
        </p:txBody>
      </p:sp>
      <p:sp>
        <p:nvSpPr>
          <p:cNvPr id="3" name="Oval 2"/>
          <p:cNvSpPr/>
          <p:nvPr/>
        </p:nvSpPr>
        <p:spPr>
          <a:xfrm>
            <a:off x="649224" y="1609344"/>
            <a:ext cx="438912" cy="438912"/>
          </a:xfrm>
          <a:prstGeom prst="ellipse">
            <a:avLst/>
          </a:prstGeom>
          <a:solidFill>
            <a:srgbClr val="2E7D4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1</a:t>
            </a:r>
          </a:p>
        </p:txBody>
      </p:sp>
      <p:sp>
        <p:nvSpPr>
          <p:cNvPr id="4" name="TextBox 3"/>
          <p:cNvSpPr txBox="1"/>
          <p:nvPr/>
        </p:nvSpPr>
        <p:spPr>
          <a:xfrm>
            <a:off x="1325880" y="1554480"/>
            <a:ext cx="5486400" cy="548640"/>
          </a:xfrm>
          <a:prstGeom prst="rect">
            <a:avLst/>
          </a:prstGeom>
          <a:noFill/>
        </p:spPr>
        <p:txBody>
          <a:bodyPr wrap="square" lIns="45720" rIns="45720" anchor="t">
            <a:spAutoFit/>
          </a:bodyPr>
          <a:lstStyle/>
          <a:p>
            <a:pPr algn="l">
              <a:spcAft>
                <a:spcPts val="1000"/>
              </a:spcAft>
            </a:pPr>
            <a:r>
              <a:rPr sz="2200" b="0">
                <a:solidFill>
                  <a:srgbClr val="1F2937"/>
                </a:solidFill>
                <a:latin typeface="Calibri"/>
              </a:rPr>
              <a:t>Title: what is the map about?</a:t>
            </a:r>
          </a:p>
        </p:txBody>
      </p:sp>
      <p:sp>
        <p:nvSpPr>
          <p:cNvPr id="5" name="Oval 4"/>
          <p:cNvSpPr/>
          <p:nvPr/>
        </p:nvSpPr>
        <p:spPr>
          <a:xfrm>
            <a:off x="649224" y="2523744"/>
            <a:ext cx="438912" cy="438912"/>
          </a:xfrm>
          <a:prstGeom prst="ellipse">
            <a:avLst/>
          </a:prstGeom>
          <a:solidFill>
            <a:srgbClr val="2E7D4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2</a:t>
            </a:r>
          </a:p>
        </p:txBody>
      </p:sp>
      <p:sp>
        <p:nvSpPr>
          <p:cNvPr id="6" name="TextBox 5"/>
          <p:cNvSpPr txBox="1"/>
          <p:nvPr/>
        </p:nvSpPr>
        <p:spPr>
          <a:xfrm>
            <a:off x="1325880" y="2468880"/>
            <a:ext cx="5486400" cy="548640"/>
          </a:xfrm>
          <a:prstGeom prst="rect">
            <a:avLst/>
          </a:prstGeom>
          <a:noFill/>
        </p:spPr>
        <p:txBody>
          <a:bodyPr wrap="square" lIns="45720" rIns="45720" anchor="t">
            <a:spAutoFit/>
          </a:bodyPr>
          <a:lstStyle/>
          <a:p>
            <a:pPr algn="l">
              <a:spcAft>
                <a:spcPts val="1000"/>
              </a:spcAft>
            </a:pPr>
            <a:r>
              <a:rPr sz="2200" b="0">
                <a:solidFill>
                  <a:srgbClr val="1F2937"/>
                </a:solidFill>
                <a:latin typeface="Calibri"/>
              </a:rPr>
              <a:t>North arrow: which way is north?</a:t>
            </a:r>
          </a:p>
        </p:txBody>
      </p:sp>
      <p:sp>
        <p:nvSpPr>
          <p:cNvPr id="7" name="Oval 6"/>
          <p:cNvSpPr/>
          <p:nvPr/>
        </p:nvSpPr>
        <p:spPr>
          <a:xfrm>
            <a:off x="649224" y="3438144"/>
            <a:ext cx="438912" cy="438912"/>
          </a:xfrm>
          <a:prstGeom prst="ellipse">
            <a:avLst/>
          </a:prstGeom>
          <a:solidFill>
            <a:srgbClr val="2E7D4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3</a:t>
            </a:r>
          </a:p>
        </p:txBody>
      </p:sp>
      <p:sp>
        <p:nvSpPr>
          <p:cNvPr id="8" name="TextBox 7"/>
          <p:cNvSpPr txBox="1"/>
          <p:nvPr/>
        </p:nvSpPr>
        <p:spPr>
          <a:xfrm>
            <a:off x="1325880" y="3383280"/>
            <a:ext cx="5486400" cy="548640"/>
          </a:xfrm>
          <a:prstGeom prst="rect">
            <a:avLst/>
          </a:prstGeom>
          <a:noFill/>
        </p:spPr>
        <p:txBody>
          <a:bodyPr wrap="square" lIns="45720" rIns="45720" anchor="t">
            <a:spAutoFit/>
          </a:bodyPr>
          <a:lstStyle/>
          <a:p>
            <a:pPr algn="l">
              <a:spcAft>
                <a:spcPts val="1000"/>
              </a:spcAft>
            </a:pPr>
            <a:r>
              <a:rPr sz="2200" b="0">
                <a:solidFill>
                  <a:srgbClr val="1F2937"/>
                </a:solidFill>
                <a:latin typeface="Calibri"/>
              </a:rPr>
              <a:t>Scale bar: how far is it really?</a:t>
            </a:r>
          </a:p>
        </p:txBody>
      </p:sp>
      <p:sp>
        <p:nvSpPr>
          <p:cNvPr id="9" name="Oval 8"/>
          <p:cNvSpPr/>
          <p:nvPr/>
        </p:nvSpPr>
        <p:spPr>
          <a:xfrm>
            <a:off x="649224" y="4352544"/>
            <a:ext cx="438912" cy="438912"/>
          </a:xfrm>
          <a:prstGeom prst="ellipse">
            <a:avLst/>
          </a:prstGeom>
          <a:solidFill>
            <a:srgbClr val="E8A31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4</a:t>
            </a:r>
          </a:p>
        </p:txBody>
      </p:sp>
      <p:sp>
        <p:nvSpPr>
          <p:cNvPr id="10" name="TextBox 9"/>
          <p:cNvSpPr txBox="1"/>
          <p:nvPr/>
        </p:nvSpPr>
        <p:spPr>
          <a:xfrm>
            <a:off x="1325880" y="4297680"/>
            <a:ext cx="5486400" cy="548640"/>
          </a:xfrm>
          <a:prstGeom prst="rect">
            <a:avLst/>
          </a:prstGeom>
          <a:noFill/>
        </p:spPr>
        <p:txBody>
          <a:bodyPr wrap="square" lIns="45720" rIns="45720" anchor="t">
            <a:spAutoFit/>
          </a:bodyPr>
          <a:lstStyle/>
          <a:p>
            <a:pPr algn="l">
              <a:spcAft>
                <a:spcPts val="1000"/>
              </a:spcAft>
            </a:pPr>
            <a:r>
              <a:rPr sz="2200" b="1">
                <a:solidFill>
                  <a:srgbClr val="1F2937"/>
                </a:solidFill>
                <a:latin typeface="Calibri"/>
              </a:rPr>
              <a:t>Legend: what do the colours mean?</a:t>
            </a:r>
          </a:p>
        </p:txBody>
      </p:sp>
      <p:sp>
        <p:nvSpPr>
          <p:cNvPr id="11" name="TextBox 10"/>
          <p:cNvSpPr txBox="1"/>
          <p:nvPr/>
        </p:nvSpPr>
        <p:spPr>
          <a:xfrm>
            <a:off x="548640" y="5349240"/>
            <a:ext cx="6217920" cy="731520"/>
          </a:xfrm>
          <a:prstGeom prst="rect">
            <a:avLst/>
          </a:prstGeom>
          <a:noFill/>
        </p:spPr>
        <p:txBody>
          <a:bodyPr wrap="square" lIns="45720" rIns="45720" anchor="t">
            <a:spAutoFit/>
          </a:bodyPr>
          <a:lstStyle/>
          <a:p>
            <a:pPr algn="l">
              <a:spcAft>
                <a:spcPts val="1000"/>
              </a:spcAft>
            </a:pPr>
            <a:r>
              <a:rPr sz="1800" b="0">
                <a:solidFill>
                  <a:srgbClr val="6B7280"/>
                </a:solidFill>
                <a:latin typeface="Calibri"/>
              </a:rPr>
              <a:t>You added 1 to 3 in Exercise 1. The legend is new.</a:t>
            </a:r>
          </a:p>
        </p:txBody>
      </p:sp>
      <p:sp>
        <p:nvSpPr>
          <p:cNvPr id="12" name="Rectangle 11"/>
          <p:cNvSpPr/>
          <p:nvPr/>
        </p:nvSpPr>
        <p:spPr>
          <a:xfrm>
            <a:off x="7589520" y="1554480"/>
            <a:ext cx="3657600" cy="3566160"/>
          </a:xfrm>
          <a:prstGeom prst="rect">
            <a:avLst/>
          </a:prstGeom>
          <a:solidFill>
            <a:srgbClr val="FFFFFF"/>
          </a:solidFill>
          <a:ln w="19050">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18120" y="1691640"/>
            <a:ext cx="3200400" cy="457200"/>
          </a:xfrm>
          <a:prstGeom prst="rect">
            <a:avLst/>
          </a:prstGeom>
          <a:noFill/>
        </p:spPr>
        <p:txBody>
          <a:bodyPr wrap="square" lIns="45720" rIns="45720" anchor="t">
            <a:spAutoFit/>
          </a:bodyPr>
          <a:lstStyle/>
          <a:p>
            <a:pPr algn="l">
              <a:spcAft>
                <a:spcPts val="1000"/>
              </a:spcAft>
            </a:pPr>
            <a:r>
              <a:rPr sz="2200" b="1">
                <a:solidFill>
                  <a:srgbClr val="1F2937"/>
                </a:solidFill>
                <a:latin typeface="Calibri"/>
              </a:rPr>
              <a:t>Legend</a:t>
            </a:r>
          </a:p>
        </p:txBody>
      </p:sp>
      <p:sp>
        <p:nvSpPr>
          <p:cNvPr id="14" name="Oval 13"/>
          <p:cNvSpPr/>
          <p:nvPr/>
        </p:nvSpPr>
        <p:spPr>
          <a:xfrm>
            <a:off x="7909560" y="2423160"/>
            <a:ext cx="365760" cy="365760"/>
          </a:xfrm>
          <a:prstGeom prst="ellipse">
            <a:avLst/>
          </a:prstGeom>
          <a:solidFill>
            <a:srgbClr val="D948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0" y="2377440"/>
            <a:ext cx="2560320" cy="457200"/>
          </a:xfrm>
          <a:prstGeom prst="rect">
            <a:avLst/>
          </a:prstGeom>
          <a:noFill/>
        </p:spPr>
        <p:txBody>
          <a:bodyPr wrap="square" lIns="45720" rIns="45720" anchor="t">
            <a:spAutoFit/>
          </a:bodyPr>
          <a:lstStyle/>
          <a:p>
            <a:pPr algn="l">
              <a:spcAft>
                <a:spcPts val="1000"/>
              </a:spcAft>
            </a:pPr>
            <a:r>
              <a:rPr sz="2000" b="0">
                <a:solidFill>
                  <a:srgbClr val="1F2937"/>
                </a:solidFill>
                <a:latin typeface="Calibri"/>
              </a:rPr>
              <a:t>Monument</a:t>
            </a:r>
          </a:p>
        </p:txBody>
      </p:sp>
      <p:sp>
        <p:nvSpPr>
          <p:cNvPr id="16" name="Oval 15"/>
          <p:cNvSpPr/>
          <p:nvPr/>
        </p:nvSpPr>
        <p:spPr>
          <a:xfrm>
            <a:off x="7909560" y="3063239"/>
            <a:ext cx="365760" cy="365760"/>
          </a:xfrm>
          <a:prstGeom prst="ellipse">
            <a:avLst/>
          </a:prstGeom>
          <a:solidFill>
            <a:srgbClr val="E8A31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03920" y="3017520"/>
            <a:ext cx="2560320" cy="457200"/>
          </a:xfrm>
          <a:prstGeom prst="rect">
            <a:avLst/>
          </a:prstGeom>
          <a:noFill/>
        </p:spPr>
        <p:txBody>
          <a:bodyPr wrap="square" lIns="45720" rIns="45720" anchor="t">
            <a:spAutoFit/>
          </a:bodyPr>
          <a:lstStyle/>
          <a:p>
            <a:pPr algn="l">
              <a:spcAft>
                <a:spcPts val="1000"/>
              </a:spcAft>
            </a:pPr>
            <a:r>
              <a:rPr sz="2000" b="0">
                <a:solidFill>
                  <a:srgbClr val="1F2937"/>
                </a:solidFill>
                <a:latin typeface="Calibri"/>
              </a:rPr>
              <a:t>Palace</a:t>
            </a:r>
          </a:p>
        </p:txBody>
      </p:sp>
      <p:sp>
        <p:nvSpPr>
          <p:cNvPr id="18" name="Oval 17"/>
          <p:cNvSpPr/>
          <p:nvPr/>
        </p:nvSpPr>
        <p:spPr>
          <a:xfrm>
            <a:off x="7909560" y="3703320"/>
            <a:ext cx="365760" cy="365760"/>
          </a:xfrm>
          <a:prstGeom prst="ellipse">
            <a:avLst/>
          </a:prstGeom>
          <a:solidFill>
            <a:srgbClr val="1F6FB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03920" y="3657600"/>
            <a:ext cx="2560320" cy="457200"/>
          </a:xfrm>
          <a:prstGeom prst="rect">
            <a:avLst/>
          </a:prstGeom>
          <a:noFill/>
        </p:spPr>
        <p:txBody>
          <a:bodyPr wrap="square" lIns="45720" rIns="45720" anchor="t">
            <a:spAutoFit/>
          </a:bodyPr>
          <a:lstStyle/>
          <a:p>
            <a:pPr algn="l">
              <a:spcAft>
                <a:spcPts val="1000"/>
              </a:spcAft>
            </a:pPr>
            <a:r>
              <a:rPr sz="2000" b="0">
                <a:solidFill>
                  <a:srgbClr val="1F2937"/>
                </a:solidFill>
                <a:latin typeface="Calibri"/>
              </a:rPr>
              <a:t>Temple</a:t>
            </a:r>
          </a:p>
        </p:txBody>
      </p:sp>
      <p:sp>
        <p:nvSpPr>
          <p:cNvPr id="20" name="Oval 19"/>
          <p:cNvSpPr/>
          <p:nvPr/>
        </p:nvSpPr>
        <p:spPr>
          <a:xfrm>
            <a:off x="7909560" y="4343400"/>
            <a:ext cx="365760" cy="365760"/>
          </a:xfrm>
          <a:prstGeom prst="ellipse">
            <a:avLst/>
          </a:prstGeom>
          <a:solidFill>
            <a:srgbClr val="2E7D4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03920" y="4297680"/>
            <a:ext cx="2560320" cy="457200"/>
          </a:xfrm>
          <a:prstGeom prst="rect">
            <a:avLst/>
          </a:prstGeom>
          <a:noFill/>
        </p:spPr>
        <p:txBody>
          <a:bodyPr wrap="square" lIns="45720" rIns="45720" anchor="t">
            <a:spAutoFit/>
          </a:bodyPr>
          <a:lstStyle/>
          <a:p>
            <a:pPr algn="l">
              <a:spcAft>
                <a:spcPts val="1000"/>
              </a:spcAft>
            </a:pPr>
            <a:r>
              <a:rPr sz="2000" b="0">
                <a:solidFill>
                  <a:srgbClr val="1F2937"/>
                </a:solidFill>
                <a:latin typeface="Calibri"/>
              </a:rPr>
              <a:t>Nature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2340"/>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FFFFFF"/>
                </a:solidFill>
                <a:latin typeface="Calibri"/>
              </a:rPr>
              <a:t>Quick quiz</a:t>
            </a:r>
          </a:p>
        </p:txBody>
      </p:sp>
      <p:sp>
        <p:nvSpPr>
          <p:cNvPr id="3" name="Oval 2"/>
          <p:cNvSpPr/>
          <p:nvPr/>
        </p:nvSpPr>
        <p:spPr>
          <a:xfrm>
            <a:off x="640080" y="1399032"/>
            <a:ext cx="457200" cy="457200"/>
          </a:xfrm>
          <a:prstGeom prst="ellipse">
            <a:avLst/>
          </a:prstGeom>
          <a:solidFill>
            <a:srgbClr val="E8A317"/>
          </a:solidFill>
          <a:ln w="25400">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389888"/>
            <a:ext cx="457200" cy="457200"/>
          </a:xfrm>
          <a:prstGeom prst="rect">
            <a:avLst/>
          </a:prstGeom>
          <a:noFill/>
        </p:spPr>
        <p:txBody>
          <a:bodyPr wrap="square" lIns="45720" rIns="45720" anchor="t">
            <a:spAutoFit/>
          </a:bodyPr>
          <a:lstStyle/>
          <a:p>
            <a:pPr algn="ctr">
              <a:spcAft>
                <a:spcPts val="1000"/>
              </a:spcAft>
            </a:pPr>
            <a:r>
              <a:rPr sz="2000" b="1">
                <a:solidFill>
                  <a:srgbClr val="0F2340"/>
                </a:solidFill>
                <a:latin typeface="Calibri"/>
              </a:rPr>
              <a:t>1</a:t>
            </a:r>
          </a:p>
        </p:txBody>
      </p:sp>
      <p:sp>
        <p:nvSpPr>
          <p:cNvPr id="5" name="TextBox 4"/>
          <p:cNvSpPr txBox="1"/>
          <p:nvPr/>
        </p:nvSpPr>
        <p:spPr>
          <a:xfrm>
            <a:off x="1325880" y="1371600"/>
            <a:ext cx="6400800" cy="822960"/>
          </a:xfrm>
          <a:prstGeom prst="rect">
            <a:avLst/>
          </a:prstGeom>
          <a:noFill/>
        </p:spPr>
        <p:txBody>
          <a:bodyPr wrap="square" lIns="45720" rIns="45720" anchor="t">
            <a:spAutoFit/>
          </a:bodyPr>
          <a:lstStyle/>
          <a:p>
            <a:pPr algn="l">
              <a:spcAft>
                <a:spcPts val="1000"/>
              </a:spcAft>
            </a:pPr>
            <a:r>
              <a:rPr sz="2000" b="0">
                <a:solidFill>
                  <a:srgbClr val="FFFFFF"/>
                </a:solidFill>
                <a:latin typeface="Calibri"/>
              </a:rPr>
              <a:t>Which tells you how far north or south: latitude or longitude?</a:t>
            </a:r>
          </a:p>
        </p:txBody>
      </p:sp>
      <p:sp>
        <p:nvSpPr>
          <p:cNvPr id="6" name="Oval 5"/>
          <p:cNvSpPr/>
          <p:nvPr/>
        </p:nvSpPr>
        <p:spPr>
          <a:xfrm>
            <a:off x="640080" y="2267712"/>
            <a:ext cx="457200" cy="457200"/>
          </a:xfrm>
          <a:prstGeom prst="ellipse">
            <a:avLst/>
          </a:prstGeom>
          <a:solidFill>
            <a:srgbClr val="E8A317"/>
          </a:solidFill>
          <a:ln w="25400">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258568"/>
            <a:ext cx="457200" cy="457200"/>
          </a:xfrm>
          <a:prstGeom prst="rect">
            <a:avLst/>
          </a:prstGeom>
          <a:noFill/>
        </p:spPr>
        <p:txBody>
          <a:bodyPr wrap="square" lIns="45720" rIns="45720" anchor="t">
            <a:spAutoFit/>
          </a:bodyPr>
          <a:lstStyle/>
          <a:p>
            <a:pPr algn="ctr">
              <a:spcAft>
                <a:spcPts val="1000"/>
              </a:spcAft>
            </a:pPr>
            <a:r>
              <a:rPr sz="2000" b="1">
                <a:solidFill>
                  <a:srgbClr val="0F2340"/>
                </a:solidFill>
                <a:latin typeface="Calibri"/>
              </a:rPr>
              <a:t>2</a:t>
            </a:r>
          </a:p>
        </p:txBody>
      </p:sp>
      <p:sp>
        <p:nvSpPr>
          <p:cNvPr id="8" name="TextBox 7"/>
          <p:cNvSpPr txBox="1"/>
          <p:nvPr/>
        </p:nvSpPr>
        <p:spPr>
          <a:xfrm>
            <a:off x="1325880" y="2240280"/>
            <a:ext cx="6400800" cy="822960"/>
          </a:xfrm>
          <a:prstGeom prst="rect">
            <a:avLst/>
          </a:prstGeom>
          <a:noFill/>
        </p:spPr>
        <p:txBody>
          <a:bodyPr wrap="square" lIns="45720" rIns="45720" anchor="t">
            <a:spAutoFit/>
          </a:bodyPr>
          <a:lstStyle/>
          <a:p>
            <a:pPr algn="l">
              <a:spcAft>
                <a:spcPts val="1000"/>
              </a:spcAft>
            </a:pPr>
            <a:r>
              <a:rPr sz="2000" b="0">
                <a:solidFill>
                  <a:srgbClr val="FFFFFF"/>
                </a:solidFill>
                <a:latin typeface="Calibri"/>
              </a:rPr>
              <a:t>Is India north or south of the equator?</a:t>
            </a:r>
          </a:p>
        </p:txBody>
      </p:sp>
      <p:sp>
        <p:nvSpPr>
          <p:cNvPr id="9" name="Oval 8"/>
          <p:cNvSpPr/>
          <p:nvPr/>
        </p:nvSpPr>
        <p:spPr>
          <a:xfrm>
            <a:off x="640080" y="3136392"/>
            <a:ext cx="457200" cy="457200"/>
          </a:xfrm>
          <a:prstGeom prst="ellipse">
            <a:avLst/>
          </a:prstGeom>
          <a:solidFill>
            <a:srgbClr val="E8A317"/>
          </a:solidFill>
          <a:ln w="25400">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127248"/>
            <a:ext cx="457200" cy="457200"/>
          </a:xfrm>
          <a:prstGeom prst="rect">
            <a:avLst/>
          </a:prstGeom>
          <a:noFill/>
        </p:spPr>
        <p:txBody>
          <a:bodyPr wrap="square" lIns="45720" rIns="45720" anchor="t">
            <a:spAutoFit/>
          </a:bodyPr>
          <a:lstStyle/>
          <a:p>
            <a:pPr algn="ctr">
              <a:spcAft>
                <a:spcPts val="1000"/>
              </a:spcAft>
            </a:pPr>
            <a:r>
              <a:rPr sz="2000" b="1">
                <a:solidFill>
                  <a:srgbClr val="0F2340"/>
                </a:solidFill>
                <a:latin typeface="Calibri"/>
              </a:rPr>
              <a:t>3</a:t>
            </a:r>
          </a:p>
        </p:txBody>
      </p:sp>
      <p:sp>
        <p:nvSpPr>
          <p:cNvPr id="11" name="TextBox 10"/>
          <p:cNvSpPr txBox="1"/>
          <p:nvPr/>
        </p:nvSpPr>
        <p:spPr>
          <a:xfrm>
            <a:off x="1325880" y="3108960"/>
            <a:ext cx="6400800" cy="822960"/>
          </a:xfrm>
          <a:prstGeom prst="rect">
            <a:avLst/>
          </a:prstGeom>
          <a:noFill/>
        </p:spPr>
        <p:txBody>
          <a:bodyPr wrap="square" lIns="45720" rIns="45720" anchor="t">
            <a:spAutoFit/>
          </a:bodyPr>
          <a:lstStyle/>
          <a:p>
            <a:pPr algn="l">
              <a:spcAft>
                <a:spcPts val="1000"/>
              </a:spcAft>
            </a:pPr>
            <a:r>
              <a:rPr sz="2000" b="0">
                <a:solidFill>
                  <a:srgbClr val="FFFFFF"/>
                </a:solidFill>
                <a:latin typeface="Calibri"/>
              </a:rPr>
              <a:t>What does CSV stand for?</a:t>
            </a:r>
          </a:p>
        </p:txBody>
      </p:sp>
      <p:sp>
        <p:nvSpPr>
          <p:cNvPr id="12" name="Oval 11"/>
          <p:cNvSpPr/>
          <p:nvPr/>
        </p:nvSpPr>
        <p:spPr>
          <a:xfrm>
            <a:off x="640080" y="4005072"/>
            <a:ext cx="457200" cy="457200"/>
          </a:xfrm>
          <a:prstGeom prst="ellipse">
            <a:avLst/>
          </a:prstGeom>
          <a:solidFill>
            <a:srgbClr val="E8A317"/>
          </a:solidFill>
          <a:ln w="25400">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995928"/>
            <a:ext cx="457200" cy="457200"/>
          </a:xfrm>
          <a:prstGeom prst="rect">
            <a:avLst/>
          </a:prstGeom>
          <a:noFill/>
        </p:spPr>
        <p:txBody>
          <a:bodyPr wrap="square" lIns="45720" rIns="45720" anchor="t">
            <a:spAutoFit/>
          </a:bodyPr>
          <a:lstStyle/>
          <a:p>
            <a:pPr algn="ctr">
              <a:spcAft>
                <a:spcPts val="1000"/>
              </a:spcAft>
            </a:pPr>
            <a:r>
              <a:rPr sz="2000" b="1">
                <a:solidFill>
                  <a:srgbClr val="0F2340"/>
                </a:solidFill>
                <a:latin typeface="Calibri"/>
              </a:rPr>
              <a:t>4</a:t>
            </a:r>
          </a:p>
        </p:txBody>
      </p:sp>
      <p:sp>
        <p:nvSpPr>
          <p:cNvPr id="14" name="TextBox 13"/>
          <p:cNvSpPr txBox="1"/>
          <p:nvPr/>
        </p:nvSpPr>
        <p:spPr>
          <a:xfrm>
            <a:off x="1325880" y="3977640"/>
            <a:ext cx="6400800" cy="822960"/>
          </a:xfrm>
          <a:prstGeom prst="rect">
            <a:avLst/>
          </a:prstGeom>
          <a:noFill/>
        </p:spPr>
        <p:txBody>
          <a:bodyPr wrap="square" lIns="45720" rIns="45720" anchor="t">
            <a:spAutoFit/>
          </a:bodyPr>
          <a:lstStyle/>
          <a:p>
            <a:pPr algn="l">
              <a:spcAft>
                <a:spcPts val="1000"/>
              </a:spcAft>
            </a:pPr>
            <a:r>
              <a:rPr sz="2000" b="0">
                <a:solidFill>
                  <a:srgbClr val="FFFFFF"/>
                </a:solidFill>
                <a:latin typeface="Calibri"/>
              </a:rPr>
              <a:t>Why is a road trip longer than the straight-line distance?</a:t>
            </a:r>
          </a:p>
        </p:txBody>
      </p:sp>
      <p:sp>
        <p:nvSpPr>
          <p:cNvPr id="15" name="Oval 14"/>
          <p:cNvSpPr/>
          <p:nvPr/>
        </p:nvSpPr>
        <p:spPr>
          <a:xfrm>
            <a:off x="640080" y="4873752"/>
            <a:ext cx="457200" cy="457200"/>
          </a:xfrm>
          <a:prstGeom prst="ellipse">
            <a:avLst/>
          </a:prstGeom>
          <a:solidFill>
            <a:srgbClr val="E8A317"/>
          </a:solidFill>
          <a:ln w="25400">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864608"/>
            <a:ext cx="457200" cy="457200"/>
          </a:xfrm>
          <a:prstGeom prst="rect">
            <a:avLst/>
          </a:prstGeom>
          <a:noFill/>
        </p:spPr>
        <p:txBody>
          <a:bodyPr wrap="square" lIns="45720" rIns="45720" anchor="t">
            <a:spAutoFit/>
          </a:bodyPr>
          <a:lstStyle/>
          <a:p>
            <a:pPr algn="ctr">
              <a:spcAft>
                <a:spcPts val="1000"/>
              </a:spcAft>
            </a:pPr>
            <a:r>
              <a:rPr sz="2000" b="1">
                <a:solidFill>
                  <a:srgbClr val="0F2340"/>
                </a:solidFill>
                <a:latin typeface="Calibri"/>
              </a:rPr>
              <a:t>5</a:t>
            </a:r>
          </a:p>
        </p:txBody>
      </p:sp>
      <p:sp>
        <p:nvSpPr>
          <p:cNvPr id="17" name="TextBox 16"/>
          <p:cNvSpPr txBox="1"/>
          <p:nvPr/>
        </p:nvSpPr>
        <p:spPr>
          <a:xfrm>
            <a:off x="1325880" y="4846320"/>
            <a:ext cx="6400800" cy="822960"/>
          </a:xfrm>
          <a:prstGeom prst="rect">
            <a:avLst/>
          </a:prstGeom>
          <a:noFill/>
        </p:spPr>
        <p:txBody>
          <a:bodyPr wrap="square" lIns="45720" rIns="45720" anchor="t">
            <a:spAutoFit/>
          </a:bodyPr>
          <a:lstStyle/>
          <a:p>
            <a:pPr algn="l">
              <a:spcAft>
                <a:spcPts val="1000"/>
              </a:spcAft>
            </a:pPr>
            <a:r>
              <a:rPr sz="2000" b="0">
                <a:solidFill>
                  <a:srgbClr val="FFFFFF"/>
                </a:solidFill>
                <a:latin typeface="Calibri"/>
              </a:rPr>
              <a:t>What does "500 m from the metro" mean?</a:t>
            </a:r>
          </a:p>
        </p:txBody>
      </p:sp>
      <p:sp>
        <p:nvSpPr>
          <p:cNvPr id="18" name="Rounded Rectangle 17"/>
          <p:cNvSpPr/>
          <p:nvPr/>
        </p:nvSpPr>
        <p:spPr>
          <a:xfrm>
            <a:off x="8046720" y="1463040"/>
            <a:ext cx="3566160" cy="356616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21040" y="1691640"/>
            <a:ext cx="3017520" cy="457200"/>
          </a:xfrm>
          <a:prstGeom prst="rect">
            <a:avLst/>
          </a:prstGeom>
          <a:noFill/>
        </p:spPr>
        <p:txBody>
          <a:bodyPr wrap="square" lIns="45720" rIns="45720" anchor="t">
            <a:spAutoFit/>
          </a:bodyPr>
          <a:lstStyle/>
          <a:p>
            <a:pPr algn="l">
              <a:spcAft>
                <a:spcPts val="1000"/>
              </a:spcAft>
            </a:pPr>
            <a:r>
              <a:rPr sz="1400" b="1">
                <a:solidFill>
                  <a:srgbClr val="FEF3C7"/>
                </a:solidFill>
                <a:latin typeface="Calibri"/>
              </a:rPr>
              <a:t>NEXT UP</a:t>
            </a:r>
          </a:p>
        </p:txBody>
      </p:sp>
      <p:sp>
        <p:nvSpPr>
          <p:cNvPr id="20" name="TextBox 19"/>
          <p:cNvSpPr txBox="1"/>
          <p:nvPr/>
        </p:nvSpPr>
        <p:spPr>
          <a:xfrm>
            <a:off x="8321040" y="2148840"/>
            <a:ext cx="3017520" cy="1463040"/>
          </a:xfrm>
          <a:prstGeom prst="rect">
            <a:avLst/>
          </a:prstGeom>
          <a:noFill/>
        </p:spPr>
        <p:txBody>
          <a:bodyPr wrap="square" lIns="45720" rIns="45720" anchor="t">
            <a:spAutoFit/>
          </a:bodyPr>
          <a:lstStyle/>
          <a:p>
            <a:pPr algn="l">
              <a:spcAft>
                <a:spcPts val="1000"/>
              </a:spcAft>
            </a:pPr>
            <a:r>
              <a:rPr sz="2800" b="1">
                <a:solidFill>
                  <a:srgbClr val="FFFFFF"/>
                </a:solidFill>
                <a:latin typeface="Calibri"/>
              </a:rPr>
              <a:t>Exercise 2: Famous Places of India</a:t>
            </a:r>
          </a:p>
        </p:txBody>
      </p:sp>
      <p:sp>
        <p:nvSpPr>
          <p:cNvPr id="21" name="TextBox 20"/>
          <p:cNvSpPr txBox="1"/>
          <p:nvPr/>
        </p:nvSpPr>
        <p:spPr>
          <a:xfrm>
            <a:off x="8321040" y="3657600"/>
            <a:ext cx="3017520" cy="1280160"/>
          </a:xfrm>
          <a:prstGeom prst="rect">
            <a:avLst/>
          </a:prstGeom>
          <a:noFill/>
        </p:spPr>
        <p:txBody>
          <a:bodyPr wrap="square" lIns="45720" rIns="45720" anchor="t">
            <a:spAutoFit/>
          </a:bodyPr>
          <a:lstStyle/>
          <a:p>
            <a:pPr algn="l">
              <a:spcAft>
                <a:spcPts val="1000"/>
              </a:spcAft>
            </a:pPr>
            <a:r>
              <a:rPr sz="1800" b="0">
                <a:solidFill>
                  <a:srgbClr val="FFFFFF"/>
                </a:solidFill>
                <a:latin typeface="Calibri"/>
              </a:rPr>
              <a:t>Turn a table of 16 places into your own map.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2138</Words>
  <Application>Microsoft Office PowerPoint</Application>
  <PresentationFormat>Widescreen</PresentationFormat>
  <Paragraphs>219</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neelkanth kumar</cp:lastModifiedBy>
  <cp:revision>1</cp:revision>
  <dcterms:created xsi:type="dcterms:W3CDTF">2013-01-27T09:14:16Z</dcterms:created>
  <dcterms:modified xsi:type="dcterms:W3CDTF">2026-10-03T11:24:12Z</dcterms:modified>
  <cp:category/>
</cp:coreProperties>
</file>