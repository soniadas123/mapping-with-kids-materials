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73" r:id="rId12"/>
    <p:sldId id="266" r:id="rId13"/>
    <p:sldId id="267" r:id="rId14"/>
    <p:sldId id="268" r:id="rId15"/>
    <p:sldId id="269" r:id="rId16"/>
    <p:sldId id="270" r:id="rId17"/>
    <p:sldId id="271" r:id="rId18"/>
    <p:sldId id="27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847" autoAdjust="0"/>
  </p:normalViewPr>
  <p:slideViewPr>
    <p:cSldViewPr snapToGrid="0" snapToObjects="1">
      <p:cViewPr varScale="1">
        <p:scale>
          <a:sx n="61" d="100"/>
          <a:sy n="61" d="100"/>
        </p:scale>
        <p:origin x="86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sz="1600" b="0">
                <a:solidFill>
                  <a:srgbClr val="6B7280"/>
                </a:solidFill>
              </a:rPr>
              <a:t>% of Bengaluru's area</a:t>
            </a:r>
          </a:p>
        </c:rich>
      </c:tx>
      <c:overlay val="0"/>
    </c:title>
    <c:autoTitleDeleted val="0"/>
    <c:plotArea>
      <c:layout/>
      <c:barChart>
        <c:barDir val="col"/>
        <c:grouping val="clustered"/>
        <c:varyColors val="1"/>
        <c:ser>
          <c:idx val="0"/>
          <c:order val="0"/>
          <c:tx>
            <c:strRef>
              <c:f>Sheet1!$B$1</c:f>
              <c:strCache>
                <c:ptCount val="1"/>
                <c:pt idx="0">
                  <c:v>1973</c:v>
                </c:pt>
              </c:strCache>
            </c:strRef>
          </c:tx>
          <c:spPr>
            <a:solidFill>
              <a:srgbClr val="B8C0CC"/>
            </a:solidFill>
          </c:spPr>
          <c:invertIfNegative val="1"/>
          <c:dLbls>
            <c:dLbl>
              <c:idx val="0"/>
              <c:tx>
                <c:rich>
                  <a:bodyPr/>
                  <a:lstStyle/>
                  <a:p>
                    <a:r>
                      <a:rPr lang="en-US" sz="1400"/>
                      <a:t>8%</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499E-4C25-9818-298331041953}"/>
                </c:ext>
              </c:extLst>
            </c:dLbl>
            <c:dLbl>
              <c:idx val="1"/>
              <c:tx>
                <c:rich>
                  <a:bodyPr/>
                  <a:lstStyle/>
                  <a:p>
                    <a:r>
                      <a:rPr lang="en-US" sz="1400"/>
                      <a:t>68%</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499E-4C25-9818-298331041953}"/>
                </c:ext>
              </c:extLst>
            </c:dLbl>
            <c:dLbl>
              <c:idx val="2"/>
              <c:tx>
                <c:rich>
                  <a:bodyPr/>
                  <a:lstStyle/>
                  <a:p>
                    <a:r>
                      <a:rPr lang="en-US" sz="1400"/>
                      <a:t>3.4%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499E-4C25-9818-29833104195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Built-up</c:v>
                </c:pt>
                <c:pt idx="1">
                  <c:v>Vegetation</c:v>
                </c:pt>
                <c:pt idx="2">
                  <c:v>Water</c:v>
                </c:pt>
              </c:strCache>
            </c:strRef>
          </c:cat>
          <c:val>
            <c:numRef>
              <c:f>Sheet1!$B$2:$B$4</c:f>
              <c:numCache>
                <c:formatCode>General</c:formatCode>
                <c:ptCount val="3"/>
                <c:pt idx="0">
                  <c:v>8</c:v>
                </c:pt>
                <c:pt idx="1">
                  <c:v>68</c:v>
                </c:pt>
                <c:pt idx="2">
                  <c:v>3.4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499E-4C25-9818-298331041953}"/>
            </c:ext>
          </c:extLst>
        </c:ser>
        <c:ser>
          <c:idx val="1"/>
          <c:order val="1"/>
          <c:tx>
            <c:strRef>
              <c:f>Sheet1!$C$1</c:f>
              <c:strCache>
                <c:ptCount val="1"/>
                <c:pt idx="0">
                  <c:v>2013</c:v>
                </c:pt>
              </c:strCache>
            </c:strRef>
          </c:tx>
          <c:spPr>
            <a:solidFill>
              <a:srgbClr val="0F2340"/>
            </a:solidFill>
          </c:spPr>
          <c:invertIfNegative val="1"/>
          <c:dLbls>
            <c:dLbl>
              <c:idx val="0"/>
              <c:tx>
                <c:rich>
                  <a:bodyPr/>
                  <a:lstStyle/>
                  <a:p>
                    <a:r>
                      <a:rPr lang="en-US" sz="1400"/>
                      <a:t>74%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499E-4C25-9818-298331041953}"/>
                </c:ext>
              </c:extLst>
            </c:dLbl>
            <c:dLbl>
              <c:idx val="1"/>
              <c:tx>
                <c:rich>
                  <a:bodyPr/>
                  <a:lstStyle/>
                  <a:p>
                    <a:r>
                      <a:rPr lang="en-US" sz="1400"/>
                      <a:t>under 15%</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499E-4C25-9818-298331041953}"/>
                </c:ext>
              </c:extLst>
            </c:dLbl>
            <c:dLbl>
              <c:idx val="2"/>
              <c:tx>
                <c:rich>
                  <a:bodyPr/>
                  <a:lstStyle/>
                  <a:p>
                    <a:r>
                      <a:rPr lang="en-US" sz="1400"/>
                      <a:t>under 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499E-4C25-9818-29833104195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Built-up</c:v>
                </c:pt>
                <c:pt idx="1">
                  <c:v>Vegetation</c:v>
                </c:pt>
                <c:pt idx="2">
                  <c:v>Water</c:v>
                </c:pt>
              </c:strCache>
            </c:strRef>
          </c:cat>
          <c:val>
            <c:numRef>
              <c:f>Sheet1!$C$2:$C$4</c:f>
              <c:numCache>
                <c:formatCode>General</c:formatCode>
                <c:ptCount val="3"/>
                <c:pt idx="0">
                  <c:v>74</c:v>
                </c:pt>
                <c:pt idx="1">
                  <c:v>15</c:v>
                </c:pt>
                <c:pt idx="2">
                  <c:v>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7-499E-4C25-9818-298331041953}"/>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1D5DB"/>
            </a:solidFill>
          </a:ln>
        </c:spPr>
        <c:crossAx val="-2113994440"/>
        <c:crosses val="autoZero"/>
        <c:auto val="1"/>
        <c:lblAlgn val="ctr"/>
        <c:lblOffset val="100"/>
        <c:noMultiLvlLbl val="0"/>
      </c:catAx>
      <c:valAx>
        <c:axId val="-2113994440"/>
        <c:scaling>
          <c:orientation val="minMax"/>
          <c:max val="85"/>
        </c:scaling>
        <c:delete val="1"/>
        <c:axPos val="l"/>
        <c:numFmt formatCode="General" sourceLinked="1"/>
        <c:majorTickMark val="out"/>
        <c:minorTickMark val="none"/>
        <c:tickLblPos val="nextTo"/>
        <c:crossAx val="-2068027336"/>
        <c:crosses val="autoZero"/>
        <c:crossBetween val="between"/>
      </c:valAx>
    </c:plotArea>
    <c:legend>
      <c:legendPos val="t"/>
      <c:overlay val="0"/>
    </c:legend>
    <c:plotVisOnly val="1"/>
    <c:dispBlanksAs val="gap"/>
    <c:showDLblsOverMax val="1"/>
  </c:chart>
  <c:txPr>
    <a:bodyPr/>
    <a:lstStyle/>
    <a:p>
      <a:pPr>
        <a:defRPr sz="1600">
          <a:solidFill>
            <a:srgbClr val="1F2937"/>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8329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everyone. Today we find out how satellites take pictures of the Earth, and how GIS software turns those pictures into maps. By the end of the session you will build the map on the right yourself.</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six stops. Steps 1 to 5 are ideas, step 6 is hands-on in GeoLibre. Ask: has anyone used Google Maps or Google Earth before?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Ask: what else can you sense without touching? (Hearing thunder, smelling food, seeing stars.) Satellites do the same, from hundreds of kilometres up.</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satellite does not shine a torch. The Sun lights up the Earth, light bounces back up, and the satellite camera records it, like a phone camera. Infrared is light our eyes cannot see. Scientists use it to check if crops and forests are healthy.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Natural satellites are made by nature, like our Moon. Artificial satellites are made by people. Sputnik-1 was launched by the Soviet Union on 4 October 1957 and went around the Earth every 96 minutes. Today thousands of satellites circle the Earth.</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India's space journey started in 1962 with INCOSPAR. The first rockets went up from Thumba near Thiruvananthapuram. ISRO was formed in 1969 and is headquartered here in Bengaluru. Indian satellites like Cartosat and Resourcesat take photos of India that are used to make maps.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Give students a minute to find things before revealing the list. The curved shape is the old fort wall. The long straight line on the left is the highway to the airport. Ask: how can you tell a road from a wall?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2011 the area was fields and an orchard. By 2021 there is a big market yard (APMC) and an apartment complex. Satellites have photographed Earth for over 50 years (Landsat started in 1972), so we can compare any place over time. If there is time, open the Timelapse site and look at your own city.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 back to the last slide: in 2011 that area was an orchard, and by 2021 it was buildings and a market yard. That is land cover change, from vegetation to built-up. Computers can sort every pixel of a satellite image into classes like these, then count how much of each there is, year after year. Urban planners use these maps to decide where a city should grow and which lakes, parks and forests must be protected.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Bengaluru was once called the Garden City. Scientists at the Indian Institute of Science (IISc) used Landsat satellite images from 1973 to 2013 to measure the change. Built-up area grew from about 8% of the city to about 74%. Vegetation fell from about 68% to under 15%. Water bodies fell from 3.4% to under 1%. This is exactly the remote sensing we just learned about. Ask: what could we do to protect our lakes and trees?</a:t>
            </a:r>
            <a:r>
              <a:rPr lang="en-US" dirty="0"/>
              <a:t> https://wgbis.ces.iisc.ac.in/energy/water/paper/Decaying_lakes_of_Bengaluru/</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GIS map is like a sandwich or a stack of see-through sheets. The bottom layer is usually a satellite photo, called the basemap. On top we add borders, roads, rivers and names. In Exercise 1 you will add two layers: India's outline and the state outlines.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one location, like a pin on a map. Line: connects points, like a road. Polygon: a line that closes back on itself, so it has an inside and an area, like a lake or a state. Ask: is India a point, a line or a polygon? (It depends on the scale. On a world map Bengaluru is a point, but zoom in and it becomes a polygon.)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Answers: the red line follows the railway track. The yellow polygon is an apartment complex. The blue point is a single big tree. The large grey buildings at the top are the APMC market yard, which could be another polygon. The road running down the middle is another line.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Zoom right into a satellite photo and it turns into squares: that is raster. Vector data stores shapes as corner points, so it stays sharp however far you zoom. In Exercise 1 the satellite basemap is raster and the GeoJSON outlines are vector.</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good map answers three questions: what is it a map of (title), which way is north (north arrow), and how big are things really (scale bar). Many maps also have a legend that explains the colours and symbols. You will add the title, north arrow and scale bar yourself in step 6 of Exercise 1.</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Archaeologists use satellite images and GIS to find and map old forts. Point out the legend, the north arrow at top left and the scale bar. Ask: what story is this map telling? (Where the old fort was, and what is left of it today.)</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Answers: 1. Geographic Information System. 2. Natural. 3. Any sensible examples, such as a school (point), a road (line), a lake (polygon). 4. How far apart things really are on the ground. Then hand out the Exercise 1 tutorial.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ee-soniacivil.projects.earthengine.app/view/bengaluru-in-1965"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40"/>
        </a:solidFill>
        <a:effectLst/>
      </p:bgPr>
    </p:bg>
    <p:spTree>
      <p:nvGrpSpPr>
        <p:cNvPr id="1" name=""/>
        <p:cNvGrpSpPr/>
        <p:nvPr/>
      </p:nvGrpSpPr>
      <p:grpSpPr>
        <a:xfrm>
          <a:off x="0" y="0"/>
          <a:ext cx="0" cy="0"/>
          <a:chOff x="0" y="0"/>
          <a:chExt cx="0" cy="0"/>
        </a:xfrm>
      </p:grpSpPr>
      <p:sp>
        <p:nvSpPr>
          <p:cNvPr id="2" name="TextBox 1"/>
          <p:cNvSpPr txBox="1"/>
          <p:nvPr/>
        </p:nvSpPr>
        <p:spPr>
          <a:xfrm>
            <a:off x="731520" y="1371600"/>
            <a:ext cx="6583680" cy="457200"/>
          </a:xfrm>
          <a:prstGeom prst="rect">
            <a:avLst/>
          </a:prstGeom>
          <a:noFill/>
        </p:spPr>
        <p:txBody>
          <a:bodyPr wrap="square" lIns="45720" rIns="45720" anchor="t">
            <a:spAutoFit/>
          </a:bodyPr>
          <a:lstStyle/>
          <a:p>
            <a:pPr algn="l">
              <a:spcAft>
                <a:spcPts val="1000"/>
              </a:spcAft>
            </a:pPr>
            <a:r>
              <a:rPr sz="1600" b="1">
                <a:solidFill>
                  <a:srgbClr val="E8A317"/>
                </a:solidFill>
                <a:latin typeface="Calibri"/>
              </a:rPr>
              <a:t>MAPPING WITH KIDS  |  BEFORE EXERCISE 1</a:t>
            </a:r>
          </a:p>
        </p:txBody>
      </p:sp>
      <p:sp>
        <p:nvSpPr>
          <p:cNvPr id="3" name="TextBox 2"/>
          <p:cNvSpPr txBox="1"/>
          <p:nvPr/>
        </p:nvSpPr>
        <p:spPr>
          <a:xfrm>
            <a:off x="731520" y="1920240"/>
            <a:ext cx="6583680" cy="1828800"/>
          </a:xfrm>
          <a:prstGeom prst="rect">
            <a:avLst/>
          </a:prstGeom>
          <a:noFill/>
        </p:spPr>
        <p:txBody>
          <a:bodyPr wrap="square" lIns="45720" rIns="45720" anchor="t">
            <a:spAutoFit/>
          </a:bodyPr>
          <a:lstStyle/>
          <a:p>
            <a:pPr algn="l">
              <a:spcAft>
                <a:spcPts val="1000"/>
              </a:spcAft>
            </a:pPr>
            <a:r>
              <a:rPr sz="5400" b="1">
                <a:solidFill>
                  <a:srgbClr val="FFFFFF"/>
                </a:solidFill>
                <a:latin typeface="Calibri"/>
              </a:rPr>
              <a:t>Seeing Earth from Above</a:t>
            </a:r>
          </a:p>
        </p:txBody>
      </p:sp>
      <p:sp>
        <p:nvSpPr>
          <p:cNvPr id="4" name="TextBox 3"/>
          <p:cNvSpPr txBox="1"/>
          <p:nvPr/>
        </p:nvSpPr>
        <p:spPr>
          <a:xfrm>
            <a:off x="731520" y="3840480"/>
            <a:ext cx="6400800" cy="1097280"/>
          </a:xfrm>
          <a:prstGeom prst="rect">
            <a:avLst/>
          </a:prstGeom>
          <a:noFill/>
        </p:spPr>
        <p:txBody>
          <a:bodyPr wrap="square" lIns="45720" rIns="45720" anchor="t">
            <a:spAutoFit/>
          </a:bodyPr>
          <a:lstStyle/>
          <a:p>
            <a:pPr algn="l">
              <a:spcAft>
                <a:spcPts val="1000"/>
              </a:spcAft>
            </a:pPr>
            <a:r>
              <a:rPr sz="2400" b="0">
                <a:solidFill>
                  <a:srgbClr val="CBD5E1"/>
                </a:solidFill>
                <a:latin typeface="Calibri"/>
              </a:rPr>
              <a:t>Satellites, GIS, points, lines and polygons, and how a map is made</a:t>
            </a:r>
          </a:p>
        </p:txBody>
      </p:sp>
      <p:pic>
        <p:nvPicPr>
          <p:cNvPr id="5" name="Picture 4" descr="Map-of-India.png"/>
          <p:cNvPicPr>
            <a:picLocks noChangeAspect="1"/>
          </p:cNvPicPr>
          <p:nvPr/>
        </p:nvPicPr>
        <p:blipFill>
          <a:blip r:embed="rId3"/>
          <a:stretch>
            <a:fillRect/>
          </a:stretch>
        </p:blipFill>
        <p:spPr>
          <a:xfrm>
            <a:off x="7589520" y="548640"/>
            <a:ext cx="4072573" cy="5760720"/>
          </a:xfrm>
          <a:prstGeom prst="rect">
            <a:avLst/>
          </a:prstGeom>
          <a:ln w="12700">
            <a:solidFill>
              <a:srgbClr val="D1D5DB"/>
            </a:solid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822960"/>
          </a:xfrm>
          <a:prstGeom prst="rect">
            <a:avLst/>
          </a:prstGeom>
          <a:noFill/>
        </p:spPr>
        <p:txBody>
          <a:bodyPr wrap="square" lIns="45720" rIns="45720" anchor="t">
            <a:spAutoFit/>
          </a:bodyPr>
          <a:lstStyle/>
          <a:p>
            <a:pPr algn="l">
              <a:spcAft>
                <a:spcPts val="1000"/>
              </a:spcAft>
            </a:pPr>
            <a:r>
              <a:rPr sz="3600" b="1">
                <a:solidFill>
                  <a:srgbClr val="0F2340"/>
                </a:solidFill>
                <a:latin typeface="Calibri"/>
              </a:rPr>
              <a:t>Today's journey</a:t>
            </a:r>
          </a:p>
        </p:txBody>
      </p:sp>
      <p:sp>
        <p:nvSpPr>
          <p:cNvPr id="3" name="Oval 2"/>
          <p:cNvSpPr/>
          <p:nvPr/>
        </p:nvSpPr>
        <p:spPr>
          <a:xfrm>
            <a:off x="1097280" y="2377440"/>
            <a:ext cx="1005840" cy="1005840"/>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200" b="1">
                <a:solidFill>
                  <a:srgbClr val="FFFFFF"/>
                </a:solidFill>
                <a:latin typeface="Calibri"/>
              </a:rPr>
              <a:t>1</a:t>
            </a:r>
          </a:p>
        </p:txBody>
      </p:sp>
      <p:sp>
        <p:nvSpPr>
          <p:cNvPr id="4" name="TextBox 3"/>
          <p:cNvSpPr txBox="1"/>
          <p:nvPr/>
        </p:nvSpPr>
        <p:spPr>
          <a:xfrm>
            <a:off x="685800" y="3566160"/>
            <a:ext cx="1828800" cy="914400"/>
          </a:xfrm>
          <a:prstGeom prst="rect">
            <a:avLst/>
          </a:prstGeom>
          <a:noFill/>
        </p:spPr>
        <p:txBody>
          <a:bodyPr wrap="square" lIns="45720" rIns="45720" anchor="t">
            <a:spAutoFit/>
          </a:bodyPr>
          <a:lstStyle/>
          <a:p>
            <a:pPr algn="ctr">
              <a:spcAft>
                <a:spcPts val="1000"/>
              </a:spcAft>
            </a:pPr>
            <a:r>
              <a:rPr sz="1800" b="1">
                <a:solidFill>
                  <a:srgbClr val="1F2937"/>
                </a:solidFill>
                <a:latin typeface="Calibri"/>
              </a:rPr>
              <a:t>Remote sensing</a:t>
            </a:r>
          </a:p>
        </p:txBody>
      </p:sp>
      <p:cxnSp>
        <p:nvCxnSpPr>
          <p:cNvPr id="5" name="Connector 4"/>
          <p:cNvCxnSpPr/>
          <p:nvPr/>
        </p:nvCxnSpPr>
        <p:spPr>
          <a:xfrm>
            <a:off x="2194560" y="2880360"/>
            <a:ext cx="548640" cy="0"/>
          </a:xfrm>
          <a:prstGeom prst="line">
            <a:avLst/>
          </a:prstGeom>
          <a:ln w="25400">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2926080" y="2377440"/>
            <a:ext cx="1005840" cy="1005840"/>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200" b="1">
                <a:solidFill>
                  <a:srgbClr val="FFFFFF"/>
                </a:solidFill>
                <a:latin typeface="Calibri"/>
              </a:rPr>
              <a:t>2</a:t>
            </a:r>
          </a:p>
        </p:txBody>
      </p:sp>
      <p:sp>
        <p:nvSpPr>
          <p:cNvPr id="7" name="TextBox 6"/>
          <p:cNvSpPr txBox="1"/>
          <p:nvPr/>
        </p:nvSpPr>
        <p:spPr>
          <a:xfrm>
            <a:off x="2514600" y="3566160"/>
            <a:ext cx="1828800" cy="914400"/>
          </a:xfrm>
          <a:prstGeom prst="rect">
            <a:avLst/>
          </a:prstGeom>
          <a:noFill/>
        </p:spPr>
        <p:txBody>
          <a:bodyPr wrap="square" lIns="45720" rIns="45720" anchor="t">
            <a:spAutoFit/>
          </a:bodyPr>
          <a:lstStyle/>
          <a:p>
            <a:pPr algn="ctr">
              <a:spcAft>
                <a:spcPts val="1000"/>
              </a:spcAft>
            </a:pPr>
            <a:r>
              <a:rPr sz="1800" b="1">
                <a:solidFill>
                  <a:srgbClr val="1F2937"/>
                </a:solidFill>
                <a:latin typeface="Calibri"/>
              </a:rPr>
              <a:t>Satellites and change</a:t>
            </a:r>
          </a:p>
        </p:txBody>
      </p:sp>
      <p:cxnSp>
        <p:nvCxnSpPr>
          <p:cNvPr id="8" name="Connector 7"/>
          <p:cNvCxnSpPr/>
          <p:nvPr/>
        </p:nvCxnSpPr>
        <p:spPr>
          <a:xfrm>
            <a:off x="4023360" y="2880360"/>
            <a:ext cx="548640" cy="0"/>
          </a:xfrm>
          <a:prstGeom prst="line">
            <a:avLst/>
          </a:prstGeom>
          <a:ln w="25400">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4754880" y="2377440"/>
            <a:ext cx="1005840" cy="1005840"/>
          </a:xfrm>
          <a:prstGeom prst="ellipse">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200" b="1">
                <a:solidFill>
                  <a:srgbClr val="FFFFFF"/>
                </a:solidFill>
                <a:latin typeface="Calibri"/>
              </a:rPr>
              <a:t>3</a:t>
            </a:r>
          </a:p>
        </p:txBody>
      </p:sp>
      <p:sp>
        <p:nvSpPr>
          <p:cNvPr id="10" name="TextBox 9"/>
          <p:cNvSpPr txBox="1"/>
          <p:nvPr/>
        </p:nvSpPr>
        <p:spPr>
          <a:xfrm>
            <a:off x="4343400" y="3566160"/>
            <a:ext cx="1828800" cy="914400"/>
          </a:xfrm>
          <a:prstGeom prst="rect">
            <a:avLst/>
          </a:prstGeom>
          <a:noFill/>
        </p:spPr>
        <p:txBody>
          <a:bodyPr wrap="square" lIns="45720" rIns="45720" anchor="t">
            <a:spAutoFit/>
          </a:bodyPr>
          <a:lstStyle/>
          <a:p>
            <a:pPr algn="ctr">
              <a:spcAft>
                <a:spcPts val="1000"/>
              </a:spcAft>
            </a:pPr>
            <a:r>
              <a:rPr sz="1800" b="1">
                <a:solidFill>
                  <a:srgbClr val="1F2937"/>
                </a:solidFill>
                <a:latin typeface="Calibri"/>
              </a:rPr>
              <a:t>GIS and layers</a:t>
            </a:r>
          </a:p>
        </p:txBody>
      </p:sp>
      <p:cxnSp>
        <p:nvCxnSpPr>
          <p:cNvPr id="11" name="Connector 10"/>
          <p:cNvCxnSpPr/>
          <p:nvPr/>
        </p:nvCxnSpPr>
        <p:spPr>
          <a:xfrm>
            <a:off x="5852160" y="2880360"/>
            <a:ext cx="548640" cy="0"/>
          </a:xfrm>
          <a:prstGeom prst="line">
            <a:avLst/>
          </a:prstGeom>
          <a:ln w="25400">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6583680" y="2377440"/>
            <a:ext cx="1005840" cy="1005840"/>
          </a:xfrm>
          <a:prstGeom prst="ellipse">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200" b="1">
                <a:solidFill>
                  <a:srgbClr val="FFFFFF"/>
                </a:solidFill>
                <a:latin typeface="Calibri"/>
              </a:rPr>
              <a:t>4</a:t>
            </a:r>
          </a:p>
        </p:txBody>
      </p:sp>
      <p:sp>
        <p:nvSpPr>
          <p:cNvPr id="13" name="TextBox 12"/>
          <p:cNvSpPr txBox="1"/>
          <p:nvPr/>
        </p:nvSpPr>
        <p:spPr>
          <a:xfrm>
            <a:off x="6172200" y="3566160"/>
            <a:ext cx="1828800" cy="914400"/>
          </a:xfrm>
          <a:prstGeom prst="rect">
            <a:avLst/>
          </a:prstGeom>
          <a:noFill/>
        </p:spPr>
        <p:txBody>
          <a:bodyPr wrap="square" lIns="45720" rIns="45720" anchor="t">
            <a:spAutoFit/>
          </a:bodyPr>
          <a:lstStyle/>
          <a:p>
            <a:pPr algn="ctr">
              <a:spcAft>
                <a:spcPts val="1000"/>
              </a:spcAft>
            </a:pPr>
            <a:r>
              <a:rPr sz="1800" b="1">
                <a:solidFill>
                  <a:srgbClr val="1F2937"/>
                </a:solidFill>
                <a:latin typeface="Calibri"/>
              </a:rPr>
              <a:t>Points, lines, polygons</a:t>
            </a:r>
          </a:p>
        </p:txBody>
      </p:sp>
      <p:cxnSp>
        <p:nvCxnSpPr>
          <p:cNvPr id="14" name="Connector 13"/>
          <p:cNvCxnSpPr/>
          <p:nvPr/>
        </p:nvCxnSpPr>
        <p:spPr>
          <a:xfrm>
            <a:off x="7680960" y="2880360"/>
            <a:ext cx="548640" cy="0"/>
          </a:xfrm>
          <a:prstGeom prst="line">
            <a:avLst/>
          </a:prstGeom>
          <a:ln w="25400">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8412480" y="2377440"/>
            <a:ext cx="1005840" cy="1005840"/>
          </a:xfrm>
          <a:prstGeom prst="ellipse">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200" b="1">
                <a:solidFill>
                  <a:srgbClr val="FFFFFF"/>
                </a:solidFill>
                <a:latin typeface="Calibri"/>
              </a:rPr>
              <a:t>5</a:t>
            </a:r>
          </a:p>
        </p:txBody>
      </p:sp>
      <p:sp>
        <p:nvSpPr>
          <p:cNvPr id="16" name="TextBox 15"/>
          <p:cNvSpPr txBox="1"/>
          <p:nvPr/>
        </p:nvSpPr>
        <p:spPr>
          <a:xfrm>
            <a:off x="8001000" y="3566160"/>
            <a:ext cx="1828800" cy="914400"/>
          </a:xfrm>
          <a:prstGeom prst="rect">
            <a:avLst/>
          </a:prstGeom>
          <a:noFill/>
        </p:spPr>
        <p:txBody>
          <a:bodyPr wrap="square" lIns="45720" rIns="45720" anchor="t">
            <a:spAutoFit/>
          </a:bodyPr>
          <a:lstStyle/>
          <a:p>
            <a:pPr algn="ctr">
              <a:spcAft>
                <a:spcPts val="1000"/>
              </a:spcAft>
            </a:pPr>
            <a:r>
              <a:rPr sz="1800" b="1">
                <a:solidFill>
                  <a:srgbClr val="1F2937"/>
                </a:solidFill>
                <a:latin typeface="Calibri"/>
              </a:rPr>
              <a:t>Parts of a map</a:t>
            </a:r>
          </a:p>
        </p:txBody>
      </p:sp>
      <p:cxnSp>
        <p:nvCxnSpPr>
          <p:cNvPr id="17" name="Connector 16"/>
          <p:cNvCxnSpPr/>
          <p:nvPr/>
        </p:nvCxnSpPr>
        <p:spPr>
          <a:xfrm>
            <a:off x="9509760" y="2880360"/>
            <a:ext cx="548640" cy="0"/>
          </a:xfrm>
          <a:prstGeom prst="line">
            <a:avLst/>
          </a:prstGeom>
          <a:ln w="25400">
            <a:solidFill>
              <a:srgbClr val="6B7280"/>
            </a:solidFill>
            <a:tailEnd type="triangle"/>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10241280" y="2377440"/>
            <a:ext cx="1005840" cy="1005840"/>
          </a:xfrm>
          <a:prstGeom prst="ellipse">
            <a:avLst/>
          </a:prstGeom>
          <a:solidFill>
            <a:srgbClr val="D94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200" b="1">
                <a:solidFill>
                  <a:srgbClr val="FFFFFF"/>
                </a:solidFill>
                <a:latin typeface="Calibri"/>
              </a:rPr>
              <a:t>6</a:t>
            </a:r>
          </a:p>
        </p:txBody>
      </p:sp>
      <p:sp>
        <p:nvSpPr>
          <p:cNvPr id="19" name="TextBox 18"/>
          <p:cNvSpPr txBox="1"/>
          <p:nvPr/>
        </p:nvSpPr>
        <p:spPr>
          <a:xfrm>
            <a:off x="9829800" y="3566160"/>
            <a:ext cx="1828800" cy="914400"/>
          </a:xfrm>
          <a:prstGeom prst="rect">
            <a:avLst/>
          </a:prstGeom>
          <a:noFill/>
        </p:spPr>
        <p:txBody>
          <a:bodyPr wrap="square" lIns="45720" rIns="45720" anchor="t">
            <a:spAutoFit/>
          </a:bodyPr>
          <a:lstStyle/>
          <a:p>
            <a:pPr algn="ctr">
              <a:spcAft>
                <a:spcPts val="1000"/>
              </a:spcAft>
            </a:pPr>
            <a:r>
              <a:rPr sz="1800" b="1">
                <a:solidFill>
                  <a:srgbClr val="1F2937"/>
                </a:solidFill>
                <a:latin typeface="Calibri"/>
              </a:rPr>
              <a:t>Make your own map</a:t>
            </a:r>
          </a:p>
        </p:txBody>
      </p:sp>
      <p:sp>
        <p:nvSpPr>
          <p:cNvPr id="20" name="TextBox 19"/>
          <p:cNvSpPr txBox="1"/>
          <p:nvPr/>
        </p:nvSpPr>
        <p:spPr>
          <a:xfrm>
            <a:off x="685800" y="5029200"/>
            <a:ext cx="10789920" cy="731520"/>
          </a:xfrm>
          <a:prstGeom prst="rect">
            <a:avLst/>
          </a:prstGeom>
          <a:noFill/>
        </p:spPr>
        <p:txBody>
          <a:bodyPr wrap="square" lIns="45720" rIns="45720" anchor="t">
            <a:spAutoFit/>
          </a:bodyPr>
          <a:lstStyle/>
          <a:p>
            <a:pPr algn="ctr">
              <a:spcAft>
                <a:spcPts val="1000"/>
              </a:spcAft>
            </a:pPr>
            <a:r>
              <a:rPr sz="2200" b="0">
                <a:solidFill>
                  <a:srgbClr val="6B7280"/>
                </a:solidFill>
                <a:latin typeface="Calibri"/>
              </a:rPr>
              <a:t>At the end you will open GeoLibre and build a Map of India.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822960"/>
          </a:xfrm>
          <a:prstGeom prst="rect">
            <a:avLst/>
          </a:prstGeom>
          <a:noFill/>
        </p:spPr>
        <p:txBody>
          <a:bodyPr wrap="square" lIns="45720" rIns="45720" anchor="t">
            <a:spAutoFit/>
          </a:bodyPr>
          <a:lstStyle/>
          <a:p>
            <a:pPr algn="l">
              <a:spcAft>
                <a:spcPts val="1000"/>
              </a:spcAft>
            </a:pPr>
            <a:r>
              <a:rPr sz="3600" b="1">
                <a:solidFill>
                  <a:srgbClr val="0F2340"/>
                </a:solidFill>
                <a:latin typeface="Calibri"/>
              </a:rPr>
              <a:t>What is remote sensing?</a:t>
            </a:r>
          </a:p>
        </p:txBody>
      </p:sp>
      <p:sp>
        <p:nvSpPr>
          <p:cNvPr id="3" name="TextBox 2"/>
          <p:cNvSpPr txBox="1"/>
          <p:nvPr/>
        </p:nvSpPr>
        <p:spPr>
          <a:xfrm>
            <a:off x="548640" y="1371600"/>
            <a:ext cx="6400800" cy="1463040"/>
          </a:xfrm>
          <a:prstGeom prst="rect">
            <a:avLst/>
          </a:prstGeom>
          <a:noFill/>
        </p:spPr>
        <p:txBody>
          <a:bodyPr wrap="square" lIns="45720" rIns="45720" anchor="t">
            <a:spAutoFit/>
          </a:bodyPr>
          <a:lstStyle/>
          <a:p>
            <a:pPr algn="l">
              <a:spcAft>
                <a:spcPts val="1000"/>
              </a:spcAft>
            </a:pPr>
            <a:r>
              <a:rPr sz="2200" b="0">
                <a:solidFill>
                  <a:srgbClr val="1F2937"/>
                </a:solidFill>
                <a:latin typeface="Calibri"/>
              </a:rPr>
              <a:t>Remote sensing means learning about something without touching it. Looking at a bird through binoculars is a simple kind of remote sensing.</a:t>
            </a:r>
          </a:p>
        </p:txBody>
      </p:sp>
      <p:sp>
        <p:nvSpPr>
          <p:cNvPr id="4" name="Oval 3"/>
          <p:cNvSpPr/>
          <p:nvPr/>
        </p:nvSpPr>
        <p:spPr>
          <a:xfrm>
            <a:off x="662940" y="3223260"/>
            <a:ext cx="411480" cy="411480"/>
          </a:xfrm>
          <a:prstGeom prst="ellipse">
            <a:avLst/>
          </a:prstGeom>
          <a:solidFill>
            <a:srgbClr val="1F6FB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280160" y="3063240"/>
            <a:ext cx="5669280" cy="411480"/>
          </a:xfrm>
          <a:prstGeom prst="rect">
            <a:avLst/>
          </a:prstGeom>
          <a:noFill/>
        </p:spPr>
        <p:txBody>
          <a:bodyPr wrap="square" lIns="45720" rIns="45720" anchor="t">
            <a:spAutoFit/>
          </a:bodyPr>
          <a:lstStyle/>
          <a:p>
            <a:pPr algn="l">
              <a:spcAft>
                <a:spcPts val="1000"/>
              </a:spcAft>
            </a:pPr>
            <a:r>
              <a:rPr sz="2000" b="1">
                <a:solidFill>
                  <a:srgbClr val="1F2937"/>
                </a:solidFill>
                <a:latin typeface="Calibri"/>
              </a:rPr>
              <a:t>Weather satellite</a:t>
            </a:r>
          </a:p>
        </p:txBody>
      </p:sp>
      <p:sp>
        <p:nvSpPr>
          <p:cNvPr id="6" name="TextBox 5"/>
          <p:cNvSpPr txBox="1"/>
          <p:nvPr/>
        </p:nvSpPr>
        <p:spPr>
          <a:xfrm>
            <a:off x="1280160" y="3447288"/>
            <a:ext cx="5669280" cy="457200"/>
          </a:xfrm>
          <a:prstGeom prst="rect">
            <a:avLst/>
          </a:prstGeom>
          <a:noFill/>
        </p:spPr>
        <p:txBody>
          <a:bodyPr wrap="square" lIns="45720" rIns="45720" anchor="t">
            <a:spAutoFit/>
          </a:bodyPr>
          <a:lstStyle/>
          <a:p>
            <a:pPr algn="l">
              <a:spcAft>
                <a:spcPts val="1000"/>
              </a:spcAft>
            </a:pPr>
            <a:r>
              <a:rPr sz="1800" b="0">
                <a:solidFill>
                  <a:srgbClr val="6B7280"/>
                </a:solidFill>
                <a:latin typeface="Calibri"/>
              </a:rPr>
              <a:t>Watches a cyclone form over the Bay of Bengal</a:t>
            </a:r>
          </a:p>
        </p:txBody>
      </p:sp>
      <p:sp>
        <p:nvSpPr>
          <p:cNvPr id="7" name="Oval 6"/>
          <p:cNvSpPr/>
          <p:nvPr/>
        </p:nvSpPr>
        <p:spPr>
          <a:xfrm>
            <a:off x="662940" y="4229100"/>
            <a:ext cx="411480" cy="411480"/>
          </a:xfrm>
          <a:prstGeom prst="ellipse">
            <a:avLst/>
          </a:prstGeom>
          <a:solidFill>
            <a:srgbClr val="2E7D4F"/>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80160" y="4069080"/>
            <a:ext cx="5669280" cy="411480"/>
          </a:xfrm>
          <a:prstGeom prst="rect">
            <a:avLst/>
          </a:prstGeom>
          <a:noFill/>
        </p:spPr>
        <p:txBody>
          <a:bodyPr wrap="square" lIns="45720" rIns="45720" anchor="t">
            <a:spAutoFit/>
          </a:bodyPr>
          <a:lstStyle/>
          <a:p>
            <a:pPr algn="l">
              <a:spcAft>
                <a:spcPts val="1000"/>
              </a:spcAft>
            </a:pPr>
            <a:r>
              <a:rPr sz="2000" b="1">
                <a:solidFill>
                  <a:srgbClr val="1F2937"/>
                </a:solidFill>
                <a:latin typeface="Calibri"/>
              </a:rPr>
              <a:t>Drone</a:t>
            </a:r>
          </a:p>
        </p:txBody>
      </p:sp>
      <p:sp>
        <p:nvSpPr>
          <p:cNvPr id="9" name="TextBox 8"/>
          <p:cNvSpPr txBox="1"/>
          <p:nvPr/>
        </p:nvSpPr>
        <p:spPr>
          <a:xfrm>
            <a:off x="1280160" y="4453128"/>
            <a:ext cx="5669280" cy="457200"/>
          </a:xfrm>
          <a:prstGeom prst="rect">
            <a:avLst/>
          </a:prstGeom>
          <a:noFill/>
        </p:spPr>
        <p:txBody>
          <a:bodyPr wrap="square" lIns="45720" rIns="45720" anchor="t">
            <a:spAutoFit/>
          </a:bodyPr>
          <a:lstStyle/>
          <a:p>
            <a:pPr algn="l">
              <a:spcAft>
                <a:spcPts val="1000"/>
              </a:spcAft>
            </a:pPr>
            <a:r>
              <a:rPr sz="1800" b="0">
                <a:solidFill>
                  <a:srgbClr val="6B7280"/>
                </a:solidFill>
                <a:latin typeface="Calibri"/>
              </a:rPr>
              <a:t>Flies over a farm to see which crops need water</a:t>
            </a:r>
          </a:p>
        </p:txBody>
      </p:sp>
      <p:sp>
        <p:nvSpPr>
          <p:cNvPr id="10" name="Oval 9"/>
          <p:cNvSpPr/>
          <p:nvPr/>
        </p:nvSpPr>
        <p:spPr>
          <a:xfrm>
            <a:off x="662940" y="5234940"/>
            <a:ext cx="411480" cy="411480"/>
          </a:xfrm>
          <a:prstGeom prst="ellipse">
            <a:avLst/>
          </a:prstGeom>
          <a:solidFill>
            <a:srgbClr val="E8A31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80160" y="5074920"/>
            <a:ext cx="5669280" cy="411480"/>
          </a:xfrm>
          <a:prstGeom prst="rect">
            <a:avLst/>
          </a:prstGeom>
          <a:noFill/>
        </p:spPr>
        <p:txBody>
          <a:bodyPr wrap="square" lIns="45720" rIns="45720" anchor="t">
            <a:spAutoFit/>
          </a:bodyPr>
          <a:lstStyle/>
          <a:p>
            <a:pPr algn="l">
              <a:spcAft>
                <a:spcPts val="1000"/>
              </a:spcAft>
            </a:pPr>
            <a:r>
              <a:rPr sz="2000" b="1">
                <a:solidFill>
                  <a:srgbClr val="1F2937"/>
                </a:solidFill>
                <a:latin typeface="Calibri"/>
              </a:rPr>
              <a:t>Space station camera</a:t>
            </a:r>
          </a:p>
        </p:txBody>
      </p:sp>
      <p:sp>
        <p:nvSpPr>
          <p:cNvPr id="12" name="TextBox 11"/>
          <p:cNvSpPr txBox="1"/>
          <p:nvPr/>
        </p:nvSpPr>
        <p:spPr>
          <a:xfrm>
            <a:off x="1280160" y="5458968"/>
            <a:ext cx="5669280" cy="457200"/>
          </a:xfrm>
          <a:prstGeom prst="rect">
            <a:avLst/>
          </a:prstGeom>
          <a:noFill/>
        </p:spPr>
        <p:txBody>
          <a:bodyPr wrap="square" lIns="45720" rIns="45720" anchor="t">
            <a:spAutoFit/>
          </a:bodyPr>
          <a:lstStyle/>
          <a:p>
            <a:pPr algn="l">
              <a:spcAft>
                <a:spcPts val="1000"/>
              </a:spcAft>
            </a:pPr>
            <a:r>
              <a:rPr sz="1800" b="0">
                <a:solidFill>
                  <a:srgbClr val="6B7280"/>
                </a:solidFill>
                <a:latin typeface="Calibri"/>
              </a:rPr>
              <a:t>Photographs a coastline as it passes overhead</a:t>
            </a:r>
          </a:p>
        </p:txBody>
      </p:sp>
      <p:sp>
        <p:nvSpPr>
          <p:cNvPr id="13" name="Rounded Rectangle 12"/>
          <p:cNvSpPr/>
          <p:nvPr/>
        </p:nvSpPr>
        <p:spPr>
          <a:xfrm>
            <a:off x="7589520" y="1463040"/>
            <a:ext cx="4023360" cy="182880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818120" y="1645920"/>
            <a:ext cx="3566160" cy="365760"/>
          </a:xfrm>
          <a:prstGeom prst="rect">
            <a:avLst/>
          </a:prstGeom>
          <a:noFill/>
        </p:spPr>
        <p:txBody>
          <a:bodyPr wrap="square" lIns="45720" rIns="45720" anchor="t">
            <a:spAutoFit/>
          </a:bodyPr>
          <a:lstStyle/>
          <a:p>
            <a:pPr algn="l">
              <a:spcAft>
                <a:spcPts val="1000"/>
              </a:spcAft>
            </a:pPr>
            <a:r>
              <a:rPr sz="1400" b="1">
                <a:solidFill>
                  <a:srgbClr val="92400E"/>
                </a:solidFill>
                <a:latin typeface="Calibri"/>
              </a:rPr>
              <a:t>WORD OF THE DAY</a:t>
            </a:r>
          </a:p>
        </p:txBody>
      </p:sp>
      <p:sp>
        <p:nvSpPr>
          <p:cNvPr id="15" name="TextBox 14"/>
          <p:cNvSpPr txBox="1"/>
          <p:nvPr/>
        </p:nvSpPr>
        <p:spPr>
          <a:xfrm>
            <a:off x="7818120" y="2011680"/>
            <a:ext cx="3566160" cy="1143000"/>
          </a:xfrm>
          <a:prstGeom prst="rect">
            <a:avLst/>
          </a:prstGeom>
          <a:noFill/>
        </p:spPr>
        <p:txBody>
          <a:bodyPr wrap="square" lIns="45720" rIns="45720" anchor="t">
            <a:spAutoFit/>
          </a:bodyPr>
          <a:lstStyle/>
          <a:p>
            <a:pPr algn="l">
              <a:spcAft>
                <a:spcPts val="1000"/>
              </a:spcAft>
            </a:pPr>
            <a:r>
              <a:rPr sz="1800" b="0">
                <a:solidFill>
                  <a:srgbClr val="1F2937"/>
                </a:solidFill>
                <a:latin typeface="Calibri"/>
              </a:rPr>
              <a:t>Remote sensing: gathering information about a place from far away, without touching 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822960"/>
          </a:xfrm>
          <a:prstGeom prst="rect">
            <a:avLst/>
          </a:prstGeom>
          <a:noFill/>
        </p:spPr>
        <p:txBody>
          <a:bodyPr wrap="square" lIns="45720" rIns="45720" anchor="t">
            <a:spAutoFit/>
          </a:bodyPr>
          <a:lstStyle/>
          <a:p>
            <a:pPr algn="l">
              <a:spcAft>
                <a:spcPts val="1000"/>
              </a:spcAft>
            </a:pPr>
            <a:r>
              <a:rPr sz="3600" b="1">
                <a:solidFill>
                  <a:srgbClr val="0F2340"/>
                </a:solidFill>
                <a:latin typeface="Calibri"/>
              </a:rPr>
              <a:t>How do satellites see the Earth?</a:t>
            </a:r>
          </a:p>
        </p:txBody>
      </p:sp>
      <p:sp>
        <p:nvSpPr>
          <p:cNvPr id="3" name="Oval 2"/>
          <p:cNvSpPr/>
          <p:nvPr/>
        </p:nvSpPr>
        <p:spPr>
          <a:xfrm>
            <a:off x="9692640" y="1280160"/>
            <a:ext cx="1371600" cy="1371600"/>
          </a:xfrm>
          <a:prstGeom prst="ellipse">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92640" y="2697480"/>
            <a:ext cx="1371600" cy="365760"/>
          </a:xfrm>
          <a:prstGeom prst="rect">
            <a:avLst/>
          </a:prstGeom>
          <a:noFill/>
        </p:spPr>
        <p:txBody>
          <a:bodyPr wrap="square" lIns="45720" rIns="45720" anchor="t">
            <a:spAutoFit/>
          </a:bodyPr>
          <a:lstStyle/>
          <a:p>
            <a:pPr algn="ctr">
              <a:spcAft>
                <a:spcPts val="1000"/>
              </a:spcAft>
            </a:pPr>
            <a:r>
              <a:rPr sz="1800" b="1">
                <a:solidFill>
                  <a:srgbClr val="1F2937"/>
                </a:solidFill>
                <a:latin typeface="Calibri"/>
              </a:rPr>
              <a:t>Sun</a:t>
            </a:r>
          </a:p>
        </p:txBody>
      </p:sp>
      <p:sp>
        <p:nvSpPr>
          <p:cNvPr id="5" name="Oval 4"/>
          <p:cNvSpPr/>
          <p:nvPr/>
        </p:nvSpPr>
        <p:spPr>
          <a:xfrm>
            <a:off x="4846320" y="3017520"/>
            <a:ext cx="2743200" cy="2743200"/>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394960" y="3566160"/>
            <a:ext cx="914400" cy="640080"/>
          </a:xfrm>
          <a:prstGeom prst="ellipse">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400800" y="4572000"/>
            <a:ext cx="731520" cy="548640"/>
          </a:xfrm>
          <a:prstGeom prst="ellipse">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846320" y="5806440"/>
            <a:ext cx="2743200" cy="365760"/>
          </a:xfrm>
          <a:prstGeom prst="rect">
            <a:avLst/>
          </a:prstGeom>
          <a:noFill/>
        </p:spPr>
        <p:txBody>
          <a:bodyPr wrap="square" lIns="45720" rIns="45720" anchor="t">
            <a:spAutoFit/>
          </a:bodyPr>
          <a:lstStyle/>
          <a:p>
            <a:pPr algn="ctr">
              <a:spcAft>
                <a:spcPts val="1000"/>
              </a:spcAft>
            </a:pPr>
            <a:r>
              <a:rPr sz="1800" b="1">
                <a:solidFill>
                  <a:srgbClr val="1F2937"/>
                </a:solidFill>
                <a:latin typeface="Calibri"/>
              </a:rPr>
              <a:t>Earth</a:t>
            </a:r>
          </a:p>
        </p:txBody>
      </p:sp>
      <p:sp>
        <p:nvSpPr>
          <p:cNvPr id="9" name="Rectangle 8"/>
          <p:cNvSpPr/>
          <p:nvPr/>
        </p:nvSpPr>
        <p:spPr>
          <a:xfrm>
            <a:off x="2743200" y="1463040"/>
            <a:ext cx="822960" cy="219456"/>
          </a:xfrm>
          <a:prstGeom prst="rect">
            <a:avLst/>
          </a:prstGeom>
          <a:solidFill>
            <a:srgbClr val="1F6FB2"/>
          </a:solidFill>
          <a:ln>
            <a:solidFill>
              <a:srgbClr val="0F2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886200" y="1463040"/>
            <a:ext cx="822960" cy="219456"/>
          </a:xfrm>
          <a:prstGeom prst="rect">
            <a:avLst/>
          </a:prstGeom>
          <a:solidFill>
            <a:srgbClr val="1F6FB2"/>
          </a:solidFill>
          <a:ln>
            <a:solidFill>
              <a:srgbClr val="0F2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566160" y="1344168"/>
            <a:ext cx="320040" cy="457200"/>
          </a:xfrm>
          <a:prstGeom prst="rect">
            <a:avLst/>
          </a:prstGeom>
          <a:solidFill>
            <a:srgbClr val="0F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43200" y="1874519"/>
            <a:ext cx="1965960" cy="365760"/>
          </a:xfrm>
          <a:prstGeom prst="rect">
            <a:avLst/>
          </a:prstGeom>
          <a:noFill/>
        </p:spPr>
        <p:txBody>
          <a:bodyPr wrap="square" lIns="45720" rIns="45720" anchor="t">
            <a:spAutoFit/>
          </a:bodyPr>
          <a:lstStyle/>
          <a:p>
            <a:pPr algn="ctr">
              <a:spcAft>
                <a:spcPts val="1000"/>
              </a:spcAft>
            </a:pPr>
            <a:r>
              <a:rPr sz="1800" b="1">
                <a:solidFill>
                  <a:srgbClr val="1F2937"/>
                </a:solidFill>
                <a:latin typeface="Calibri"/>
              </a:rPr>
              <a:t>Satellite</a:t>
            </a:r>
          </a:p>
        </p:txBody>
      </p:sp>
      <p:cxnSp>
        <p:nvCxnSpPr>
          <p:cNvPr id="13" name="Connector 12"/>
          <p:cNvCxnSpPr/>
          <p:nvPr/>
        </p:nvCxnSpPr>
        <p:spPr>
          <a:xfrm flipH="1">
            <a:off x="7452360" y="2286000"/>
            <a:ext cx="2286000" cy="1463039"/>
          </a:xfrm>
          <a:prstGeom prst="line">
            <a:avLst/>
          </a:prstGeom>
          <a:ln w="50800">
            <a:solidFill>
              <a:srgbClr val="E8A317"/>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3977639" y="2240280"/>
            <a:ext cx="1280161" cy="1051560"/>
          </a:xfrm>
          <a:prstGeom prst="line">
            <a:avLst/>
          </a:prstGeom>
          <a:ln w="38100">
            <a:solidFill>
              <a:srgbClr val="2E7D4F"/>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503920" y="3566160"/>
            <a:ext cx="3291840" cy="731520"/>
          </a:xfrm>
          <a:prstGeom prst="rect">
            <a:avLst/>
          </a:prstGeom>
          <a:noFill/>
        </p:spPr>
        <p:txBody>
          <a:bodyPr wrap="square" lIns="45720" rIns="45720" anchor="t">
            <a:spAutoFit/>
          </a:bodyPr>
          <a:lstStyle/>
          <a:p>
            <a:pPr algn="l">
              <a:spcAft>
                <a:spcPts val="1000"/>
              </a:spcAft>
            </a:pPr>
            <a:r>
              <a:rPr sz="1800" b="0">
                <a:solidFill>
                  <a:srgbClr val="1F2937"/>
                </a:solidFill>
                <a:latin typeface="Calibri"/>
              </a:rPr>
              <a:t>1. Sunlight shines on the Earth</a:t>
            </a:r>
          </a:p>
        </p:txBody>
      </p:sp>
      <p:sp>
        <p:nvSpPr>
          <p:cNvPr id="16" name="TextBox 15"/>
          <p:cNvSpPr txBox="1"/>
          <p:nvPr/>
        </p:nvSpPr>
        <p:spPr>
          <a:xfrm>
            <a:off x="548640" y="2743200"/>
            <a:ext cx="4114800" cy="1097280"/>
          </a:xfrm>
          <a:prstGeom prst="rect">
            <a:avLst/>
          </a:prstGeom>
          <a:noFill/>
        </p:spPr>
        <p:txBody>
          <a:bodyPr wrap="square" lIns="45720" rIns="45720" anchor="t">
            <a:spAutoFit/>
          </a:bodyPr>
          <a:lstStyle/>
          <a:p>
            <a:pPr algn="l">
              <a:spcAft>
                <a:spcPts val="1000"/>
              </a:spcAft>
            </a:pPr>
            <a:r>
              <a:rPr sz="1800" b="0">
                <a:solidFill>
                  <a:srgbClr val="1F2937"/>
                </a:solidFill>
                <a:latin typeface="Calibri"/>
              </a:rPr>
              <a:t>2. Light bounces off the ground and the satellite's camera catches it</a:t>
            </a:r>
          </a:p>
        </p:txBody>
      </p:sp>
      <p:sp>
        <p:nvSpPr>
          <p:cNvPr id="17" name="Rounded Rectangle 16"/>
          <p:cNvSpPr/>
          <p:nvPr/>
        </p:nvSpPr>
        <p:spPr>
          <a:xfrm>
            <a:off x="548640" y="4206240"/>
            <a:ext cx="3931920" cy="1554480"/>
          </a:xfrm>
          <a:prstGeom prst="roundRect">
            <a:avLst>
              <a:gd name="adj" fmla="val 8000"/>
            </a:avLst>
          </a:prstGeom>
          <a:solidFill>
            <a:srgbClr val="E7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4389120"/>
            <a:ext cx="3474720" cy="365760"/>
          </a:xfrm>
          <a:prstGeom prst="rect">
            <a:avLst/>
          </a:prstGeom>
          <a:noFill/>
        </p:spPr>
        <p:txBody>
          <a:bodyPr wrap="square" lIns="45720" rIns="45720" anchor="t">
            <a:spAutoFit/>
          </a:bodyPr>
          <a:lstStyle/>
          <a:p>
            <a:pPr algn="l">
              <a:spcAft>
                <a:spcPts val="1000"/>
              </a:spcAft>
            </a:pPr>
            <a:r>
              <a:rPr sz="1400" b="1">
                <a:solidFill>
                  <a:srgbClr val="1F6FB2"/>
                </a:solidFill>
                <a:latin typeface="Calibri"/>
              </a:rPr>
              <a:t>SEEING MORE THAN OUR EYES</a:t>
            </a:r>
          </a:p>
        </p:txBody>
      </p:sp>
      <p:sp>
        <p:nvSpPr>
          <p:cNvPr id="19" name="TextBox 18"/>
          <p:cNvSpPr txBox="1"/>
          <p:nvPr/>
        </p:nvSpPr>
        <p:spPr>
          <a:xfrm>
            <a:off x="777240" y="4754879"/>
            <a:ext cx="3474720" cy="868680"/>
          </a:xfrm>
          <a:prstGeom prst="rect">
            <a:avLst/>
          </a:prstGeom>
          <a:noFill/>
        </p:spPr>
        <p:txBody>
          <a:bodyPr wrap="square" lIns="45720" rIns="45720" anchor="t">
            <a:spAutoFit/>
          </a:bodyPr>
          <a:lstStyle/>
          <a:p>
            <a:pPr algn="l">
              <a:spcAft>
                <a:spcPts val="1000"/>
              </a:spcAft>
            </a:pPr>
            <a:r>
              <a:rPr sz="1600" b="0">
                <a:solidFill>
                  <a:srgbClr val="1F2937"/>
                </a:solidFill>
                <a:latin typeface="Calibri"/>
              </a:rPr>
              <a:t>Many satellites also see infrared light. Healthy plants shine brightly in infrared.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822960"/>
          </a:xfrm>
          <a:prstGeom prst="rect">
            <a:avLst/>
          </a:prstGeom>
          <a:noFill/>
        </p:spPr>
        <p:txBody>
          <a:bodyPr wrap="square" lIns="45720" rIns="45720" anchor="t">
            <a:spAutoFit/>
          </a:bodyPr>
          <a:lstStyle/>
          <a:p>
            <a:pPr algn="l">
              <a:spcAft>
                <a:spcPts val="1000"/>
              </a:spcAft>
            </a:pPr>
            <a:r>
              <a:rPr sz="3600" b="1">
                <a:solidFill>
                  <a:srgbClr val="0F2340"/>
                </a:solidFill>
                <a:latin typeface="Calibri"/>
              </a:rPr>
              <a:t>Natural and artificial satellites</a:t>
            </a:r>
          </a:p>
        </p:txBody>
      </p:sp>
      <p:sp>
        <p:nvSpPr>
          <p:cNvPr id="3" name="TextBox 2"/>
          <p:cNvSpPr txBox="1"/>
          <p:nvPr/>
        </p:nvSpPr>
        <p:spPr>
          <a:xfrm>
            <a:off x="548640" y="1234440"/>
            <a:ext cx="11064240" cy="548640"/>
          </a:xfrm>
          <a:prstGeom prst="rect">
            <a:avLst/>
          </a:prstGeom>
          <a:noFill/>
        </p:spPr>
        <p:txBody>
          <a:bodyPr wrap="square" lIns="45720" rIns="45720" anchor="t">
            <a:spAutoFit/>
          </a:bodyPr>
          <a:lstStyle/>
          <a:p>
            <a:pPr algn="l">
              <a:spcAft>
                <a:spcPts val="1000"/>
              </a:spcAft>
            </a:pPr>
            <a:r>
              <a:rPr sz="2200" b="0">
                <a:solidFill>
                  <a:srgbClr val="6B7280"/>
                </a:solidFill>
                <a:latin typeface="Calibri"/>
              </a:rPr>
              <a:t>A satellite is anything that travels around a planet.</a:t>
            </a:r>
          </a:p>
        </p:txBody>
      </p:sp>
      <p:pic>
        <p:nvPicPr>
          <p:cNvPr id="4" name="Picture 3" descr="moon.png"/>
          <p:cNvPicPr>
            <a:picLocks noChangeAspect="1"/>
          </p:cNvPicPr>
          <p:nvPr/>
        </p:nvPicPr>
        <p:blipFill>
          <a:blip r:embed="rId3"/>
          <a:stretch>
            <a:fillRect/>
          </a:stretch>
        </p:blipFill>
        <p:spPr>
          <a:xfrm>
            <a:off x="548640" y="2011680"/>
            <a:ext cx="3110444" cy="3566160"/>
          </a:xfrm>
          <a:prstGeom prst="rect">
            <a:avLst/>
          </a:prstGeom>
          <a:ln w="12700">
            <a:solidFill>
              <a:srgbClr val="D1D5DB"/>
            </a:solidFill>
          </a:ln>
        </p:spPr>
      </p:pic>
      <p:sp>
        <p:nvSpPr>
          <p:cNvPr id="5" name="TextBox 4"/>
          <p:cNvSpPr txBox="1"/>
          <p:nvPr/>
        </p:nvSpPr>
        <p:spPr>
          <a:xfrm>
            <a:off x="548640" y="5669280"/>
            <a:ext cx="3017520" cy="457200"/>
          </a:xfrm>
          <a:prstGeom prst="rect">
            <a:avLst/>
          </a:prstGeom>
          <a:noFill/>
        </p:spPr>
        <p:txBody>
          <a:bodyPr wrap="square" lIns="45720" rIns="45720" anchor="t">
            <a:spAutoFit/>
          </a:bodyPr>
          <a:lstStyle/>
          <a:p>
            <a:pPr algn="l">
              <a:spcAft>
                <a:spcPts val="1000"/>
              </a:spcAft>
            </a:pPr>
            <a:r>
              <a:rPr sz="2000" b="1">
                <a:solidFill>
                  <a:srgbClr val="1F2937"/>
                </a:solidFill>
                <a:latin typeface="Calibri"/>
              </a:rPr>
              <a:t>Natural: the Moon</a:t>
            </a:r>
          </a:p>
        </p:txBody>
      </p:sp>
      <p:pic>
        <p:nvPicPr>
          <p:cNvPr id="6" name="Picture 5" descr="sputnik.png"/>
          <p:cNvPicPr>
            <a:picLocks noChangeAspect="1"/>
          </p:cNvPicPr>
          <p:nvPr/>
        </p:nvPicPr>
        <p:blipFill>
          <a:blip r:embed="rId4"/>
          <a:stretch>
            <a:fillRect/>
          </a:stretch>
        </p:blipFill>
        <p:spPr>
          <a:xfrm>
            <a:off x="3886200" y="2011680"/>
            <a:ext cx="4922114" cy="3566160"/>
          </a:xfrm>
          <a:prstGeom prst="rect">
            <a:avLst/>
          </a:prstGeom>
          <a:ln w="12700">
            <a:solidFill>
              <a:srgbClr val="D1D5DB"/>
            </a:solidFill>
          </a:ln>
        </p:spPr>
      </p:pic>
      <p:sp>
        <p:nvSpPr>
          <p:cNvPr id="7" name="TextBox 6"/>
          <p:cNvSpPr txBox="1"/>
          <p:nvPr/>
        </p:nvSpPr>
        <p:spPr>
          <a:xfrm>
            <a:off x="3886200" y="5669280"/>
            <a:ext cx="4937760" cy="457200"/>
          </a:xfrm>
          <a:prstGeom prst="rect">
            <a:avLst/>
          </a:prstGeom>
          <a:noFill/>
        </p:spPr>
        <p:txBody>
          <a:bodyPr wrap="square" lIns="45720" rIns="45720" anchor="t">
            <a:spAutoFit/>
          </a:bodyPr>
          <a:lstStyle/>
          <a:p>
            <a:pPr algn="l">
              <a:spcAft>
                <a:spcPts val="1000"/>
              </a:spcAft>
            </a:pPr>
            <a:r>
              <a:rPr sz="2000" b="1">
                <a:solidFill>
                  <a:srgbClr val="1F2937"/>
                </a:solidFill>
                <a:latin typeface="Calibri"/>
              </a:rPr>
              <a:t>Artificial: Sputnik-1 (1957)</a:t>
            </a:r>
          </a:p>
        </p:txBody>
      </p:sp>
      <p:sp>
        <p:nvSpPr>
          <p:cNvPr id="8" name="Rounded Rectangle 7"/>
          <p:cNvSpPr/>
          <p:nvPr/>
        </p:nvSpPr>
        <p:spPr>
          <a:xfrm>
            <a:off x="9098280" y="2011680"/>
            <a:ext cx="2560320" cy="2194560"/>
          </a:xfrm>
          <a:prstGeom prst="roundRect">
            <a:avLst>
              <a:gd name="adj" fmla="val 8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0" y="2194560"/>
            <a:ext cx="2103120" cy="365760"/>
          </a:xfrm>
          <a:prstGeom prst="rect">
            <a:avLst/>
          </a:prstGeom>
          <a:noFill/>
        </p:spPr>
        <p:txBody>
          <a:bodyPr wrap="square" lIns="45720" rIns="45720" anchor="t">
            <a:spAutoFit/>
          </a:bodyPr>
          <a:lstStyle/>
          <a:p>
            <a:pPr algn="l">
              <a:spcAft>
                <a:spcPts val="1000"/>
              </a:spcAft>
            </a:pPr>
            <a:r>
              <a:rPr sz="1400" b="1">
                <a:solidFill>
                  <a:srgbClr val="2E7D4F"/>
                </a:solidFill>
                <a:latin typeface="Calibri"/>
              </a:rPr>
              <a:t>FUN FACT</a:t>
            </a:r>
          </a:p>
        </p:txBody>
      </p:sp>
      <p:sp>
        <p:nvSpPr>
          <p:cNvPr id="10" name="TextBox 9"/>
          <p:cNvSpPr txBox="1"/>
          <p:nvPr/>
        </p:nvSpPr>
        <p:spPr>
          <a:xfrm>
            <a:off x="9326880" y="2560320"/>
            <a:ext cx="2103120" cy="1508760"/>
          </a:xfrm>
          <a:prstGeom prst="rect">
            <a:avLst/>
          </a:prstGeom>
          <a:noFill/>
        </p:spPr>
        <p:txBody>
          <a:bodyPr wrap="square" lIns="45720" rIns="45720" anchor="t">
            <a:spAutoFit/>
          </a:bodyPr>
          <a:lstStyle/>
          <a:p>
            <a:pPr algn="l">
              <a:spcAft>
                <a:spcPts val="1000"/>
              </a:spcAft>
            </a:pPr>
            <a:r>
              <a:rPr sz="1800" b="0">
                <a:solidFill>
                  <a:srgbClr val="1F2937"/>
                </a:solidFill>
                <a:latin typeface="Calibri"/>
              </a:rPr>
              <a:t>Sputnik-1 was the first artificial satellite. It was about the size of a beach ball.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822960"/>
          </a:xfrm>
          <a:prstGeom prst="rect">
            <a:avLst/>
          </a:prstGeom>
          <a:noFill/>
        </p:spPr>
        <p:txBody>
          <a:bodyPr wrap="square" lIns="45720" rIns="45720" anchor="t">
            <a:spAutoFit/>
          </a:bodyPr>
          <a:lstStyle/>
          <a:p>
            <a:pPr algn="l">
              <a:spcAft>
                <a:spcPts val="1000"/>
              </a:spcAft>
            </a:pPr>
            <a:r>
              <a:rPr sz="3600" b="1">
                <a:solidFill>
                  <a:srgbClr val="0F2340"/>
                </a:solidFill>
                <a:latin typeface="Calibri"/>
              </a:rPr>
              <a:t>India goes to space</a:t>
            </a:r>
          </a:p>
        </p:txBody>
      </p:sp>
      <p:pic>
        <p:nvPicPr>
          <p:cNvPr id="3" name="Picture 2" descr="sarabhai.png"/>
          <p:cNvPicPr>
            <a:picLocks noChangeAspect="1"/>
          </p:cNvPicPr>
          <p:nvPr/>
        </p:nvPicPr>
        <p:blipFill>
          <a:blip r:embed="rId3"/>
          <a:stretch>
            <a:fillRect/>
          </a:stretch>
        </p:blipFill>
        <p:spPr>
          <a:xfrm>
            <a:off x="548640" y="1371600"/>
            <a:ext cx="2859979" cy="4023360"/>
          </a:xfrm>
          <a:prstGeom prst="rect">
            <a:avLst/>
          </a:prstGeom>
          <a:ln w="12700">
            <a:solidFill>
              <a:srgbClr val="D1D5DB"/>
            </a:solidFill>
          </a:ln>
        </p:spPr>
      </p:pic>
      <p:sp>
        <p:nvSpPr>
          <p:cNvPr id="4" name="TextBox 3"/>
          <p:cNvSpPr txBox="1"/>
          <p:nvPr/>
        </p:nvSpPr>
        <p:spPr>
          <a:xfrm>
            <a:off x="548640" y="5440680"/>
            <a:ext cx="3108960" cy="365760"/>
          </a:xfrm>
          <a:prstGeom prst="rect">
            <a:avLst/>
          </a:prstGeom>
          <a:noFill/>
        </p:spPr>
        <p:txBody>
          <a:bodyPr wrap="square" lIns="45720" rIns="45720" anchor="t">
            <a:spAutoFit/>
          </a:bodyPr>
          <a:lstStyle/>
          <a:p>
            <a:pPr algn="l">
              <a:spcAft>
                <a:spcPts val="1000"/>
              </a:spcAft>
            </a:pPr>
            <a:r>
              <a:rPr sz="1200" b="0">
                <a:solidFill>
                  <a:srgbClr val="6B7280"/>
                </a:solidFill>
                <a:latin typeface="Calibri"/>
              </a:rPr>
              <a:t>Dr Vikram Sarabhai, father of the Indian space programme</a:t>
            </a:r>
          </a:p>
        </p:txBody>
      </p:sp>
      <p:sp>
        <p:nvSpPr>
          <p:cNvPr id="5" name="Rectangle 4"/>
          <p:cNvSpPr/>
          <p:nvPr/>
        </p:nvSpPr>
        <p:spPr>
          <a:xfrm>
            <a:off x="4407407" y="1600200"/>
            <a:ext cx="54864" cy="420624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4288536" y="1499616"/>
            <a:ext cx="292608" cy="292608"/>
          </a:xfrm>
          <a:prstGeom prst="ellipse">
            <a:avLst/>
          </a:prstGeom>
          <a:solidFill>
            <a:srgbClr val="2E7D4F"/>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846320" y="1371600"/>
            <a:ext cx="1005840" cy="502920"/>
          </a:xfrm>
          <a:prstGeom prst="rect">
            <a:avLst/>
          </a:prstGeom>
          <a:noFill/>
        </p:spPr>
        <p:txBody>
          <a:bodyPr wrap="square" lIns="45720" rIns="45720" anchor="t">
            <a:spAutoFit/>
          </a:bodyPr>
          <a:lstStyle/>
          <a:p>
            <a:pPr algn="l">
              <a:spcAft>
                <a:spcPts val="1000"/>
              </a:spcAft>
            </a:pPr>
            <a:r>
              <a:rPr sz="2200" b="1">
                <a:solidFill>
                  <a:srgbClr val="2E7D4F"/>
                </a:solidFill>
                <a:latin typeface="Calibri"/>
              </a:rPr>
              <a:t>1962</a:t>
            </a:r>
          </a:p>
        </p:txBody>
      </p:sp>
      <p:sp>
        <p:nvSpPr>
          <p:cNvPr id="8" name="TextBox 7"/>
          <p:cNvSpPr txBox="1"/>
          <p:nvPr/>
        </p:nvSpPr>
        <p:spPr>
          <a:xfrm>
            <a:off x="5897880" y="1389888"/>
            <a:ext cx="5760720" cy="822960"/>
          </a:xfrm>
          <a:prstGeom prst="rect">
            <a:avLst/>
          </a:prstGeom>
          <a:noFill/>
        </p:spPr>
        <p:txBody>
          <a:bodyPr wrap="square" lIns="45720" rIns="45720" anchor="t">
            <a:spAutoFit/>
          </a:bodyPr>
          <a:lstStyle/>
          <a:p>
            <a:pPr algn="l">
              <a:spcAft>
                <a:spcPts val="1000"/>
              </a:spcAft>
            </a:pPr>
            <a:r>
              <a:rPr sz="2000" b="0">
                <a:solidFill>
                  <a:srgbClr val="1F2937"/>
                </a:solidFill>
                <a:latin typeface="Calibri"/>
              </a:rPr>
              <a:t>INCOSPAR is set up, led by Dr Vikram Sarabhai</a:t>
            </a:r>
          </a:p>
        </p:txBody>
      </p:sp>
      <p:sp>
        <p:nvSpPr>
          <p:cNvPr id="9" name="Oval 8"/>
          <p:cNvSpPr/>
          <p:nvPr/>
        </p:nvSpPr>
        <p:spPr>
          <a:xfrm>
            <a:off x="4288536" y="2414015"/>
            <a:ext cx="292608" cy="292608"/>
          </a:xfrm>
          <a:prstGeom prst="ellipse">
            <a:avLst/>
          </a:prstGeom>
          <a:solidFill>
            <a:srgbClr val="2E7D4F"/>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846320" y="2286000"/>
            <a:ext cx="1005840" cy="502920"/>
          </a:xfrm>
          <a:prstGeom prst="rect">
            <a:avLst/>
          </a:prstGeom>
          <a:noFill/>
        </p:spPr>
        <p:txBody>
          <a:bodyPr wrap="square" lIns="45720" rIns="45720" anchor="t">
            <a:spAutoFit/>
          </a:bodyPr>
          <a:lstStyle/>
          <a:p>
            <a:pPr algn="l">
              <a:spcAft>
                <a:spcPts val="1000"/>
              </a:spcAft>
            </a:pPr>
            <a:r>
              <a:rPr sz="2200" b="1">
                <a:solidFill>
                  <a:srgbClr val="2E7D4F"/>
                </a:solidFill>
                <a:latin typeface="Calibri"/>
              </a:rPr>
              <a:t>1963</a:t>
            </a:r>
          </a:p>
        </p:txBody>
      </p:sp>
      <p:sp>
        <p:nvSpPr>
          <p:cNvPr id="11" name="TextBox 10"/>
          <p:cNvSpPr txBox="1"/>
          <p:nvPr/>
        </p:nvSpPr>
        <p:spPr>
          <a:xfrm>
            <a:off x="5897880" y="2304288"/>
            <a:ext cx="5760720" cy="822960"/>
          </a:xfrm>
          <a:prstGeom prst="rect">
            <a:avLst/>
          </a:prstGeom>
          <a:noFill/>
        </p:spPr>
        <p:txBody>
          <a:bodyPr wrap="square" lIns="45720" rIns="45720" anchor="t">
            <a:spAutoFit/>
          </a:bodyPr>
          <a:lstStyle/>
          <a:p>
            <a:pPr algn="l">
              <a:spcAft>
                <a:spcPts val="1000"/>
              </a:spcAft>
            </a:pPr>
            <a:r>
              <a:rPr sz="2000" b="0">
                <a:solidFill>
                  <a:srgbClr val="1F2937"/>
                </a:solidFill>
                <a:latin typeface="Calibri"/>
              </a:rPr>
              <a:t>First rocket launch from Thumba, Kerala</a:t>
            </a:r>
          </a:p>
        </p:txBody>
      </p:sp>
      <p:sp>
        <p:nvSpPr>
          <p:cNvPr id="12" name="Oval 11"/>
          <p:cNvSpPr/>
          <p:nvPr/>
        </p:nvSpPr>
        <p:spPr>
          <a:xfrm>
            <a:off x="4288536" y="3328415"/>
            <a:ext cx="292608" cy="292608"/>
          </a:xfrm>
          <a:prstGeom prst="ellipse">
            <a:avLst/>
          </a:prstGeom>
          <a:solidFill>
            <a:srgbClr val="2E7D4F"/>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46320" y="3200400"/>
            <a:ext cx="1005840" cy="502920"/>
          </a:xfrm>
          <a:prstGeom prst="rect">
            <a:avLst/>
          </a:prstGeom>
          <a:noFill/>
        </p:spPr>
        <p:txBody>
          <a:bodyPr wrap="square" lIns="45720" rIns="45720" anchor="t">
            <a:spAutoFit/>
          </a:bodyPr>
          <a:lstStyle/>
          <a:p>
            <a:pPr algn="l">
              <a:spcAft>
                <a:spcPts val="1000"/>
              </a:spcAft>
            </a:pPr>
            <a:r>
              <a:rPr sz="2200" b="1">
                <a:solidFill>
                  <a:srgbClr val="2E7D4F"/>
                </a:solidFill>
                <a:latin typeface="Calibri"/>
              </a:rPr>
              <a:t>1969</a:t>
            </a:r>
          </a:p>
        </p:txBody>
      </p:sp>
      <p:sp>
        <p:nvSpPr>
          <p:cNvPr id="14" name="TextBox 13"/>
          <p:cNvSpPr txBox="1"/>
          <p:nvPr/>
        </p:nvSpPr>
        <p:spPr>
          <a:xfrm>
            <a:off x="5897880" y="3218688"/>
            <a:ext cx="5760720" cy="822960"/>
          </a:xfrm>
          <a:prstGeom prst="rect">
            <a:avLst/>
          </a:prstGeom>
          <a:noFill/>
        </p:spPr>
        <p:txBody>
          <a:bodyPr wrap="square" lIns="45720" rIns="45720" anchor="t">
            <a:spAutoFit/>
          </a:bodyPr>
          <a:lstStyle/>
          <a:p>
            <a:pPr algn="l">
              <a:spcAft>
                <a:spcPts val="1000"/>
              </a:spcAft>
            </a:pPr>
            <a:r>
              <a:rPr sz="2000" b="0">
                <a:solidFill>
                  <a:srgbClr val="1F2937"/>
                </a:solidFill>
                <a:latin typeface="Calibri"/>
              </a:rPr>
              <a:t>ISRO, the Indian Space Research Organisation, is formed</a:t>
            </a:r>
          </a:p>
        </p:txBody>
      </p:sp>
      <p:sp>
        <p:nvSpPr>
          <p:cNvPr id="15" name="Oval 14"/>
          <p:cNvSpPr/>
          <p:nvPr/>
        </p:nvSpPr>
        <p:spPr>
          <a:xfrm>
            <a:off x="4288536" y="4242816"/>
            <a:ext cx="292608" cy="292608"/>
          </a:xfrm>
          <a:prstGeom prst="ellipse">
            <a:avLst/>
          </a:prstGeom>
          <a:solidFill>
            <a:srgbClr val="2E7D4F"/>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46320" y="4114800"/>
            <a:ext cx="1005840" cy="502920"/>
          </a:xfrm>
          <a:prstGeom prst="rect">
            <a:avLst/>
          </a:prstGeom>
          <a:noFill/>
        </p:spPr>
        <p:txBody>
          <a:bodyPr wrap="square" lIns="45720" rIns="45720" anchor="t">
            <a:spAutoFit/>
          </a:bodyPr>
          <a:lstStyle/>
          <a:p>
            <a:pPr algn="l">
              <a:spcAft>
                <a:spcPts val="1000"/>
              </a:spcAft>
            </a:pPr>
            <a:r>
              <a:rPr sz="2200" b="1">
                <a:solidFill>
                  <a:srgbClr val="2E7D4F"/>
                </a:solidFill>
                <a:latin typeface="Calibri"/>
              </a:rPr>
              <a:t>1975</a:t>
            </a:r>
          </a:p>
        </p:txBody>
      </p:sp>
      <p:sp>
        <p:nvSpPr>
          <p:cNvPr id="17" name="TextBox 16"/>
          <p:cNvSpPr txBox="1"/>
          <p:nvPr/>
        </p:nvSpPr>
        <p:spPr>
          <a:xfrm>
            <a:off x="5897880" y="4133087"/>
            <a:ext cx="5760720" cy="822960"/>
          </a:xfrm>
          <a:prstGeom prst="rect">
            <a:avLst/>
          </a:prstGeom>
          <a:noFill/>
        </p:spPr>
        <p:txBody>
          <a:bodyPr wrap="square" lIns="45720" rIns="45720" anchor="t">
            <a:spAutoFit/>
          </a:bodyPr>
          <a:lstStyle/>
          <a:p>
            <a:pPr algn="l">
              <a:spcAft>
                <a:spcPts val="1000"/>
              </a:spcAft>
            </a:pPr>
            <a:r>
              <a:rPr sz="2000" b="0">
                <a:solidFill>
                  <a:srgbClr val="1F2937"/>
                </a:solidFill>
                <a:latin typeface="Calibri"/>
              </a:rPr>
              <a:t>Aryabhata, India's first satellite, goes to space</a:t>
            </a:r>
          </a:p>
        </p:txBody>
      </p:sp>
      <p:sp>
        <p:nvSpPr>
          <p:cNvPr id="18" name="Oval 17"/>
          <p:cNvSpPr/>
          <p:nvPr/>
        </p:nvSpPr>
        <p:spPr>
          <a:xfrm>
            <a:off x="4288536" y="5157216"/>
            <a:ext cx="292608" cy="292608"/>
          </a:xfrm>
          <a:prstGeom prst="ellipse">
            <a:avLst/>
          </a:prstGeom>
          <a:solidFill>
            <a:srgbClr val="E8A31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846320" y="5029200"/>
            <a:ext cx="1005840" cy="502920"/>
          </a:xfrm>
          <a:prstGeom prst="rect">
            <a:avLst/>
          </a:prstGeom>
          <a:noFill/>
        </p:spPr>
        <p:txBody>
          <a:bodyPr wrap="square" lIns="45720" rIns="45720" anchor="t">
            <a:spAutoFit/>
          </a:bodyPr>
          <a:lstStyle/>
          <a:p>
            <a:pPr algn="l">
              <a:spcAft>
                <a:spcPts val="1000"/>
              </a:spcAft>
            </a:pPr>
            <a:r>
              <a:rPr sz="2200" b="1">
                <a:solidFill>
                  <a:srgbClr val="2E7D4F"/>
                </a:solidFill>
                <a:latin typeface="Calibri"/>
              </a:rPr>
              <a:t>2023</a:t>
            </a:r>
          </a:p>
        </p:txBody>
      </p:sp>
      <p:sp>
        <p:nvSpPr>
          <p:cNvPr id="20" name="TextBox 19"/>
          <p:cNvSpPr txBox="1"/>
          <p:nvPr/>
        </p:nvSpPr>
        <p:spPr>
          <a:xfrm>
            <a:off x="5897880" y="5047488"/>
            <a:ext cx="5760720" cy="822960"/>
          </a:xfrm>
          <a:prstGeom prst="rect">
            <a:avLst/>
          </a:prstGeom>
          <a:noFill/>
        </p:spPr>
        <p:txBody>
          <a:bodyPr wrap="square" lIns="45720" rIns="45720" anchor="t">
            <a:spAutoFit/>
          </a:bodyPr>
          <a:lstStyle/>
          <a:p>
            <a:pPr algn="l">
              <a:spcAft>
                <a:spcPts val="1000"/>
              </a:spcAft>
            </a:pPr>
            <a:r>
              <a:rPr sz="2000" b="0">
                <a:solidFill>
                  <a:srgbClr val="1F2937"/>
                </a:solidFill>
                <a:latin typeface="Calibri"/>
              </a:rPr>
              <a:t>Chandrayaan-3 lands near the Moon's south pole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822960"/>
          </a:xfrm>
          <a:prstGeom prst="rect">
            <a:avLst/>
          </a:prstGeom>
          <a:noFill/>
        </p:spPr>
        <p:txBody>
          <a:bodyPr wrap="square" lIns="45720" rIns="45720" anchor="t">
            <a:spAutoFit/>
          </a:bodyPr>
          <a:lstStyle/>
          <a:p>
            <a:pPr algn="l">
              <a:spcAft>
                <a:spcPts val="1000"/>
              </a:spcAft>
            </a:pPr>
            <a:r>
              <a:rPr sz="3600" b="1">
                <a:solidFill>
                  <a:srgbClr val="0F2340"/>
                </a:solidFill>
                <a:latin typeface="Calibri"/>
              </a:rPr>
              <a:t>What can you spot from space?</a:t>
            </a:r>
          </a:p>
        </p:txBody>
      </p:sp>
      <p:pic>
        <p:nvPicPr>
          <p:cNvPr id="3" name="Picture 2" descr="devanahalli_fort.png"/>
          <p:cNvPicPr>
            <a:picLocks noChangeAspect="1"/>
          </p:cNvPicPr>
          <p:nvPr/>
        </p:nvPicPr>
        <p:blipFill>
          <a:blip r:embed="rId3"/>
          <a:stretch>
            <a:fillRect/>
          </a:stretch>
        </p:blipFill>
        <p:spPr>
          <a:xfrm>
            <a:off x="548640" y="1280160"/>
            <a:ext cx="7699022" cy="5029200"/>
          </a:xfrm>
          <a:prstGeom prst="rect">
            <a:avLst/>
          </a:prstGeom>
          <a:ln w="12700">
            <a:solidFill>
              <a:srgbClr val="D1D5DB"/>
            </a:solidFill>
          </a:ln>
        </p:spPr>
      </p:pic>
      <p:sp>
        <p:nvSpPr>
          <p:cNvPr id="4" name="TextBox 3"/>
          <p:cNvSpPr txBox="1"/>
          <p:nvPr/>
        </p:nvSpPr>
        <p:spPr>
          <a:xfrm>
            <a:off x="8503920" y="1371600"/>
            <a:ext cx="3200400" cy="457200"/>
          </a:xfrm>
          <a:prstGeom prst="rect">
            <a:avLst/>
          </a:prstGeom>
          <a:noFill/>
        </p:spPr>
        <p:txBody>
          <a:bodyPr wrap="square" lIns="45720" rIns="45720" anchor="t">
            <a:spAutoFit/>
          </a:bodyPr>
          <a:lstStyle/>
          <a:p>
            <a:pPr algn="l">
              <a:spcAft>
                <a:spcPts val="1000"/>
              </a:spcAft>
            </a:pPr>
            <a:r>
              <a:rPr sz="2000" b="1">
                <a:solidFill>
                  <a:srgbClr val="1F2937"/>
                </a:solidFill>
                <a:latin typeface="Calibri"/>
              </a:rPr>
              <a:t>Devanahalli Fort, near Bengaluru</a:t>
            </a:r>
          </a:p>
        </p:txBody>
      </p:sp>
      <p:sp>
        <p:nvSpPr>
          <p:cNvPr id="5" name="TextBox 4"/>
          <p:cNvSpPr txBox="1"/>
          <p:nvPr/>
        </p:nvSpPr>
        <p:spPr>
          <a:xfrm>
            <a:off x="8503920" y="2103120"/>
            <a:ext cx="3200400" cy="2743200"/>
          </a:xfrm>
          <a:prstGeom prst="rect">
            <a:avLst/>
          </a:prstGeom>
          <a:noFill/>
        </p:spPr>
        <p:txBody>
          <a:bodyPr wrap="square" lIns="45720" rIns="45720" anchor="t">
            <a:spAutoFit/>
          </a:bodyPr>
          <a:lstStyle/>
          <a:p>
            <a:pPr marL="320040" indent="-274320" algn="l">
              <a:spcAft>
                <a:spcPts val="1000"/>
              </a:spcAft>
              <a:buChar char="•"/>
            </a:pPr>
            <a:r>
              <a:rPr sz="2000" b="0">
                <a:solidFill>
                  <a:srgbClr val="1F2937"/>
                </a:solidFill>
                <a:latin typeface="Calibri"/>
              </a:rPr>
              <a:t>The fort walls</a:t>
            </a:r>
          </a:p>
          <a:p>
            <a:pPr marL="320040" indent="-274320" algn="l">
              <a:spcAft>
                <a:spcPts val="1000"/>
              </a:spcAft>
              <a:buChar char="•"/>
            </a:pPr>
            <a:r>
              <a:rPr sz="2000" b="0">
                <a:solidFill>
                  <a:srgbClr val="1F2937"/>
                </a:solidFill>
                <a:latin typeface="Calibri"/>
              </a:rPr>
              <a:t>A highway</a:t>
            </a:r>
          </a:p>
          <a:p>
            <a:pPr marL="320040" indent="-274320" algn="l">
              <a:spcAft>
                <a:spcPts val="1000"/>
              </a:spcAft>
              <a:buChar char="•"/>
            </a:pPr>
            <a:r>
              <a:rPr sz="2000" b="0">
                <a:solidFill>
                  <a:srgbClr val="1F2937"/>
                </a:solidFill>
                <a:latin typeface="Calibri"/>
              </a:rPr>
              <a:t>Houses and streets</a:t>
            </a:r>
          </a:p>
          <a:p>
            <a:pPr marL="320040" indent="-274320" algn="l">
              <a:spcAft>
                <a:spcPts val="1000"/>
              </a:spcAft>
              <a:buChar char="•"/>
            </a:pPr>
            <a:r>
              <a:rPr sz="2000" b="0">
                <a:solidFill>
                  <a:srgbClr val="1F2937"/>
                </a:solidFill>
                <a:latin typeface="Calibri"/>
              </a:rPr>
              <a:t>Open fields</a:t>
            </a:r>
          </a:p>
        </p:txBody>
      </p:sp>
      <p:sp>
        <p:nvSpPr>
          <p:cNvPr id="6" name="TextBox 5"/>
          <p:cNvSpPr txBox="1"/>
          <p:nvPr/>
        </p:nvSpPr>
        <p:spPr>
          <a:xfrm>
            <a:off x="8503920" y="5852160"/>
            <a:ext cx="3200400" cy="365760"/>
          </a:xfrm>
          <a:prstGeom prst="rect">
            <a:avLst/>
          </a:prstGeom>
          <a:noFill/>
        </p:spPr>
        <p:txBody>
          <a:bodyPr wrap="square" lIns="45720" rIns="45720" anchor="t">
            <a:spAutoFit/>
          </a:bodyPr>
          <a:lstStyle/>
          <a:p>
            <a:pPr algn="l">
              <a:spcAft>
                <a:spcPts val="1000"/>
              </a:spcAft>
            </a:pPr>
            <a:r>
              <a:rPr sz="1200" b="0">
                <a:solidFill>
                  <a:srgbClr val="6B7280"/>
                </a:solidFill>
                <a:latin typeface="Calibri"/>
              </a:rPr>
              <a:t>Satellite image: Google Earth, Maxar 2021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822960"/>
          </a:xfrm>
          <a:prstGeom prst="rect">
            <a:avLst/>
          </a:prstGeom>
          <a:noFill/>
        </p:spPr>
        <p:txBody>
          <a:bodyPr wrap="square" lIns="45720" rIns="45720" anchor="t">
            <a:spAutoFit/>
          </a:bodyPr>
          <a:lstStyle/>
          <a:p>
            <a:pPr algn="l">
              <a:spcAft>
                <a:spcPts val="1000"/>
              </a:spcAft>
            </a:pPr>
            <a:r>
              <a:rPr sz="3600" b="1">
                <a:solidFill>
                  <a:srgbClr val="0F2340"/>
                </a:solidFill>
                <a:latin typeface="Calibri"/>
              </a:rPr>
              <a:t>Satellites show how places change</a:t>
            </a:r>
          </a:p>
        </p:txBody>
      </p:sp>
      <p:pic>
        <p:nvPicPr>
          <p:cNvPr id="3" name="Picture 2" descr="change.png"/>
          <p:cNvPicPr>
            <a:picLocks noChangeAspect="1"/>
          </p:cNvPicPr>
          <p:nvPr/>
        </p:nvPicPr>
        <p:blipFill>
          <a:blip r:embed="rId3"/>
          <a:stretch>
            <a:fillRect/>
          </a:stretch>
        </p:blipFill>
        <p:spPr>
          <a:xfrm>
            <a:off x="548640" y="1371600"/>
            <a:ext cx="5354225" cy="3383280"/>
          </a:xfrm>
          <a:prstGeom prst="rect">
            <a:avLst/>
          </a:prstGeom>
          <a:ln w="12700">
            <a:solidFill>
              <a:srgbClr val="D1D5DB"/>
            </a:solidFill>
          </a:ln>
        </p:spPr>
      </p:pic>
      <p:sp>
        <p:nvSpPr>
          <p:cNvPr id="4" name="Rounded Rectangle 3"/>
          <p:cNvSpPr/>
          <p:nvPr/>
        </p:nvSpPr>
        <p:spPr>
          <a:xfrm>
            <a:off x="685800" y="1508760"/>
            <a:ext cx="667512" cy="411480"/>
          </a:xfrm>
          <a:prstGeom prst="roundRect">
            <a:avLst/>
          </a:prstGeom>
          <a:solidFill>
            <a:srgbClr val="0F2340"/>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600" b="1">
                <a:solidFill>
                  <a:srgbClr val="FFFFFF"/>
                </a:solidFill>
                <a:latin typeface="Calibri"/>
              </a:rPr>
              <a:t>2011</a:t>
            </a:r>
          </a:p>
        </p:txBody>
      </p:sp>
      <p:pic>
        <p:nvPicPr>
          <p:cNvPr id="5" name="Picture 4" descr="tnh_apmc.png"/>
          <p:cNvPicPr>
            <a:picLocks noChangeAspect="1"/>
          </p:cNvPicPr>
          <p:nvPr/>
        </p:nvPicPr>
        <p:blipFill>
          <a:blip r:embed="rId4"/>
          <a:stretch>
            <a:fillRect/>
          </a:stretch>
        </p:blipFill>
        <p:spPr>
          <a:xfrm>
            <a:off x="6263640" y="1371600"/>
            <a:ext cx="5415343" cy="3383280"/>
          </a:xfrm>
          <a:prstGeom prst="rect">
            <a:avLst/>
          </a:prstGeom>
          <a:ln w="12700">
            <a:solidFill>
              <a:srgbClr val="D1D5DB"/>
            </a:solidFill>
          </a:ln>
        </p:spPr>
      </p:pic>
      <p:sp>
        <p:nvSpPr>
          <p:cNvPr id="6" name="Rounded Rectangle 5"/>
          <p:cNvSpPr/>
          <p:nvPr/>
        </p:nvSpPr>
        <p:spPr>
          <a:xfrm>
            <a:off x="6400800" y="1508760"/>
            <a:ext cx="667512" cy="411480"/>
          </a:xfrm>
          <a:prstGeom prst="roundRect">
            <a:avLst/>
          </a:prstGeom>
          <a:solidFill>
            <a:srgbClr val="0F2340"/>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600" b="1">
                <a:solidFill>
                  <a:srgbClr val="FFFFFF"/>
                </a:solidFill>
                <a:latin typeface="Calibri"/>
              </a:rPr>
              <a:t>2021</a:t>
            </a:r>
          </a:p>
        </p:txBody>
      </p:sp>
      <p:sp>
        <p:nvSpPr>
          <p:cNvPr id="7" name="TextBox 6"/>
          <p:cNvSpPr txBox="1"/>
          <p:nvPr/>
        </p:nvSpPr>
        <p:spPr>
          <a:xfrm>
            <a:off x="548640" y="4937760"/>
            <a:ext cx="11064240" cy="548640"/>
          </a:xfrm>
          <a:prstGeom prst="rect">
            <a:avLst/>
          </a:prstGeom>
          <a:noFill/>
        </p:spPr>
        <p:txBody>
          <a:bodyPr wrap="square" lIns="45720" rIns="45720" anchor="t">
            <a:spAutoFit/>
          </a:bodyPr>
          <a:lstStyle/>
          <a:p>
            <a:pPr algn="l">
              <a:spcAft>
                <a:spcPts val="1000"/>
              </a:spcAft>
            </a:pPr>
            <a:r>
              <a:rPr sz="2200" b="1">
                <a:solidFill>
                  <a:srgbClr val="1F2937"/>
                </a:solidFill>
                <a:latin typeface="Calibri"/>
              </a:rPr>
              <a:t>The same neighbourhood near Bengaluru, ten years apart. What changed?</a:t>
            </a:r>
          </a:p>
        </p:txBody>
      </p:sp>
      <p:sp>
        <p:nvSpPr>
          <p:cNvPr id="8" name="TextBox 7"/>
          <p:cNvSpPr txBox="1"/>
          <p:nvPr/>
        </p:nvSpPr>
        <p:spPr>
          <a:xfrm>
            <a:off x="548640" y="5532120"/>
            <a:ext cx="11064240" cy="457200"/>
          </a:xfrm>
          <a:prstGeom prst="rect">
            <a:avLst/>
          </a:prstGeom>
          <a:noFill/>
        </p:spPr>
        <p:txBody>
          <a:bodyPr wrap="square" lIns="45720" rIns="45720" anchor="t">
            <a:spAutoFit/>
          </a:bodyPr>
          <a:lstStyle/>
          <a:p>
            <a:pPr algn="l">
              <a:spcAft>
                <a:spcPts val="1000"/>
              </a:spcAft>
            </a:pPr>
            <a:r>
              <a:rPr sz="1800" b="0">
                <a:solidFill>
                  <a:srgbClr val="1F6FB2"/>
                </a:solidFill>
                <a:latin typeface="Calibri"/>
              </a:rPr>
              <a:t>Try it yourself: earthengine.google.com/timelapse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822960"/>
          </a:xfrm>
          <a:prstGeom prst="rect">
            <a:avLst/>
          </a:prstGeom>
          <a:noFill/>
        </p:spPr>
        <p:txBody>
          <a:bodyPr wrap="square" lIns="45720" rIns="45720" anchor="t">
            <a:spAutoFit/>
          </a:bodyPr>
          <a:lstStyle/>
          <a:p>
            <a:pPr algn="l">
              <a:spcAft>
                <a:spcPts val="1000"/>
              </a:spcAft>
            </a:pPr>
            <a:r>
              <a:rPr sz="3600" b="1">
                <a:solidFill>
                  <a:srgbClr val="0F2340"/>
                </a:solidFill>
                <a:latin typeface="Calibri"/>
              </a:rPr>
              <a:t>This is called land cover change</a:t>
            </a:r>
          </a:p>
        </p:txBody>
      </p:sp>
      <p:sp>
        <p:nvSpPr>
          <p:cNvPr id="3" name="TextBox 2"/>
          <p:cNvSpPr txBox="1"/>
          <p:nvPr/>
        </p:nvSpPr>
        <p:spPr>
          <a:xfrm>
            <a:off x="548640" y="1234440"/>
            <a:ext cx="11064240" cy="914400"/>
          </a:xfrm>
          <a:prstGeom prst="rect">
            <a:avLst/>
          </a:prstGeom>
          <a:noFill/>
        </p:spPr>
        <p:txBody>
          <a:bodyPr wrap="square" lIns="45720" rIns="45720" anchor="t">
            <a:spAutoFit/>
          </a:bodyPr>
          <a:lstStyle/>
          <a:p>
            <a:pPr algn="l">
              <a:spcAft>
                <a:spcPts val="1000"/>
              </a:spcAft>
            </a:pPr>
            <a:r>
              <a:rPr sz="2200" b="0">
                <a:solidFill>
                  <a:srgbClr val="1F2937"/>
                </a:solidFill>
                <a:latin typeface="Calibri"/>
              </a:rPr>
              <a:t>Land cover is whatever covers the ground. When it changes over the years, we call it land cover change.</a:t>
            </a:r>
          </a:p>
        </p:txBody>
      </p:sp>
      <p:sp>
        <p:nvSpPr>
          <p:cNvPr id="4" name="Rounded Rectangle 3"/>
          <p:cNvSpPr/>
          <p:nvPr/>
        </p:nvSpPr>
        <p:spPr>
          <a:xfrm>
            <a:off x="548640" y="2377440"/>
            <a:ext cx="548640" cy="548640"/>
          </a:xfrm>
          <a:prstGeom prst="roundRect">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280160" y="2450592"/>
            <a:ext cx="2743200" cy="457200"/>
          </a:xfrm>
          <a:prstGeom prst="rect">
            <a:avLst/>
          </a:prstGeom>
          <a:noFill/>
        </p:spPr>
        <p:txBody>
          <a:bodyPr wrap="square" lIns="45720" rIns="45720" anchor="t">
            <a:spAutoFit/>
          </a:bodyPr>
          <a:lstStyle/>
          <a:p>
            <a:pPr algn="l">
              <a:spcAft>
                <a:spcPts val="1000"/>
              </a:spcAft>
            </a:pPr>
            <a:r>
              <a:rPr sz="2000" b="1">
                <a:solidFill>
                  <a:srgbClr val="1F2937"/>
                </a:solidFill>
                <a:latin typeface="Calibri"/>
              </a:rPr>
              <a:t>Built-up</a:t>
            </a:r>
          </a:p>
        </p:txBody>
      </p:sp>
      <p:sp>
        <p:nvSpPr>
          <p:cNvPr id="6" name="Rounded Rectangle 5"/>
          <p:cNvSpPr/>
          <p:nvPr/>
        </p:nvSpPr>
        <p:spPr>
          <a:xfrm>
            <a:off x="548640" y="3154680"/>
            <a:ext cx="548640" cy="548640"/>
          </a:xfrm>
          <a:prstGeom prst="round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80160" y="3227832"/>
            <a:ext cx="2743200" cy="457200"/>
          </a:xfrm>
          <a:prstGeom prst="rect">
            <a:avLst/>
          </a:prstGeom>
          <a:noFill/>
        </p:spPr>
        <p:txBody>
          <a:bodyPr wrap="square" lIns="45720" rIns="45720" anchor="t">
            <a:spAutoFit/>
          </a:bodyPr>
          <a:lstStyle/>
          <a:p>
            <a:pPr algn="l">
              <a:spcAft>
                <a:spcPts val="1000"/>
              </a:spcAft>
            </a:pPr>
            <a:r>
              <a:rPr sz="2000" b="1">
                <a:solidFill>
                  <a:srgbClr val="1F2937"/>
                </a:solidFill>
                <a:latin typeface="Calibri"/>
              </a:rPr>
              <a:t>Vegetation</a:t>
            </a:r>
          </a:p>
        </p:txBody>
      </p:sp>
      <p:sp>
        <p:nvSpPr>
          <p:cNvPr id="8" name="Rounded Rectangle 7"/>
          <p:cNvSpPr/>
          <p:nvPr/>
        </p:nvSpPr>
        <p:spPr>
          <a:xfrm>
            <a:off x="548640" y="3931920"/>
            <a:ext cx="548640" cy="548640"/>
          </a:xfrm>
          <a:prstGeom prst="round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80160" y="4005072"/>
            <a:ext cx="2743200" cy="457200"/>
          </a:xfrm>
          <a:prstGeom prst="rect">
            <a:avLst/>
          </a:prstGeom>
          <a:noFill/>
        </p:spPr>
        <p:txBody>
          <a:bodyPr wrap="square" lIns="45720" rIns="45720" anchor="t">
            <a:spAutoFit/>
          </a:bodyPr>
          <a:lstStyle/>
          <a:p>
            <a:pPr algn="l">
              <a:spcAft>
                <a:spcPts val="1000"/>
              </a:spcAft>
            </a:pPr>
            <a:r>
              <a:rPr sz="2000" b="1">
                <a:solidFill>
                  <a:srgbClr val="1F2937"/>
                </a:solidFill>
                <a:latin typeface="Calibri"/>
              </a:rPr>
              <a:t>Water</a:t>
            </a:r>
          </a:p>
        </p:txBody>
      </p:sp>
      <p:sp>
        <p:nvSpPr>
          <p:cNvPr id="10" name="Rounded Rectangle 9"/>
          <p:cNvSpPr/>
          <p:nvPr/>
        </p:nvSpPr>
        <p:spPr>
          <a:xfrm>
            <a:off x="548640" y="4709159"/>
            <a:ext cx="548640" cy="548640"/>
          </a:xfrm>
          <a:prstGeom prst="roundRect">
            <a:avLst/>
          </a:prstGeom>
          <a:solidFill>
            <a:srgbClr val="C8A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80160" y="4782312"/>
            <a:ext cx="2743200" cy="457200"/>
          </a:xfrm>
          <a:prstGeom prst="rect">
            <a:avLst/>
          </a:prstGeom>
          <a:noFill/>
        </p:spPr>
        <p:txBody>
          <a:bodyPr wrap="square" lIns="45720" rIns="45720" anchor="t">
            <a:spAutoFit/>
          </a:bodyPr>
          <a:lstStyle/>
          <a:p>
            <a:pPr algn="l">
              <a:spcAft>
                <a:spcPts val="1000"/>
              </a:spcAft>
            </a:pPr>
            <a:r>
              <a:rPr sz="2000" b="1">
                <a:solidFill>
                  <a:srgbClr val="1F2937"/>
                </a:solidFill>
                <a:latin typeface="Calibri"/>
              </a:rPr>
              <a:t>Open land</a:t>
            </a:r>
          </a:p>
        </p:txBody>
      </p:sp>
      <p:sp>
        <p:nvSpPr>
          <p:cNvPr id="12" name="TextBox 11"/>
          <p:cNvSpPr txBox="1"/>
          <p:nvPr/>
        </p:nvSpPr>
        <p:spPr>
          <a:xfrm>
            <a:off x="4572000" y="2240280"/>
            <a:ext cx="6858000" cy="457200"/>
          </a:xfrm>
          <a:prstGeom prst="rect">
            <a:avLst/>
          </a:prstGeom>
          <a:noFill/>
        </p:spPr>
        <p:txBody>
          <a:bodyPr wrap="square" lIns="45720" rIns="45720" anchor="t">
            <a:spAutoFit/>
          </a:bodyPr>
          <a:lstStyle/>
          <a:p>
            <a:pPr algn="l">
              <a:spcAft>
                <a:spcPts val="1000"/>
              </a:spcAft>
            </a:pPr>
            <a:r>
              <a:rPr sz="2400" b="1">
                <a:solidFill>
                  <a:srgbClr val="0F2340"/>
                </a:solidFill>
                <a:latin typeface="Calibri"/>
              </a:rPr>
              <a:t>Who uses it?</a:t>
            </a:r>
          </a:p>
        </p:txBody>
      </p:sp>
      <p:sp>
        <p:nvSpPr>
          <p:cNvPr id="13" name="Oval 12"/>
          <p:cNvSpPr/>
          <p:nvPr/>
        </p:nvSpPr>
        <p:spPr>
          <a:xfrm>
            <a:off x="4594860" y="2994660"/>
            <a:ext cx="411480" cy="411480"/>
          </a:xfrm>
          <a:prstGeom prst="ellipse">
            <a:avLst/>
          </a:prstGeom>
          <a:solidFill>
            <a:srgbClr val="1F6FB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212080" y="2834640"/>
            <a:ext cx="6400800" cy="411480"/>
          </a:xfrm>
          <a:prstGeom prst="rect">
            <a:avLst/>
          </a:prstGeom>
          <a:noFill/>
        </p:spPr>
        <p:txBody>
          <a:bodyPr wrap="square" lIns="45720" rIns="45720" anchor="t">
            <a:spAutoFit/>
          </a:bodyPr>
          <a:lstStyle/>
          <a:p>
            <a:pPr algn="l">
              <a:spcAft>
                <a:spcPts val="1000"/>
              </a:spcAft>
            </a:pPr>
            <a:r>
              <a:rPr sz="2000" b="1">
                <a:solidFill>
                  <a:srgbClr val="1F2937"/>
                </a:solidFill>
                <a:latin typeface="Calibri"/>
              </a:rPr>
              <a:t>Urban planners</a:t>
            </a:r>
          </a:p>
        </p:txBody>
      </p:sp>
      <p:sp>
        <p:nvSpPr>
          <p:cNvPr id="15" name="TextBox 14"/>
          <p:cNvSpPr txBox="1"/>
          <p:nvPr/>
        </p:nvSpPr>
        <p:spPr>
          <a:xfrm>
            <a:off x="5212080" y="3218688"/>
            <a:ext cx="6400800" cy="457200"/>
          </a:xfrm>
          <a:prstGeom prst="rect">
            <a:avLst/>
          </a:prstGeom>
          <a:noFill/>
        </p:spPr>
        <p:txBody>
          <a:bodyPr wrap="square" lIns="45720" rIns="45720" anchor="t">
            <a:spAutoFit/>
          </a:bodyPr>
          <a:lstStyle/>
          <a:p>
            <a:pPr algn="l">
              <a:spcAft>
                <a:spcPts val="1000"/>
              </a:spcAft>
            </a:pPr>
            <a:r>
              <a:rPr sz="1800" b="0">
                <a:solidFill>
                  <a:srgbClr val="6B7280"/>
                </a:solidFill>
                <a:latin typeface="Calibri"/>
              </a:rPr>
              <a:t>See where a city is growing, and where to keep parks and lakes</a:t>
            </a:r>
          </a:p>
        </p:txBody>
      </p:sp>
      <p:sp>
        <p:nvSpPr>
          <p:cNvPr id="16" name="Oval 15"/>
          <p:cNvSpPr/>
          <p:nvPr/>
        </p:nvSpPr>
        <p:spPr>
          <a:xfrm>
            <a:off x="4594860" y="4000500"/>
            <a:ext cx="411480" cy="411480"/>
          </a:xfrm>
          <a:prstGeom prst="ellipse">
            <a:avLst/>
          </a:prstGeom>
          <a:solidFill>
            <a:srgbClr val="2E7D4F"/>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212080" y="3840480"/>
            <a:ext cx="6400800" cy="411480"/>
          </a:xfrm>
          <a:prstGeom prst="rect">
            <a:avLst/>
          </a:prstGeom>
          <a:noFill/>
        </p:spPr>
        <p:txBody>
          <a:bodyPr wrap="square" lIns="45720" rIns="45720" anchor="t">
            <a:spAutoFit/>
          </a:bodyPr>
          <a:lstStyle/>
          <a:p>
            <a:pPr algn="l">
              <a:spcAft>
                <a:spcPts val="1000"/>
              </a:spcAft>
            </a:pPr>
            <a:r>
              <a:rPr sz="2000" b="1">
                <a:solidFill>
                  <a:srgbClr val="1F2937"/>
                </a:solidFill>
                <a:latin typeface="Calibri"/>
              </a:rPr>
              <a:t>Farmers and scientists</a:t>
            </a:r>
          </a:p>
        </p:txBody>
      </p:sp>
      <p:sp>
        <p:nvSpPr>
          <p:cNvPr id="18" name="TextBox 17"/>
          <p:cNvSpPr txBox="1"/>
          <p:nvPr/>
        </p:nvSpPr>
        <p:spPr>
          <a:xfrm>
            <a:off x="5212080" y="4224528"/>
            <a:ext cx="6400800" cy="457200"/>
          </a:xfrm>
          <a:prstGeom prst="rect">
            <a:avLst/>
          </a:prstGeom>
          <a:noFill/>
        </p:spPr>
        <p:txBody>
          <a:bodyPr wrap="square" lIns="45720" rIns="45720" anchor="t">
            <a:spAutoFit/>
          </a:bodyPr>
          <a:lstStyle/>
          <a:p>
            <a:pPr algn="l">
              <a:spcAft>
                <a:spcPts val="1000"/>
              </a:spcAft>
            </a:pPr>
            <a:r>
              <a:rPr sz="1800" b="0">
                <a:solidFill>
                  <a:srgbClr val="6B7280"/>
                </a:solidFill>
                <a:latin typeface="Calibri"/>
              </a:rPr>
              <a:t>Track crops, forests and droughts</a:t>
            </a:r>
          </a:p>
        </p:txBody>
      </p:sp>
      <p:sp>
        <p:nvSpPr>
          <p:cNvPr id="19" name="Oval 18"/>
          <p:cNvSpPr/>
          <p:nvPr/>
        </p:nvSpPr>
        <p:spPr>
          <a:xfrm>
            <a:off x="4594860" y="5006340"/>
            <a:ext cx="411480" cy="411480"/>
          </a:xfrm>
          <a:prstGeom prst="ellipse">
            <a:avLst/>
          </a:prstGeom>
          <a:solidFill>
            <a:srgbClr val="D9482B"/>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212080" y="4846320"/>
            <a:ext cx="6400800" cy="411480"/>
          </a:xfrm>
          <a:prstGeom prst="rect">
            <a:avLst/>
          </a:prstGeom>
          <a:noFill/>
        </p:spPr>
        <p:txBody>
          <a:bodyPr wrap="square" lIns="45720" rIns="45720" anchor="t">
            <a:spAutoFit/>
          </a:bodyPr>
          <a:lstStyle/>
          <a:p>
            <a:pPr algn="l">
              <a:spcAft>
                <a:spcPts val="1000"/>
              </a:spcAft>
            </a:pPr>
            <a:r>
              <a:rPr sz="2000" b="1">
                <a:solidFill>
                  <a:srgbClr val="1F2937"/>
                </a:solidFill>
                <a:latin typeface="Calibri"/>
              </a:rPr>
              <a:t>Disaster teams</a:t>
            </a:r>
          </a:p>
        </p:txBody>
      </p:sp>
      <p:sp>
        <p:nvSpPr>
          <p:cNvPr id="21" name="TextBox 20"/>
          <p:cNvSpPr txBox="1"/>
          <p:nvPr/>
        </p:nvSpPr>
        <p:spPr>
          <a:xfrm>
            <a:off x="5212080" y="5230368"/>
            <a:ext cx="6400800" cy="457200"/>
          </a:xfrm>
          <a:prstGeom prst="rect">
            <a:avLst/>
          </a:prstGeom>
          <a:noFill/>
        </p:spPr>
        <p:txBody>
          <a:bodyPr wrap="square" lIns="45720" rIns="45720" anchor="t">
            <a:spAutoFit/>
          </a:bodyPr>
          <a:lstStyle/>
          <a:p>
            <a:pPr algn="l">
              <a:spcAft>
                <a:spcPts val="1000"/>
              </a:spcAft>
            </a:pPr>
            <a:r>
              <a:rPr sz="1800" b="0">
                <a:solidFill>
                  <a:srgbClr val="6B7280"/>
                </a:solidFill>
                <a:latin typeface="Calibri"/>
              </a:rPr>
              <a:t>Find areas that flood easily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822960"/>
          </a:xfrm>
          <a:prstGeom prst="rect">
            <a:avLst/>
          </a:prstGeom>
          <a:noFill/>
        </p:spPr>
        <p:txBody>
          <a:bodyPr wrap="square" lIns="45720" rIns="45720" anchor="t">
            <a:spAutoFit/>
          </a:bodyPr>
          <a:lstStyle/>
          <a:p>
            <a:pPr algn="l">
              <a:spcAft>
                <a:spcPts val="1000"/>
              </a:spcAft>
            </a:pPr>
            <a:r>
              <a:rPr sz="3600" b="1">
                <a:solidFill>
                  <a:srgbClr val="0F2340"/>
                </a:solidFill>
                <a:latin typeface="Calibri"/>
              </a:rPr>
              <a:t>Bengaluru: from Garden City to concrete city</a:t>
            </a:r>
          </a:p>
        </p:txBody>
      </p:sp>
      <p:graphicFrame>
        <p:nvGraphicFramePr>
          <p:cNvPr id="3" name="Chart 2"/>
          <p:cNvGraphicFramePr>
            <a:graphicFrameLocks noGrp="1"/>
          </p:cNvGraphicFramePr>
          <p:nvPr/>
        </p:nvGraphicFramePr>
        <p:xfrm>
          <a:off x="548640" y="1280160"/>
          <a:ext cx="603504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p:cNvSpPr txBox="1"/>
          <p:nvPr/>
        </p:nvSpPr>
        <p:spPr>
          <a:xfrm>
            <a:off x="548640" y="5852160"/>
            <a:ext cx="6035040" cy="365760"/>
          </a:xfrm>
          <a:prstGeom prst="rect">
            <a:avLst/>
          </a:prstGeom>
          <a:noFill/>
        </p:spPr>
        <p:txBody>
          <a:bodyPr wrap="square" lIns="45720" rIns="45720" anchor="t">
            <a:spAutoFit/>
          </a:bodyPr>
          <a:lstStyle/>
          <a:p>
            <a:pPr algn="l">
              <a:spcAft>
                <a:spcPts val="1000"/>
              </a:spcAft>
            </a:pPr>
            <a:r>
              <a:rPr sz="1200" b="0" dirty="0">
                <a:solidFill>
                  <a:srgbClr val="6B7280"/>
                </a:solidFill>
                <a:latin typeface="Calibri"/>
              </a:rPr>
              <a:t>Source: Ramachandra et al., Energy &amp; Wetlands Research Group, IISc (2017)</a:t>
            </a:r>
          </a:p>
        </p:txBody>
      </p:sp>
      <p:sp>
        <p:nvSpPr>
          <p:cNvPr id="5" name="TextBox 4"/>
          <p:cNvSpPr txBox="1"/>
          <p:nvPr/>
        </p:nvSpPr>
        <p:spPr>
          <a:xfrm>
            <a:off x="7132320" y="1371600"/>
            <a:ext cx="4480560" cy="457200"/>
          </a:xfrm>
          <a:prstGeom prst="rect">
            <a:avLst/>
          </a:prstGeom>
          <a:noFill/>
        </p:spPr>
        <p:txBody>
          <a:bodyPr wrap="square" lIns="45720" rIns="45720" anchor="t">
            <a:spAutoFit/>
          </a:bodyPr>
          <a:lstStyle/>
          <a:p>
            <a:pPr algn="l">
              <a:spcAft>
                <a:spcPts val="1000"/>
              </a:spcAft>
            </a:pPr>
            <a:r>
              <a:rPr sz="2400" b="1">
                <a:solidFill>
                  <a:srgbClr val="0F2340"/>
                </a:solidFill>
                <a:latin typeface="Calibri"/>
              </a:rPr>
              <a:t>Why it matters</a:t>
            </a:r>
          </a:p>
        </p:txBody>
      </p:sp>
      <p:sp>
        <p:nvSpPr>
          <p:cNvPr id="6" name="TextBox 5"/>
          <p:cNvSpPr txBox="1"/>
          <p:nvPr/>
        </p:nvSpPr>
        <p:spPr>
          <a:xfrm>
            <a:off x="7132320" y="2011680"/>
            <a:ext cx="4480560" cy="2377440"/>
          </a:xfrm>
          <a:prstGeom prst="rect">
            <a:avLst/>
          </a:prstGeom>
          <a:noFill/>
        </p:spPr>
        <p:txBody>
          <a:bodyPr wrap="square" lIns="45720" rIns="45720" anchor="t">
            <a:spAutoFit/>
          </a:bodyPr>
          <a:lstStyle/>
          <a:p>
            <a:pPr marL="320040" indent="-274320" algn="l">
              <a:spcAft>
                <a:spcPts val="1000"/>
              </a:spcAft>
              <a:buChar char="•"/>
            </a:pPr>
            <a:r>
              <a:rPr sz="2000" b="0">
                <a:solidFill>
                  <a:srgbClr val="1F2937"/>
                </a:solidFill>
                <a:latin typeface="Calibri"/>
              </a:rPr>
              <a:t>Fewer lakes and wetlands: rain cannot soak in, so streets flood</a:t>
            </a:r>
          </a:p>
          <a:p>
            <a:pPr marL="320040" indent="-274320" algn="l">
              <a:spcAft>
                <a:spcPts val="1000"/>
              </a:spcAft>
              <a:buChar char="•"/>
            </a:pPr>
            <a:r>
              <a:rPr sz="2000" b="0">
                <a:solidFill>
                  <a:srgbClr val="1F2937"/>
                </a:solidFill>
                <a:latin typeface="Calibri"/>
              </a:rPr>
              <a:t>Fewer trees: the city gets hotter</a:t>
            </a:r>
          </a:p>
          <a:p>
            <a:pPr marL="320040" indent="-274320" algn="l">
              <a:spcAft>
                <a:spcPts val="1000"/>
              </a:spcAft>
              <a:buChar char="•"/>
            </a:pPr>
            <a:r>
              <a:rPr sz="2000" b="0">
                <a:solidFill>
                  <a:srgbClr val="1F2937"/>
                </a:solidFill>
                <a:latin typeface="Calibri"/>
              </a:rPr>
              <a:t>Less water in the ground: borewells go dry</a:t>
            </a:r>
          </a:p>
        </p:txBody>
      </p:sp>
      <p:sp>
        <p:nvSpPr>
          <p:cNvPr id="7" name="Rounded Rectangle 6"/>
          <p:cNvSpPr/>
          <p:nvPr/>
        </p:nvSpPr>
        <p:spPr>
          <a:xfrm>
            <a:off x="7132320" y="4434840"/>
            <a:ext cx="4480560" cy="1463040"/>
          </a:xfrm>
          <a:prstGeom prst="roundRect">
            <a:avLst>
              <a:gd name="adj" fmla="val 8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60920" y="4617720"/>
            <a:ext cx="4023360" cy="365760"/>
          </a:xfrm>
          <a:prstGeom prst="rect">
            <a:avLst/>
          </a:prstGeom>
          <a:noFill/>
        </p:spPr>
        <p:txBody>
          <a:bodyPr wrap="square" lIns="45720" rIns="45720" anchor="t">
            <a:spAutoFit/>
          </a:bodyPr>
          <a:lstStyle/>
          <a:p>
            <a:pPr algn="l">
              <a:spcAft>
                <a:spcPts val="1000"/>
              </a:spcAft>
            </a:pPr>
            <a:r>
              <a:rPr sz="1400" b="1">
                <a:solidFill>
                  <a:srgbClr val="2E7D4F"/>
                </a:solidFill>
                <a:latin typeface="Calibri"/>
              </a:rPr>
              <a:t>FUN FACT</a:t>
            </a:r>
          </a:p>
        </p:txBody>
      </p:sp>
      <p:sp>
        <p:nvSpPr>
          <p:cNvPr id="9" name="TextBox 8"/>
          <p:cNvSpPr txBox="1"/>
          <p:nvPr/>
        </p:nvSpPr>
        <p:spPr>
          <a:xfrm>
            <a:off x="7360920" y="4983479"/>
            <a:ext cx="4023360" cy="923330"/>
          </a:xfrm>
          <a:prstGeom prst="rect">
            <a:avLst/>
          </a:prstGeom>
          <a:noFill/>
        </p:spPr>
        <p:txBody>
          <a:bodyPr wrap="square" lIns="45720" rIns="45720" anchor="t">
            <a:spAutoFit/>
          </a:bodyPr>
          <a:lstStyle/>
          <a:p>
            <a:pPr algn="l">
              <a:spcAft>
                <a:spcPts val="1000"/>
              </a:spcAft>
            </a:pPr>
            <a:r>
              <a:rPr sz="1800" b="0" dirty="0">
                <a:solidFill>
                  <a:srgbClr val="1F2937"/>
                </a:solidFill>
                <a:latin typeface="Calibri"/>
              </a:rPr>
              <a:t>Scientists at IISc,  in Bengaluru, measured this using satellite images from 1973 onwards.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B31D48-DC10-BE02-0D57-1222E2C7218F}"/>
              </a:ext>
            </a:extLst>
          </p:cNvPr>
          <p:cNvSpPr txBox="1"/>
          <p:nvPr/>
        </p:nvSpPr>
        <p:spPr>
          <a:xfrm>
            <a:off x="5927598" y="6086779"/>
            <a:ext cx="6094476" cy="646331"/>
          </a:xfrm>
          <a:prstGeom prst="rect">
            <a:avLst/>
          </a:prstGeom>
          <a:noFill/>
        </p:spPr>
        <p:txBody>
          <a:bodyPr wrap="square">
            <a:spAutoFit/>
          </a:bodyPr>
          <a:lstStyle/>
          <a:p>
            <a:r>
              <a:rPr lang="en-IN" dirty="0">
                <a:hlinkClick r:id="rId2"/>
              </a:rPr>
              <a:t>https://ee-soniacivil.projects.earthengine.app/view/bengaluru-in-1965</a:t>
            </a:r>
            <a:endParaRPr lang="en-IN" dirty="0"/>
          </a:p>
        </p:txBody>
      </p:sp>
      <p:pic>
        <p:nvPicPr>
          <p:cNvPr id="5" name="Picture 4" descr="The image displays a comparison of the city of Bengaluru, India, from 1965 (CORONA imagery) and 2025 (Sentinel-2 imagery), highlighting urban development over 60 years.&#10;&#10;AI-generated content may be incorrect.">
            <a:extLst>
              <a:ext uri="{FF2B5EF4-FFF2-40B4-BE49-F238E27FC236}">
                <a16:creationId xmlns:a16="http://schemas.microsoft.com/office/drawing/2014/main" id="{C65902CF-048A-08DA-5DA3-15FC44C29A19}"/>
              </a:ext>
            </a:extLst>
          </p:cNvPr>
          <p:cNvPicPr>
            <a:picLocks noChangeAspect="1"/>
          </p:cNvPicPr>
          <p:nvPr/>
        </p:nvPicPr>
        <p:blipFill>
          <a:blip r:embed="rId3"/>
          <a:stretch>
            <a:fillRect/>
          </a:stretch>
        </p:blipFill>
        <p:spPr>
          <a:xfrm>
            <a:off x="1475530" y="208973"/>
            <a:ext cx="10382784" cy="5759746"/>
          </a:xfrm>
          <a:prstGeom prst="rect">
            <a:avLst/>
          </a:prstGeom>
        </p:spPr>
      </p:pic>
    </p:spTree>
    <p:extLst>
      <p:ext uri="{BB962C8B-B14F-4D97-AF65-F5344CB8AC3E}">
        <p14:creationId xmlns:p14="http://schemas.microsoft.com/office/powerpoint/2010/main" val="35275745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822960"/>
          </a:xfrm>
          <a:prstGeom prst="rect">
            <a:avLst/>
          </a:prstGeom>
          <a:noFill/>
        </p:spPr>
        <p:txBody>
          <a:bodyPr wrap="square" lIns="45720" rIns="45720" anchor="t">
            <a:spAutoFit/>
          </a:bodyPr>
          <a:lstStyle/>
          <a:p>
            <a:pPr algn="l">
              <a:spcAft>
                <a:spcPts val="1000"/>
              </a:spcAft>
            </a:pPr>
            <a:r>
              <a:rPr sz="3600" b="1">
                <a:solidFill>
                  <a:srgbClr val="0F2340"/>
                </a:solidFill>
                <a:latin typeface="Calibri"/>
              </a:rPr>
              <a:t>What is GIS?</a:t>
            </a:r>
          </a:p>
        </p:txBody>
      </p:sp>
      <p:sp>
        <p:nvSpPr>
          <p:cNvPr id="3" name="TextBox 2"/>
          <p:cNvSpPr txBox="1"/>
          <p:nvPr/>
        </p:nvSpPr>
        <p:spPr>
          <a:xfrm>
            <a:off x="548640" y="1371600"/>
            <a:ext cx="5303520" cy="2011680"/>
          </a:xfrm>
          <a:prstGeom prst="rect">
            <a:avLst/>
          </a:prstGeom>
          <a:noFill/>
        </p:spPr>
        <p:txBody>
          <a:bodyPr wrap="square" lIns="45720" rIns="45720" anchor="t">
            <a:spAutoFit/>
          </a:bodyPr>
          <a:lstStyle/>
          <a:p>
            <a:pPr algn="l">
              <a:spcAft>
                <a:spcPts val="1000"/>
              </a:spcAft>
            </a:pPr>
            <a:r>
              <a:rPr sz="2200" b="0">
                <a:solidFill>
                  <a:srgbClr val="1F2937"/>
                </a:solidFill>
                <a:latin typeface="Calibri"/>
              </a:rPr>
              <a:t>GIS stands for Geographic Information System. It is software that stacks information about places into layers, like a sandwich.</a:t>
            </a:r>
          </a:p>
        </p:txBody>
      </p:sp>
      <p:sp>
        <p:nvSpPr>
          <p:cNvPr id="4" name="Rounded Rectangle 3"/>
          <p:cNvSpPr/>
          <p:nvPr/>
        </p:nvSpPr>
        <p:spPr>
          <a:xfrm>
            <a:off x="548640" y="3657600"/>
            <a:ext cx="5120640" cy="146304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3840480"/>
            <a:ext cx="4663440" cy="365760"/>
          </a:xfrm>
          <a:prstGeom prst="rect">
            <a:avLst/>
          </a:prstGeom>
          <a:noFill/>
        </p:spPr>
        <p:txBody>
          <a:bodyPr wrap="square" lIns="45720" rIns="45720" anchor="t">
            <a:spAutoFit/>
          </a:bodyPr>
          <a:lstStyle/>
          <a:p>
            <a:pPr algn="l">
              <a:spcAft>
                <a:spcPts val="1000"/>
              </a:spcAft>
            </a:pPr>
            <a:r>
              <a:rPr sz="1400" b="1">
                <a:solidFill>
                  <a:srgbClr val="92400E"/>
                </a:solidFill>
                <a:latin typeface="Calibri"/>
              </a:rPr>
              <a:t>WORD OF THE DAY</a:t>
            </a:r>
          </a:p>
        </p:txBody>
      </p:sp>
      <p:sp>
        <p:nvSpPr>
          <p:cNvPr id="6" name="TextBox 5"/>
          <p:cNvSpPr txBox="1"/>
          <p:nvPr/>
        </p:nvSpPr>
        <p:spPr>
          <a:xfrm>
            <a:off x="777240" y="4206240"/>
            <a:ext cx="4663440" cy="777240"/>
          </a:xfrm>
          <a:prstGeom prst="rect">
            <a:avLst/>
          </a:prstGeom>
          <a:noFill/>
        </p:spPr>
        <p:txBody>
          <a:bodyPr wrap="square" lIns="45720" rIns="45720" anchor="t">
            <a:spAutoFit/>
          </a:bodyPr>
          <a:lstStyle/>
          <a:p>
            <a:pPr algn="l">
              <a:spcAft>
                <a:spcPts val="1000"/>
              </a:spcAft>
            </a:pPr>
            <a:r>
              <a:rPr sz="1800" b="0">
                <a:solidFill>
                  <a:srgbClr val="1F2937"/>
                </a:solidFill>
                <a:latin typeface="Calibri"/>
              </a:rPr>
              <a:t>Layer: one slice of the map sandwich, such as a photo, borders or names.</a:t>
            </a:r>
          </a:p>
        </p:txBody>
      </p:sp>
      <p:sp>
        <p:nvSpPr>
          <p:cNvPr id="7" name="Parallelogram 6"/>
          <p:cNvSpPr/>
          <p:nvPr/>
        </p:nvSpPr>
        <p:spPr>
          <a:xfrm>
            <a:off x="6400800" y="1554480"/>
            <a:ext cx="3291840" cy="1097280"/>
          </a:xfrm>
          <a:prstGeom prst="parallelogram">
            <a:avLst/>
          </a:prstGeom>
          <a:solidFill>
            <a:srgbClr val="E8A31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29800" y="1874519"/>
            <a:ext cx="2011680" cy="457200"/>
          </a:xfrm>
          <a:prstGeom prst="rect">
            <a:avLst/>
          </a:prstGeom>
          <a:noFill/>
        </p:spPr>
        <p:txBody>
          <a:bodyPr wrap="square" lIns="45720" rIns="45720" anchor="t">
            <a:spAutoFit/>
          </a:bodyPr>
          <a:lstStyle/>
          <a:p>
            <a:pPr algn="l">
              <a:spcAft>
                <a:spcPts val="1000"/>
              </a:spcAft>
            </a:pPr>
            <a:r>
              <a:rPr sz="2000" b="1">
                <a:solidFill>
                  <a:srgbClr val="1F2937"/>
                </a:solidFill>
                <a:latin typeface="Calibri"/>
              </a:rPr>
              <a:t>City names</a:t>
            </a:r>
          </a:p>
        </p:txBody>
      </p:sp>
      <p:sp>
        <p:nvSpPr>
          <p:cNvPr id="9" name="Parallelogram 8"/>
          <p:cNvSpPr/>
          <p:nvPr/>
        </p:nvSpPr>
        <p:spPr>
          <a:xfrm>
            <a:off x="6400800" y="2880360"/>
            <a:ext cx="3291840" cy="1097280"/>
          </a:xfrm>
          <a:prstGeom prst="parallelogram">
            <a:avLst/>
          </a:prstGeom>
          <a:solidFill>
            <a:srgbClr val="2E7D4F"/>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829800" y="3200400"/>
            <a:ext cx="2011680" cy="457200"/>
          </a:xfrm>
          <a:prstGeom prst="rect">
            <a:avLst/>
          </a:prstGeom>
          <a:noFill/>
        </p:spPr>
        <p:txBody>
          <a:bodyPr wrap="square" lIns="45720" rIns="45720" anchor="t">
            <a:spAutoFit/>
          </a:bodyPr>
          <a:lstStyle/>
          <a:p>
            <a:pPr algn="l">
              <a:spcAft>
                <a:spcPts val="1000"/>
              </a:spcAft>
            </a:pPr>
            <a:r>
              <a:rPr sz="2000" b="1">
                <a:solidFill>
                  <a:srgbClr val="1F2937"/>
                </a:solidFill>
                <a:latin typeface="Calibri"/>
              </a:rPr>
              <a:t>Country outline</a:t>
            </a:r>
          </a:p>
        </p:txBody>
      </p:sp>
      <p:sp>
        <p:nvSpPr>
          <p:cNvPr id="11" name="Parallelogram 10"/>
          <p:cNvSpPr/>
          <p:nvPr/>
        </p:nvSpPr>
        <p:spPr>
          <a:xfrm>
            <a:off x="6400800" y="4206240"/>
            <a:ext cx="3291840" cy="1097280"/>
          </a:xfrm>
          <a:prstGeom prst="parallelogram">
            <a:avLst/>
          </a:prstGeom>
          <a:solidFill>
            <a:srgbClr val="1F6FB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829800" y="4526279"/>
            <a:ext cx="2011680" cy="457200"/>
          </a:xfrm>
          <a:prstGeom prst="rect">
            <a:avLst/>
          </a:prstGeom>
          <a:noFill/>
        </p:spPr>
        <p:txBody>
          <a:bodyPr wrap="square" lIns="45720" rIns="45720" anchor="t">
            <a:spAutoFit/>
          </a:bodyPr>
          <a:lstStyle/>
          <a:p>
            <a:pPr algn="l">
              <a:spcAft>
                <a:spcPts val="1000"/>
              </a:spcAft>
            </a:pPr>
            <a:r>
              <a:rPr sz="2000" b="1">
                <a:solidFill>
                  <a:srgbClr val="1F2937"/>
                </a:solidFill>
                <a:latin typeface="Calibri"/>
              </a:rPr>
              <a:t>Satellite photo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822960"/>
          </a:xfrm>
          <a:prstGeom prst="rect">
            <a:avLst/>
          </a:prstGeom>
          <a:noFill/>
        </p:spPr>
        <p:txBody>
          <a:bodyPr wrap="square" lIns="45720" rIns="45720" anchor="t">
            <a:spAutoFit/>
          </a:bodyPr>
          <a:lstStyle/>
          <a:p>
            <a:pPr algn="l">
              <a:spcAft>
                <a:spcPts val="1000"/>
              </a:spcAft>
            </a:pPr>
            <a:r>
              <a:rPr sz="3600" b="1">
                <a:solidFill>
                  <a:srgbClr val="0F2340"/>
                </a:solidFill>
                <a:latin typeface="Calibri"/>
              </a:rPr>
              <a:t>Points, lines and polygons</a:t>
            </a:r>
          </a:p>
        </p:txBody>
      </p:sp>
      <p:sp>
        <p:nvSpPr>
          <p:cNvPr id="3" name="TextBox 2"/>
          <p:cNvSpPr txBox="1"/>
          <p:nvPr/>
        </p:nvSpPr>
        <p:spPr>
          <a:xfrm>
            <a:off x="548640" y="1188720"/>
            <a:ext cx="11064240" cy="548640"/>
          </a:xfrm>
          <a:prstGeom prst="rect">
            <a:avLst/>
          </a:prstGeom>
          <a:noFill/>
        </p:spPr>
        <p:txBody>
          <a:bodyPr wrap="square" lIns="45720" rIns="45720" anchor="t">
            <a:spAutoFit/>
          </a:bodyPr>
          <a:lstStyle/>
          <a:p>
            <a:pPr algn="l">
              <a:spcAft>
                <a:spcPts val="1000"/>
              </a:spcAft>
            </a:pPr>
            <a:r>
              <a:rPr sz="2200" b="0">
                <a:solidFill>
                  <a:srgbClr val="6B7280"/>
                </a:solidFill>
                <a:latin typeface="Calibri"/>
              </a:rPr>
              <a:t>In GIS, almost everything on a map is drawn with just three shapes.</a:t>
            </a:r>
          </a:p>
        </p:txBody>
      </p:sp>
      <p:sp>
        <p:nvSpPr>
          <p:cNvPr id="4" name="Rounded Rectangle 3"/>
          <p:cNvSpPr/>
          <p:nvPr/>
        </p:nvSpPr>
        <p:spPr>
          <a:xfrm>
            <a:off x="548640" y="1920240"/>
            <a:ext cx="3520440" cy="429768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485899" y="2583180"/>
            <a:ext cx="320040" cy="320040"/>
          </a:xfrm>
          <a:prstGeom prst="ellipse">
            <a:avLst/>
          </a:prstGeom>
          <a:solidFill>
            <a:srgbClr val="1F6FB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2400300" y="2354580"/>
            <a:ext cx="320040" cy="320040"/>
          </a:xfrm>
          <a:prstGeom prst="ellipse">
            <a:avLst/>
          </a:prstGeom>
          <a:solidFill>
            <a:srgbClr val="1F6FB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2948940" y="2948940"/>
            <a:ext cx="320040" cy="320040"/>
          </a:xfrm>
          <a:prstGeom prst="ellipse">
            <a:avLst/>
          </a:prstGeom>
          <a:solidFill>
            <a:srgbClr val="1F6FB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59" y="3703320"/>
            <a:ext cx="3017520" cy="502920"/>
          </a:xfrm>
          <a:prstGeom prst="rect">
            <a:avLst/>
          </a:prstGeom>
          <a:noFill/>
        </p:spPr>
        <p:txBody>
          <a:bodyPr wrap="square" lIns="45720" rIns="45720" anchor="t">
            <a:spAutoFit/>
          </a:bodyPr>
          <a:lstStyle/>
          <a:p>
            <a:pPr algn="l">
              <a:spcAft>
                <a:spcPts val="1000"/>
              </a:spcAft>
            </a:pPr>
            <a:r>
              <a:rPr sz="2600" b="1">
                <a:solidFill>
                  <a:srgbClr val="1F6FB2"/>
                </a:solidFill>
                <a:latin typeface="Calibri"/>
              </a:rPr>
              <a:t>Point</a:t>
            </a:r>
          </a:p>
        </p:txBody>
      </p:sp>
      <p:sp>
        <p:nvSpPr>
          <p:cNvPr id="9" name="TextBox 8"/>
          <p:cNvSpPr txBox="1"/>
          <p:nvPr/>
        </p:nvSpPr>
        <p:spPr>
          <a:xfrm>
            <a:off x="822959" y="4206240"/>
            <a:ext cx="3017520" cy="457200"/>
          </a:xfrm>
          <a:prstGeom prst="rect">
            <a:avLst/>
          </a:prstGeom>
          <a:noFill/>
        </p:spPr>
        <p:txBody>
          <a:bodyPr wrap="square" lIns="45720" rIns="45720" anchor="t">
            <a:spAutoFit/>
          </a:bodyPr>
          <a:lstStyle/>
          <a:p>
            <a:pPr algn="l">
              <a:spcAft>
                <a:spcPts val="1000"/>
              </a:spcAft>
            </a:pPr>
            <a:r>
              <a:rPr sz="1800" b="0">
                <a:solidFill>
                  <a:srgbClr val="6B7280"/>
                </a:solidFill>
                <a:latin typeface="Calibri"/>
              </a:rPr>
              <a:t>A single spot</a:t>
            </a:r>
          </a:p>
        </p:txBody>
      </p:sp>
      <p:sp>
        <p:nvSpPr>
          <p:cNvPr id="10" name="TextBox 9"/>
          <p:cNvSpPr txBox="1"/>
          <p:nvPr/>
        </p:nvSpPr>
        <p:spPr>
          <a:xfrm>
            <a:off x="822959" y="4754880"/>
            <a:ext cx="3017520" cy="1280160"/>
          </a:xfrm>
          <a:prstGeom prst="rect">
            <a:avLst/>
          </a:prstGeom>
          <a:noFill/>
        </p:spPr>
        <p:txBody>
          <a:bodyPr wrap="square" lIns="45720" rIns="45720" anchor="t">
            <a:spAutoFit/>
          </a:bodyPr>
          <a:lstStyle/>
          <a:p>
            <a:pPr marL="320040" indent="-274320" algn="l">
              <a:spcAft>
                <a:spcPts val="1000"/>
              </a:spcAft>
              <a:buChar char="•"/>
            </a:pPr>
            <a:r>
              <a:rPr sz="1800" b="0">
                <a:solidFill>
                  <a:srgbClr val="1F2937"/>
                </a:solidFill>
                <a:latin typeface="Calibri"/>
              </a:rPr>
              <a:t>Your school</a:t>
            </a:r>
          </a:p>
          <a:p>
            <a:pPr marL="320040" indent="-274320" algn="l">
              <a:spcAft>
                <a:spcPts val="1000"/>
              </a:spcAft>
              <a:buChar char="•"/>
            </a:pPr>
            <a:r>
              <a:rPr sz="1800" b="0">
                <a:solidFill>
                  <a:srgbClr val="1F2937"/>
                </a:solidFill>
                <a:latin typeface="Calibri"/>
              </a:rPr>
              <a:t>A temple or a fort</a:t>
            </a:r>
          </a:p>
        </p:txBody>
      </p:sp>
      <p:sp>
        <p:nvSpPr>
          <p:cNvPr id="11" name="Rounded Rectangle 10"/>
          <p:cNvSpPr/>
          <p:nvPr/>
        </p:nvSpPr>
        <p:spPr>
          <a:xfrm>
            <a:off x="4297679" y="1920240"/>
            <a:ext cx="3520440" cy="429768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Freeform 11"/>
          <p:cNvSpPr/>
          <p:nvPr/>
        </p:nvSpPr>
        <p:spPr>
          <a:xfrm>
            <a:off x="4754879" y="2377440"/>
            <a:ext cx="2560320" cy="914400"/>
          </a:xfrm>
          <a:custGeom>
            <a:avLst/>
            <a:gdLst/>
            <a:ahLst/>
            <a:cxnLst/>
            <a:rect l="l" t="t" r="r" b="b"/>
            <a:pathLst>
              <a:path w="2560320" h="914400">
                <a:moveTo>
                  <a:pt x="0" y="914400"/>
                </a:moveTo>
                <a:lnTo>
                  <a:pt x="731520" y="91440"/>
                </a:lnTo>
                <a:lnTo>
                  <a:pt x="1645920" y="640080"/>
                </a:lnTo>
                <a:lnTo>
                  <a:pt x="2560320" y="0"/>
                </a:lnTo>
              </a:path>
            </a:pathLst>
          </a:custGeom>
          <a:noFill/>
          <a:ln w="76200">
            <a:solidFill>
              <a:srgbClr val="2E7D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1999" y="3703320"/>
            <a:ext cx="3017520" cy="502920"/>
          </a:xfrm>
          <a:prstGeom prst="rect">
            <a:avLst/>
          </a:prstGeom>
          <a:noFill/>
        </p:spPr>
        <p:txBody>
          <a:bodyPr wrap="square" lIns="45720" rIns="45720" anchor="t">
            <a:spAutoFit/>
          </a:bodyPr>
          <a:lstStyle/>
          <a:p>
            <a:pPr algn="l">
              <a:spcAft>
                <a:spcPts val="1000"/>
              </a:spcAft>
            </a:pPr>
            <a:r>
              <a:rPr sz="2600" b="1">
                <a:solidFill>
                  <a:srgbClr val="2E7D4F"/>
                </a:solidFill>
                <a:latin typeface="Calibri"/>
              </a:rPr>
              <a:t>Line</a:t>
            </a:r>
          </a:p>
        </p:txBody>
      </p:sp>
      <p:sp>
        <p:nvSpPr>
          <p:cNvPr id="14" name="TextBox 13"/>
          <p:cNvSpPr txBox="1"/>
          <p:nvPr/>
        </p:nvSpPr>
        <p:spPr>
          <a:xfrm>
            <a:off x="4571999" y="4206240"/>
            <a:ext cx="3017520" cy="457200"/>
          </a:xfrm>
          <a:prstGeom prst="rect">
            <a:avLst/>
          </a:prstGeom>
          <a:noFill/>
        </p:spPr>
        <p:txBody>
          <a:bodyPr wrap="square" lIns="45720" rIns="45720" anchor="t">
            <a:spAutoFit/>
          </a:bodyPr>
          <a:lstStyle/>
          <a:p>
            <a:pPr algn="l">
              <a:spcAft>
                <a:spcPts val="1000"/>
              </a:spcAft>
            </a:pPr>
            <a:r>
              <a:rPr sz="1800" b="0">
                <a:solidFill>
                  <a:srgbClr val="6B7280"/>
                </a:solidFill>
                <a:latin typeface="Calibri"/>
              </a:rPr>
              <a:t>A path from place to place</a:t>
            </a:r>
          </a:p>
        </p:txBody>
      </p:sp>
      <p:sp>
        <p:nvSpPr>
          <p:cNvPr id="15" name="TextBox 14"/>
          <p:cNvSpPr txBox="1"/>
          <p:nvPr/>
        </p:nvSpPr>
        <p:spPr>
          <a:xfrm>
            <a:off x="4571999" y="4754880"/>
            <a:ext cx="3017520" cy="1280160"/>
          </a:xfrm>
          <a:prstGeom prst="rect">
            <a:avLst/>
          </a:prstGeom>
          <a:noFill/>
        </p:spPr>
        <p:txBody>
          <a:bodyPr wrap="square" lIns="45720" rIns="45720" anchor="t">
            <a:spAutoFit/>
          </a:bodyPr>
          <a:lstStyle/>
          <a:p>
            <a:pPr marL="320040" indent="-274320" algn="l">
              <a:spcAft>
                <a:spcPts val="1000"/>
              </a:spcAft>
              <a:buChar char="•"/>
            </a:pPr>
            <a:r>
              <a:rPr sz="1800" b="0">
                <a:solidFill>
                  <a:srgbClr val="1F2937"/>
                </a:solidFill>
                <a:latin typeface="Calibri"/>
              </a:rPr>
              <a:t>A road or railway</a:t>
            </a:r>
          </a:p>
          <a:p>
            <a:pPr marL="320040" indent="-274320" algn="l">
              <a:spcAft>
                <a:spcPts val="1000"/>
              </a:spcAft>
              <a:buChar char="•"/>
            </a:pPr>
            <a:r>
              <a:rPr sz="1800" b="0">
                <a:solidFill>
                  <a:srgbClr val="1F2937"/>
                </a:solidFill>
                <a:latin typeface="Calibri"/>
              </a:rPr>
              <a:t>A river</a:t>
            </a:r>
          </a:p>
        </p:txBody>
      </p:sp>
      <p:sp>
        <p:nvSpPr>
          <p:cNvPr id="16" name="Rounded Rectangle 15"/>
          <p:cNvSpPr/>
          <p:nvPr/>
        </p:nvSpPr>
        <p:spPr>
          <a:xfrm>
            <a:off x="8046719" y="1920240"/>
            <a:ext cx="3520440" cy="429768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Freeform 16"/>
          <p:cNvSpPr/>
          <p:nvPr/>
        </p:nvSpPr>
        <p:spPr>
          <a:xfrm>
            <a:off x="8778240" y="2286000"/>
            <a:ext cx="2103119" cy="1143000"/>
          </a:xfrm>
          <a:custGeom>
            <a:avLst/>
            <a:gdLst/>
            <a:ahLst/>
            <a:cxnLst/>
            <a:rect l="l" t="t" r="r" b="b"/>
            <a:pathLst>
              <a:path w="2103119" h="1143000">
                <a:moveTo>
                  <a:pt x="0" y="91440"/>
                </a:moveTo>
                <a:lnTo>
                  <a:pt x="1463040" y="0"/>
                </a:lnTo>
                <a:lnTo>
                  <a:pt x="2103119" y="640080"/>
                </a:lnTo>
                <a:lnTo>
                  <a:pt x="1280160" y="1143000"/>
                </a:lnTo>
                <a:lnTo>
                  <a:pt x="182879" y="960120"/>
                </a:lnTo>
                <a:close/>
              </a:path>
            </a:pathLst>
          </a:custGeom>
          <a:solidFill>
            <a:srgbClr val="FEF3C7"/>
          </a:solidFill>
          <a:ln w="50800">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21040" y="3703320"/>
            <a:ext cx="3017520" cy="502920"/>
          </a:xfrm>
          <a:prstGeom prst="rect">
            <a:avLst/>
          </a:prstGeom>
          <a:noFill/>
        </p:spPr>
        <p:txBody>
          <a:bodyPr wrap="square" lIns="45720" rIns="45720" anchor="t">
            <a:spAutoFit/>
          </a:bodyPr>
          <a:lstStyle/>
          <a:p>
            <a:pPr algn="l">
              <a:spcAft>
                <a:spcPts val="1000"/>
              </a:spcAft>
            </a:pPr>
            <a:r>
              <a:rPr sz="2600" b="1">
                <a:solidFill>
                  <a:srgbClr val="E8A317"/>
                </a:solidFill>
                <a:latin typeface="Calibri"/>
              </a:rPr>
              <a:t>Polygon</a:t>
            </a:r>
          </a:p>
        </p:txBody>
      </p:sp>
      <p:sp>
        <p:nvSpPr>
          <p:cNvPr id="19" name="TextBox 18"/>
          <p:cNvSpPr txBox="1"/>
          <p:nvPr/>
        </p:nvSpPr>
        <p:spPr>
          <a:xfrm>
            <a:off x="8321040" y="4206240"/>
            <a:ext cx="3017520" cy="457200"/>
          </a:xfrm>
          <a:prstGeom prst="rect">
            <a:avLst/>
          </a:prstGeom>
          <a:noFill/>
        </p:spPr>
        <p:txBody>
          <a:bodyPr wrap="square" lIns="45720" rIns="45720" anchor="t">
            <a:spAutoFit/>
          </a:bodyPr>
          <a:lstStyle/>
          <a:p>
            <a:pPr algn="l">
              <a:spcAft>
                <a:spcPts val="1000"/>
              </a:spcAft>
            </a:pPr>
            <a:r>
              <a:rPr sz="1800" b="0">
                <a:solidFill>
                  <a:srgbClr val="6B7280"/>
                </a:solidFill>
                <a:latin typeface="Calibri"/>
              </a:rPr>
              <a:t>A closed shape with an inside</a:t>
            </a:r>
          </a:p>
        </p:txBody>
      </p:sp>
      <p:sp>
        <p:nvSpPr>
          <p:cNvPr id="20" name="TextBox 19"/>
          <p:cNvSpPr txBox="1"/>
          <p:nvPr/>
        </p:nvSpPr>
        <p:spPr>
          <a:xfrm>
            <a:off x="8321040" y="4754880"/>
            <a:ext cx="3017520" cy="1280160"/>
          </a:xfrm>
          <a:prstGeom prst="rect">
            <a:avLst/>
          </a:prstGeom>
          <a:noFill/>
        </p:spPr>
        <p:txBody>
          <a:bodyPr wrap="square" lIns="45720" rIns="45720" anchor="t">
            <a:spAutoFit/>
          </a:bodyPr>
          <a:lstStyle/>
          <a:p>
            <a:pPr marL="320040" indent="-274320" algn="l">
              <a:spcAft>
                <a:spcPts val="1000"/>
              </a:spcAft>
              <a:buChar char="•"/>
            </a:pPr>
            <a:r>
              <a:rPr sz="1800" b="0">
                <a:solidFill>
                  <a:srgbClr val="1F2937"/>
                </a:solidFill>
                <a:latin typeface="Calibri"/>
              </a:rPr>
              <a:t>A park or a lake</a:t>
            </a:r>
          </a:p>
          <a:p>
            <a:pPr marL="320040" indent="-274320" algn="l">
              <a:spcAft>
                <a:spcPts val="1000"/>
              </a:spcAft>
              <a:buChar char="•"/>
            </a:pPr>
            <a:r>
              <a:rPr sz="1800" b="0">
                <a:solidFill>
                  <a:srgbClr val="1F2937"/>
                </a:solidFill>
                <a:latin typeface="Calibri"/>
              </a:rPr>
              <a:t>A state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822960"/>
          </a:xfrm>
          <a:prstGeom prst="rect">
            <a:avLst/>
          </a:prstGeom>
          <a:noFill/>
        </p:spPr>
        <p:txBody>
          <a:bodyPr wrap="square" lIns="45720" rIns="45720" anchor="t">
            <a:spAutoFit/>
          </a:bodyPr>
          <a:lstStyle/>
          <a:p>
            <a:pPr algn="l">
              <a:spcAft>
                <a:spcPts val="1000"/>
              </a:spcAft>
            </a:pPr>
            <a:r>
              <a:rPr sz="3600" b="1">
                <a:solidFill>
                  <a:srgbClr val="0F2340"/>
                </a:solidFill>
                <a:latin typeface="Calibri"/>
              </a:rPr>
              <a:t>Spot the shapes</a:t>
            </a:r>
          </a:p>
        </p:txBody>
      </p:sp>
      <p:pic>
        <p:nvPicPr>
          <p:cNvPr id="3" name="Picture 2" descr="tnh_apmc.png"/>
          <p:cNvPicPr>
            <a:picLocks noChangeAspect="1"/>
          </p:cNvPicPr>
          <p:nvPr/>
        </p:nvPicPr>
        <p:blipFill>
          <a:blip r:embed="rId3"/>
          <a:stretch>
            <a:fillRect/>
          </a:stretch>
        </p:blipFill>
        <p:spPr>
          <a:xfrm>
            <a:off x="548640" y="1280160"/>
            <a:ext cx="7680960" cy="4798743"/>
          </a:xfrm>
          <a:prstGeom prst="rect">
            <a:avLst/>
          </a:prstGeom>
          <a:ln w="12700">
            <a:solidFill>
              <a:srgbClr val="D1D5DB"/>
            </a:solidFill>
          </a:ln>
        </p:spPr>
      </p:pic>
      <p:sp>
        <p:nvSpPr>
          <p:cNvPr id="4" name="Freeform 3"/>
          <p:cNvSpPr/>
          <p:nvPr/>
        </p:nvSpPr>
        <p:spPr>
          <a:xfrm>
            <a:off x="548640" y="1443584"/>
            <a:ext cx="7680960" cy="1247970"/>
          </a:xfrm>
          <a:custGeom>
            <a:avLst/>
            <a:gdLst/>
            <a:ahLst/>
            <a:cxnLst/>
            <a:rect l="l" t="t" r="r" b="b"/>
            <a:pathLst>
              <a:path w="7680960" h="1247970">
                <a:moveTo>
                  <a:pt x="0" y="0"/>
                </a:moveTo>
                <a:lnTo>
                  <a:pt x="3417061" y="519988"/>
                </a:lnTo>
                <a:lnTo>
                  <a:pt x="7680960" y="1247970"/>
                </a:lnTo>
              </a:path>
            </a:pathLst>
          </a:custGeom>
          <a:noFill/>
          <a:ln w="63500">
            <a:solidFill>
              <a:srgbClr val="D948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Freeform 4"/>
          <p:cNvSpPr/>
          <p:nvPr/>
        </p:nvSpPr>
        <p:spPr>
          <a:xfrm>
            <a:off x="2071460" y="4140091"/>
            <a:ext cx="1782815" cy="1522821"/>
          </a:xfrm>
          <a:custGeom>
            <a:avLst/>
            <a:gdLst/>
            <a:ahLst/>
            <a:cxnLst/>
            <a:rect l="l" t="t" r="r" b="b"/>
            <a:pathLst>
              <a:path w="1782815" h="1522821">
                <a:moveTo>
                  <a:pt x="0" y="0"/>
                </a:moveTo>
                <a:lnTo>
                  <a:pt x="1782815" y="185710"/>
                </a:lnTo>
                <a:lnTo>
                  <a:pt x="1745673" y="1485679"/>
                </a:lnTo>
                <a:lnTo>
                  <a:pt x="37142" y="1522821"/>
                </a:lnTo>
                <a:close/>
              </a:path>
            </a:pathLst>
          </a:custGeom>
          <a:noFill/>
          <a:ln w="63500">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4970798" y="3785792"/>
            <a:ext cx="292608" cy="292608"/>
          </a:xfrm>
          <a:prstGeom prst="ellipse">
            <a:avLst/>
          </a:prstGeom>
          <a:solidFill>
            <a:srgbClr val="1F6FB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302812" y="1948715"/>
            <a:ext cx="667512" cy="411480"/>
          </a:xfrm>
          <a:prstGeom prst="roundRect">
            <a:avLst/>
          </a:prstGeom>
          <a:solidFill>
            <a:srgbClr val="D9482B"/>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600" b="1">
                <a:solidFill>
                  <a:srgbClr val="FFFFFF"/>
                </a:solidFill>
                <a:latin typeface="Calibri"/>
              </a:rPr>
              <a:t>Line</a:t>
            </a:r>
          </a:p>
        </p:txBody>
      </p:sp>
      <p:sp>
        <p:nvSpPr>
          <p:cNvPr id="8" name="Rounded Rectangle 7"/>
          <p:cNvSpPr/>
          <p:nvPr/>
        </p:nvSpPr>
        <p:spPr>
          <a:xfrm>
            <a:off x="2331454" y="3508678"/>
            <a:ext cx="996695" cy="411480"/>
          </a:xfrm>
          <a:prstGeom prst="round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600" b="1">
                <a:solidFill>
                  <a:srgbClr val="FFFFFF"/>
                </a:solidFill>
                <a:latin typeface="Calibri"/>
              </a:rPr>
              <a:t>Polygon</a:t>
            </a:r>
          </a:p>
        </p:txBody>
      </p:sp>
      <p:sp>
        <p:nvSpPr>
          <p:cNvPr id="9" name="Rounded Rectangle 8"/>
          <p:cNvSpPr/>
          <p:nvPr/>
        </p:nvSpPr>
        <p:spPr>
          <a:xfrm>
            <a:off x="5345702" y="3749216"/>
            <a:ext cx="777240" cy="411480"/>
          </a:xfrm>
          <a:prstGeom prst="round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600" b="1">
                <a:solidFill>
                  <a:srgbClr val="FFFFFF"/>
                </a:solidFill>
                <a:latin typeface="Calibri"/>
              </a:rPr>
              <a:t>Point</a:t>
            </a:r>
          </a:p>
        </p:txBody>
      </p:sp>
      <p:sp>
        <p:nvSpPr>
          <p:cNvPr id="10" name="TextBox 9"/>
          <p:cNvSpPr txBox="1"/>
          <p:nvPr/>
        </p:nvSpPr>
        <p:spPr>
          <a:xfrm>
            <a:off x="8595360" y="1371600"/>
            <a:ext cx="3108960" cy="457200"/>
          </a:xfrm>
          <a:prstGeom prst="rect">
            <a:avLst/>
          </a:prstGeom>
          <a:noFill/>
        </p:spPr>
        <p:txBody>
          <a:bodyPr wrap="square" lIns="45720" rIns="45720" anchor="t">
            <a:spAutoFit/>
          </a:bodyPr>
          <a:lstStyle/>
          <a:p>
            <a:pPr algn="l">
              <a:spcAft>
                <a:spcPts val="1000"/>
              </a:spcAft>
            </a:pPr>
            <a:r>
              <a:rPr sz="2400" b="1">
                <a:solidFill>
                  <a:srgbClr val="1F2937"/>
                </a:solidFill>
                <a:latin typeface="Calibri"/>
              </a:rPr>
              <a:t>Can you guess?</a:t>
            </a:r>
          </a:p>
        </p:txBody>
      </p:sp>
      <p:sp>
        <p:nvSpPr>
          <p:cNvPr id="11" name="TextBox 10"/>
          <p:cNvSpPr txBox="1"/>
          <p:nvPr/>
        </p:nvSpPr>
        <p:spPr>
          <a:xfrm>
            <a:off x="8595360" y="1965960"/>
            <a:ext cx="3108960" cy="2743200"/>
          </a:xfrm>
          <a:prstGeom prst="rect">
            <a:avLst/>
          </a:prstGeom>
          <a:noFill/>
        </p:spPr>
        <p:txBody>
          <a:bodyPr wrap="square" lIns="45720" rIns="45720" anchor="t">
            <a:spAutoFit/>
          </a:bodyPr>
          <a:lstStyle/>
          <a:p>
            <a:pPr marL="320040" indent="-274320" algn="l">
              <a:spcAft>
                <a:spcPts val="1000"/>
              </a:spcAft>
              <a:buChar char="•"/>
            </a:pPr>
            <a:r>
              <a:rPr sz="2000" b="0">
                <a:solidFill>
                  <a:srgbClr val="1F2937"/>
                </a:solidFill>
                <a:latin typeface="Calibri"/>
              </a:rPr>
              <a:t>What is the red line?</a:t>
            </a:r>
          </a:p>
          <a:p>
            <a:pPr marL="320040" indent="-274320" algn="l">
              <a:spcAft>
                <a:spcPts val="1000"/>
              </a:spcAft>
              <a:buChar char="•"/>
            </a:pPr>
            <a:r>
              <a:rPr sz="2000" b="0">
                <a:solidFill>
                  <a:srgbClr val="1F2937"/>
                </a:solidFill>
                <a:latin typeface="Calibri"/>
              </a:rPr>
              <a:t>What is inside the yellow polygon?</a:t>
            </a:r>
          </a:p>
          <a:p>
            <a:pPr marL="320040" indent="-274320" algn="l">
              <a:spcAft>
                <a:spcPts val="1000"/>
              </a:spcAft>
              <a:buChar char="•"/>
            </a:pPr>
            <a:r>
              <a:rPr sz="2000" b="0">
                <a:solidFill>
                  <a:srgbClr val="1F2937"/>
                </a:solidFill>
                <a:latin typeface="Calibri"/>
              </a:rPr>
              <a:t>What is the blue point?</a:t>
            </a:r>
          </a:p>
        </p:txBody>
      </p:sp>
      <p:sp>
        <p:nvSpPr>
          <p:cNvPr id="12" name="Rounded Rectangle 11"/>
          <p:cNvSpPr/>
          <p:nvPr/>
        </p:nvSpPr>
        <p:spPr>
          <a:xfrm>
            <a:off x="8595360" y="4206240"/>
            <a:ext cx="3017520" cy="1737360"/>
          </a:xfrm>
          <a:prstGeom prst="roundRect">
            <a:avLst>
              <a:gd name="adj" fmla="val 8000"/>
            </a:avLst>
          </a:prstGeom>
          <a:solidFill>
            <a:srgbClr val="E7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823960" y="4389120"/>
            <a:ext cx="2560320" cy="365760"/>
          </a:xfrm>
          <a:prstGeom prst="rect">
            <a:avLst/>
          </a:prstGeom>
          <a:noFill/>
        </p:spPr>
        <p:txBody>
          <a:bodyPr wrap="square" lIns="45720" rIns="45720" anchor="t">
            <a:spAutoFit/>
          </a:bodyPr>
          <a:lstStyle/>
          <a:p>
            <a:pPr algn="l">
              <a:spcAft>
                <a:spcPts val="1000"/>
              </a:spcAft>
            </a:pPr>
            <a:r>
              <a:rPr sz="1400" b="1">
                <a:solidFill>
                  <a:srgbClr val="1F6FB2"/>
                </a:solidFill>
                <a:latin typeface="Calibri"/>
              </a:rPr>
              <a:t>YOUR TURN</a:t>
            </a:r>
          </a:p>
        </p:txBody>
      </p:sp>
      <p:sp>
        <p:nvSpPr>
          <p:cNvPr id="14" name="TextBox 13"/>
          <p:cNvSpPr txBox="1"/>
          <p:nvPr/>
        </p:nvSpPr>
        <p:spPr>
          <a:xfrm>
            <a:off x="8823960" y="4754879"/>
            <a:ext cx="2560320" cy="1051560"/>
          </a:xfrm>
          <a:prstGeom prst="rect">
            <a:avLst/>
          </a:prstGeom>
          <a:noFill/>
        </p:spPr>
        <p:txBody>
          <a:bodyPr wrap="square" lIns="45720" rIns="45720" anchor="t">
            <a:spAutoFit/>
          </a:bodyPr>
          <a:lstStyle/>
          <a:p>
            <a:pPr algn="l">
              <a:spcAft>
                <a:spcPts val="1000"/>
              </a:spcAft>
            </a:pPr>
            <a:r>
              <a:rPr sz="1600" b="0">
                <a:solidFill>
                  <a:srgbClr val="1F2937"/>
                </a:solidFill>
                <a:latin typeface="Calibri"/>
              </a:rPr>
              <a:t>Find one more point, line and polygon in this picture.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822960"/>
          </a:xfrm>
          <a:prstGeom prst="rect">
            <a:avLst/>
          </a:prstGeom>
          <a:noFill/>
        </p:spPr>
        <p:txBody>
          <a:bodyPr wrap="square" lIns="45720" rIns="45720" anchor="t">
            <a:spAutoFit/>
          </a:bodyPr>
          <a:lstStyle/>
          <a:p>
            <a:pPr algn="l">
              <a:spcAft>
                <a:spcPts val="1000"/>
              </a:spcAft>
            </a:pPr>
            <a:r>
              <a:rPr sz="3600" b="1">
                <a:solidFill>
                  <a:srgbClr val="0F2340"/>
                </a:solidFill>
                <a:latin typeface="Calibri"/>
              </a:rPr>
              <a:t>Two kinds of map data</a:t>
            </a:r>
          </a:p>
        </p:txBody>
      </p:sp>
      <p:sp>
        <p:nvSpPr>
          <p:cNvPr id="3" name="Rectangle 2"/>
          <p:cNvSpPr/>
          <p:nvPr/>
        </p:nvSpPr>
        <p:spPr>
          <a:xfrm>
            <a:off x="822960" y="1463040"/>
            <a:ext cx="502920" cy="502920"/>
          </a:xfrm>
          <a:prstGeom prst="rect">
            <a:avLst/>
          </a:prstGeom>
          <a:solidFill>
            <a:srgbClr val="C8A2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325880" y="1463040"/>
            <a:ext cx="502920" cy="502920"/>
          </a:xfrm>
          <a:prstGeom prst="rect">
            <a:avLst/>
          </a:prstGeom>
          <a:solidFill>
            <a:srgbClr val="C8A2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828800" y="1463040"/>
            <a:ext cx="502920" cy="502920"/>
          </a:xfrm>
          <a:prstGeom prst="rect">
            <a:avLst/>
          </a:prstGeom>
          <a:solidFill>
            <a:srgbClr val="C8A2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331720" y="1463040"/>
            <a:ext cx="502920" cy="502920"/>
          </a:xfrm>
          <a:prstGeom prst="rect">
            <a:avLst/>
          </a:prstGeom>
          <a:solidFill>
            <a:srgbClr val="C8A2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834640" y="1463040"/>
            <a:ext cx="502920" cy="502920"/>
          </a:xfrm>
          <a:prstGeom prst="rect">
            <a:avLst/>
          </a:prstGeom>
          <a:solidFill>
            <a:srgbClr val="2E7D4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337560" y="1463040"/>
            <a:ext cx="502920" cy="502920"/>
          </a:xfrm>
          <a:prstGeom prst="rect">
            <a:avLst/>
          </a:prstGeom>
          <a:solidFill>
            <a:srgbClr val="2E7D4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840480" y="1463040"/>
            <a:ext cx="502920" cy="502920"/>
          </a:xfrm>
          <a:prstGeom prst="rect">
            <a:avLst/>
          </a:prstGeom>
          <a:solidFill>
            <a:srgbClr val="2E7D4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43400" y="1463040"/>
            <a:ext cx="502920" cy="502920"/>
          </a:xfrm>
          <a:prstGeom prst="rect">
            <a:avLst/>
          </a:prstGeom>
          <a:solidFill>
            <a:srgbClr val="2E7D4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22960" y="1965960"/>
            <a:ext cx="502920" cy="502920"/>
          </a:xfrm>
          <a:prstGeom prst="rect">
            <a:avLst/>
          </a:prstGeom>
          <a:solidFill>
            <a:srgbClr val="C8A2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325880" y="1965960"/>
            <a:ext cx="502920" cy="502920"/>
          </a:xfrm>
          <a:prstGeom prst="rect">
            <a:avLst/>
          </a:prstGeom>
          <a:solidFill>
            <a:srgbClr val="C8A2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828800" y="1965960"/>
            <a:ext cx="502920" cy="502920"/>
          </a:xfrm>
          <a:prstGeom prst="rect">
            <a:avLst/>
          </a:prstGeom>
          <a:solidFill>
            <a:srgbClr val="C8A2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331720" y="1965960"/>
            <a:ext cx="502920" cy="502920"/>
          </a:xfrm>
          <a:prstGeom prst="rect">
            <a:avLst/>
          </a:prstGeom>
          <a:solidFill>
            <a:srgbClr val="2E7D4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834640" y="1965960"/>
            <a:ext cx="502920" cy="502920"/>
          </a:xfrm>
          <a:prstGeom prst="rect">
            <a:avLst/>
          </a:prstGeom>
          <a:solidFill>
            <a:srgbClr val="2E7D4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337560" y="1965960"/>
            <a:ext cx="502920" cy="502920"/>
          </a:xfrm>
          <a:prstGeom prst="rect">
            <a:avLst/>
          </a:prstGeom>
          <a:solidFill>
            <a:srgbClr val="2E7D4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840480" y="1965960"/>
            <a:ext cx="502920" cy="502920"/>
          </a:xfrm>
          <a:prstGeom prst="rect">
            <a:avLst/>
          </a:prstGeom>
          <a:solidFill>
            <a:srgbClr val="2E7D4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43400" y="1965960"/>
            <a:ext cx="502920" cy="502920"/>
          </a:xfrm>
          <a:prstGeom prst="rect">
            <a:avLst/>
          </a:prstGeom>
          <a:solidFill>
            <a:srgbClr val="2E7D4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22960" y="2468880"/>
            <a:ext cx="502920" cy="502920"/>
          </a:xfrm>
          <a:prstGeom prst="rect">
            <a:avLst/>
          </a:prstGeom>
          <a:solidFill>
            <a:srgbClr val="C8A2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325880" y="2468880"/>
            <a:ext cx="502920" cy="502920"/>
          </a:xfrm>
          <a:prstGeom prst="rect">
            <a:avLst/>
          </a:prstGeom>
          <a:solidFill>
            <a:srgbClr val="C8A2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828800" y="2468880"/>
            <a:ext cx="502920" cy="502920"/>
          </a:xfrm>
          <a:prstGeom prst="rect">
            <a:avLst/>
          </a:prstGeom>
          <a:solidFill>
            <a:srgbClr val="2E7D4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331720" y="2468880"/>
            <a:ext cx="502920" cy="502920"/>
          </a:xfrm>
          <a:prstGeom prst="rect">
            <a:avLst/>
          </a:prstGeom>
          <a:solidFill>
            <a:srgbClr val="2E7D4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834640" y="2468880"/>
            <a:ext cx="502920" cy="502920"/>
          </a:xfrm>
          <a:prstGeom prst="rect">
            <a:avLst/>
          </a:prstGeom>
          <a:solidFill>
            <a:srgbClr val="2E7D4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337560" y="2468880"/>
            <a:ext cx="502920" cy="502920"/>
          </a:xfrm>
          <a:prstGeom prst="rect">
            <a:avLst/>
          </a:prstGeom>
          <a:solidFill>
            <a:srgbClr val="2E7D4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840480" y="2468880"/>
            <a:ext cx="502920" cy="502920"/>
          </a:xfrm>
          <a:prstGeom prst="rect">
            <a:avLst/>
          </a:prstGeom>
          <a:solidFill>
            <a:srgbClr val="1F6FB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343400" y="2468880"/>
            <a:ext cx="502920" cy="502920"/>
          </a:xfrm>
          <a:prstGeom prst="rect">
            <a:avLst/>
          </a:prstGeom>
          <a:solidFill>
            <a:srgbClr val="1F6FB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22960" y="2971800"/>
            <a:ext cx="502920" cy="502920"/>
          </a:xfrm>
          <a:prstGeom prst="rect">
            <a:avLst/>
          </a:prstGeom>
          <a:solidFill>
            <a:srgbClr val="C8A2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1325880" y="2971800"/>
            <a:ext cx="502920" cy="502920"/>
          </a:xfrm>
          <a:prstGeom prst="rect">
            <a:avLst/>
          </a:prstGeom>
          <a:solidFill>
            <a:srgbClr val="2E7D4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828800" y="2971800"/>
            <a:ext cx="502920" cy="502920"/>
          </a:xfrm>
          <a:prstGeom prst="rect">
            <a:avLst/>
          </a:prstGeom>
          <a:solidFill>
            <a:srgbClr val="2E7D4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331720" y="2971800"/>
            <a:ext cx="502920" cy="502920"/>
          </a:xfrm>
          <a:prstGeom prst="rect">
            <a:avLst/>
          </a:prstGeom>
          <a:solidFill>
            <a:srgbClr val="2E7D4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834640" y="2971800"/>
            <a:ext cx="502920" cy="502920"/>
          </a:xfrm>
          <a:prstGeom prst="rect">
            <a:avLst/>
          </a:prstGeom>
          <a:solidFill>
            <a:srgbClr val="2E7D4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337560" y="2971800"/>
            <a:ext cx="502920" cy="502920"/>
          </a:xfrm>
          <a:prstGeom prst="rect">
            <a:avLst/>
          </a:prstGeom>
          <a:solidFill>
            <a:srgbClr val="2E7D4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840480" y="2971800"/>
            <a:ext cx="502920" cy="502920"/>
          </a:xfrm>
          <a:prstGeom prst="rect">
            <a:avLst/>
          </a:prstGeom>
          <a:solidFill>
            <a:srgbClr val="1F6FB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343400" y="2971800"/>
            <a:ext cx="502920" cy="502920"/>
          </a:xfrm>
          <a:prstGeom prst="rect">
            <a:avLst/>
          </a:prstGeom>
          <a:solidFill>
            <a:srgbClr val="1F6FB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22960" y="3474720"/>
            <a:ext cx="502920" cy="502920"/>
          </a:xfrm>
          <a:prstGeom prst="rect">
            <a:avLst/>
          </a:prstGeom>
          <a:solidFill>
            <a:srgbClr val="2E7D4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1325880" y="3474720"/>
            <a:ext cx="502920" cy="502920"/>
          </a:xfrm>
          <a:prstGeom prst="rect">
            <a:avLst/>
          </a:prstGeom>
          <a:solidFill>
            <a:srgbClr val="2E7D4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828800" y="3474720"/>
            <a:ext cx="502920" cy="502920"/>
          </a:xfrm>
          <a:prstGeom prst="rect">
            <a:avLst/>
          </a:prstGeom>
          <a:solidFill>
            <a:srgbClr val="2E7D4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2331720" y="3474720"/>
            <a:ext cx="502920" cy="502920"/>
          </a:xfrm>
          <a:prstGeom prst="rect">
            <a:avLst/>
          </a:prstGeom>
          <a:solidFill>
            <a:srgbClr val="2E7D4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2834640" y="3474720"/>
            <a:ext cx="502920" cy="502920"/>
          </a:xfrm>
          <a:prstGeom prst="rect">
            <a:avLst/>
          </a:prstGeom>
          <a:solidFill>
            <a:srgbClr val="1F6FB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3337560" y="3474720"/>
            <a:ext cx="502920" cy="502920"/>
          </a:xfrm>
          <a:prstGeom prst="rect">
            <a:avLst/>
          </a:prstGeom>
          <a:solidFill>
            <a:srgbClr val="1F6FB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3840480" y="3474720"/>
            <a:ext cx="502920" cy="502920"/>
          </a:xfrm>
          <a:prstGeom prst="rect">
            <a:avLst/>
          </a:prstGeom>
          <a:solidFill>
            <a:srgbClr val="1F6FB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343400" y="3474720"/>
            <a:ext cx="502920" cy="502920"/>
          </a:xfrm>
          <a:prstGeom prst="rect">
            <a:avLst/>
          </a:prstGeom>
          <a:solidFill>
            <a:srgbClr val="1F6FB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822960" y="3977639"/>
            <a:ext cx="502920" cy="502920"/>
          </a:xfrm>
          <a:prstGeom prst="rect">
            <a:avLst/>
          </a:prstGeom>
          <a:solidFill>
            <a:srgbClr val="2E7D4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1325880" y="3977639"/>
            <a:ext cx="502920" cy="502920"/>
          </a:xfrm>
          <a:prstGeom prst="rect">
            <a:avLst/>
          </a:prstGeom>
          <a:solidFill>
            <a:srgbClr val="2E7D4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1828800" y="3977639"/>
            <a:ext cx="502920" cy="502920"/>
          </a:xfrm>
          <a:prstGeom prst="rect">
            <a:avLst/>
          </a:prstGeom>
          <a:solidFill>
            <a:srgbClr val="2E7D4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2331720" y="3977639"/>
            <a:ext cx="502920" cy="502920"/>
          </a:xfrm>
          <a:prstGeom prst="rect">
            <a:avLst/>
          </a:prstGeom>
          <a:solidFill>
            <a:srgbClr val="1F6FB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2834640" y="3977639"/>
            <a:ext cx="502920" cy="502920"/>
          </a:xfrm>
          <a:prstGeom prst="rect">
            <a:avLst/>
          </a:prstGeom>
          <a:solidFill>
            <a:srgbClr val="1F6FB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3337560" y="3977639"/>
            <a:ext cx="502920" cy="502920"/>
          </a:xfrm>
          <a:prstGeom prst="rect">
            <a:avLst/>
          </a:prstGeom>
          <a:solidFill>
            <a:srgbClr val="1F6FB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3840480" y="3977639"/>
            <a:ext cx="502920" cy="502920"/>
          </a:xfrm>
          <a:prstGeom prst="rect">
            <a:avLst/>
          </a:prstGeom>
          <a:solidFill>
            <a:srgbClr val="1F6FB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4343400" y="3977639"/>
            <a:ext cx="502920" cy="502920"/>
          </a:xfrm>
          <a:prstGeom prst="rect">
            <a:avLst/>
          </a:prstGeom>
          <a:solidFill>
            <a:srgbClr val="1F6FB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960" y="4617720"/>
            <a:ext cx="4023360" cy="457200"/>
          </a:xfrm>
          <a:prstGeom prst="rect">
            <a:avLst/>
          </a:prstGeom>
          <a:noFill/>
        </p:spPr>
        <p:txBody>
          <a:bodyPr wrap="square" lIns="45720" rIns="45720" anchor="t">
            <a:spAutoFit/>
          </a:bodyPr>
          <a:lstStyle/>
          <a:p>
            <a:pPr algn="l">
              <a:spcAft>
                <a:spcPts val="1000"/>
              </a:spcAft>
            </a:pPr>
            <a:r>
              <a:rPr sz="2600" b="1">
                <a:solidFill>
                  <a:srgbClr val="2E7D4F"/>
                </a:solidFill>
                <a:latin typeface="Calibri"/>
              </a:rPr>
              <a:t>Raster</a:t>
            </a:r>
          </a:p>
        </p:txBody>
      </p:sp>
      <p:sp>
        <p:nvSpPr>
          <p:cNvPr id="52" name="TextBox 51"/>
          <p:cNvSpPr txBox="1"/>
          <p:nvPr/>
        </p:nvSpPr>
        <p:spPr>
          <a:xfrm>
            <a:off x="822960" y="5120640"/>
            <a:ext cx="4206240" cy="1097280"/>
          </a:xfrm>
          <a:prstGeom prst="rect">
            <a:avLst/>
          </a:prstGeom>
          <a:noFill/>
        </p:spPr>
        <p:txBody>
          <a:bodyPr wrap="square" lIns="45720" rIns="45720" anchor="t">
            <a:spAutoFit/>
          </a:bodyPr>
          <a:lstStyle/>
          <a:p>
            <a:pPr algn="l">
              <a:spcAft>
                <a:spcPts val="1000"/>
              </a:spcAft>
            </a:pPr>
            <a:r>
              <a:rPr sz="1800" b="0">
                <a:solidFill>
                  <a:srgbClr val="1F2937"/>
                </a:solidFill>
                <a:latin typeface="Calibri"/>
              </a:rPr>
              <a:t>A grid of tiny coloured squares called pixels. A satellite photo is raster.</a:t>
            </a:r>
          </a:p>
        </p:txBody>
      </p:sp>
      <p:sp>
        <p:nvSpPr>
          <p:cNvPr id="53" name="Rounded Rectangle 52"/>
          <p:cNvSpPr/>
          <p:nvPr/>
        </p:nvSpPr>
        <p:spPr>
          <a:xfrm>
            <a:off x="6492240" y="1463040"/>
            <a:ext cx="4023360" cy="3017520"/>
          </a:xfrm>
          <a:prstGeom prst="roundRect">
            <a:avLst>
              <a:gd name="adj" fmla="val 5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Freeform 53"/>
          <p:cNvSpPr/>
          <p:nvPr/>
        </p:nvSpPr>
        <p:spPr>
          <a:xfrm>
            <a:off x="6949440" y="1783080"/>
            <a:ext cx="3017520" cy="2057400"/>
          </a:xfrm>
          <a:custGeom>
            <a:avLst/>
            <a:gdLst/>
            <a:ahLst/>
            <a:cxnLst/>
            <a:rect l="l" t="t" r="r" b="b"/>
            <a:pathLst>
              <a:path w="3017520" h="2057400">
                <a:moveTo>
                  <a:pt x="0" y="137160"/>
                </a:moveTo>
                <a:lnTo>
                  <a:pt x="1828800" y="0"/>
                </a:lnTo>
                <a:lnTo>
                  <a:pt x="3017520" y="868680"/>
                </a:lnTo>
                <a:lnTo>
                  <a:pt x="2103120" y="2057400"/>
                </a:lnTo>
                <a:lnTo>
                  <a:pt x="274320" y="1783080"/>
                </a:lnTo>
                <a:close/>
              </a:path>
            </a:pathLst>
          </a:custGeom>
          <a:solidFill>
            <a:srgbClr val="FEF3C7"/>
          </a:solidFill>
          <a:ln w="50800">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Freeform 54"/>
          <p:cNvSpPr/>
          <p:nvPr/>
        </p:nvSpPr>
        <p:spPr>
          <a:xfrm>
            <a:off x="6675120" y="2011680"/>
            <a:ext cx="3657600" cy="2194560"/>
          </a:xfrm>
          <a:custGeom>
            <a:avLst/>
            <a:gdLst/>
            <a:ahLst/>
            <a:cxnLst/>
            <a:rect l="l" t="t" r="r" b="b"/>
            <a:pathLst>
              <a:path w="3657600" h="2194560">
                <a:moveTo>
                  <a:pt x="0" y="2194560"/>
                </a:moveTo>
                <a:lnTo>
                  <a:pt x="1188720" y="1005840"/>
                </a:lnTo>
                <a:lnTo>
                  <a:pt x="2651760" y="1280160"/>
                </a:lnTo>
                <a:lnTo>
                  <a:pt x="3657600" y="0"/>
                </a:lnTo>
              </a:path>
            </a:pathLst>
          </a:custGeom>
          <a:noFill/>
          <a:ln w="63500">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8161019" y="2400300"/>
            <a:ext cx="320040" cy="320040"/>
          </a:xfrm>
          <a:prstGeom prst="ellipse">
            <a:avLst/>
          </a:prstGeom>
          <a:solidFill>
            <a:srgbClr val="D9482B"/>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492240" y="4617720"/>
            <a:ext cx="4023360" cy="457200"/>
          </a:xfrm>
          <a:prstGeom prst="rect">
            <a:avLst/>
          </a:prstGeom>
          <a:noFill/>
        </p:spPr>
        <p:txBody>
          <a:bodyPr wrap="square" lIns="45720" rIns="45720" anchor="t">
            <a:spAutoFit/>
          </a:bodyPr>
          <a:lstStyle/>
          <a:p>
            <a:pPr algn="l">
              <a:spcAft>
                <a:spcPts val="1000"/>
              </a:spcAft>
            </a:pPr>
            <a:r>
              <a:rPr sz="2600" b="1">
                <a:solidFill>
                  <a:srgbClr val="E8A317"/>
                </a:solidFill>
                <a:latin typeface="Calibri"/>
              </a:rPr>
              <a:t>Vector</a:t>
            </a:r>
          </a:p>
        </p:txBody>
      </p:sp>
      <p:sp>
        <p:nvSpPr>
          <p:cNvPr id="58" name="TextBox 57"/>
          <p:cNvSpPr txBox="1"/>
          <p:nvPr/>
        </p:nvSpPr>
        <p:spPr>
          <a:xfrm>
            <a:off x="6492240" y="5120640"/>
            <a:ext cx="4572000" cy="1097280"/>
          </a:xfrm>
          <a:prstGeom prst="rect">
            <a:avLst/>
          </a:prstGeom>
          <a:noFill/>
        </p:spPr>
        <p:txBody>
          <a:bodyPr wrap="square" lIns="45720" rIns="45720" anchor="t">
            <a:spAutoFit/>
          </a:bodyPr>
          <a:lstStyle/>
          <a:p>
            <a:pPr algn="l">
              <a:spcAft>
                <a:spcPts val="1000"/>
              </a:spcAft>
            </a:pPr>
            <a:r>
              <a:rPr sz="1800" b="0">
                <a:solidFill>
                  <a:srgbClr val="1F2937"/>
                </a:solidFill>
                <a:latin typeface="Calibri"/>
              </a:rPr>
              <a:t>Points, lines and polygons. The India outline you load in Exercise 1 is vector.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822960"/>
          </a:xfrm>
          <a:prstGeom prst="rect">
            <a:avLst/>
          </a:prstGeom>
          <a:noFill/>
        </p:spPr>
        <p:txBody>
          <a:bodyPr wrap="square" lIns="45720" rIns="45720" anchor="t">
            <a:spAutoFit/>
          </a:bodyPr>
          <a:lstStyle/>
          <a:p>
            <a:pPr algn="l">
              <a:spcAft>
                <a:spcPts val="1000"/>
              </a:spcAft>
            </a:pPr>
            <a:r>
              <a:rPr sz="3600" b="1">
                <a:solidFill>
                  <a:srgbClr val="0F2340"/>
                </a:solidFill>
                <a:latin typeface="Calibri"/>
              </a:rPr>
              <a:t>What is a map?</a:t>
            </a:r>
          </a:p>
        </p:txBody>
      </p:sp>
      <p:sp>
        <p:nvSpPr>
          <p:cNvPr id="3" name="TextBox 2"/>
          <p:cNvSpPr txBox="1"/>
          <p:nvPr/>
        </p:nvSpPr>
        <p:spPr>
          <a:xfrm>
            <a:off x="548640" y="1280160"/>
            <a:ext cx="5669280" cy="1280160"/>
          </a:xfrm>
          <a:prstGeom prst="rect">
            <a:avLst/>
          </a:prstGeom>
          <a:noFill/>
        </p:spPr>
        <p:txBody>
          <a:bodyPr wrap="square" lIns="45720" rIns="45720" anchor="t">
            <a:spAutoFit/>
          </a:bodyPr>
          <a:lstStyle/>
          <a:p>
            <a:pPr algn="l">
              <a:spcAft>
                <a:spcPts val="1000"/>
              </a:spcAft>
            </a:pPr>
            <a:r>
              <a:rPr sz="2000" b="0">
                <a:solidFill>
                  <a:srgbClr val="1F2937"/>
                </a:solidFill>
                <a:latin typeface="Calibri"/>
              </a:rPr>
              <a:t>A map is a picture of a place, drawn from above, that shows where things are and how they relate to each other.</a:t>
            </a:r>
          </a:p>
        </p:txBody>
      </p:sp>
      <p:pic>
        <p:nvPicPr>
          <p:cNvPr id="4" name="Picture 3" descr="Map-of-India.png"/>
          <p:cNvPicPr>
            <a:picLocks noChangeAspect="1"/>
          </p:cNvPicPr>
          <p:nvPr/>
        </p:nvPicPr>
        <p:blipFill>
          <a:blip r:embed="rId3"/>
          <a:stretch>
            <a:fillRect/>
          </a:stretch>
        </p:blipFill>
        <p:spPr>
          <a:xfrm>
            <a:off x="7726679" y="1005840"/>
            <a:ext cx="3840480" cy="5432421"/>
          </a:xfrm>
          <a:prstGeom prst="rect">
            <a:avLst/>
          </a:prstGeom>
          <a:ln w="12700">
            <a:solidFill>
              <a:srgbClr val="D1D5DB"/>
            </a:solidFill>
          </a:ln>
        </p:spPr>
      </p:pic>
      <p:sp>
        <p:nvSpPr>
          <p:cNvPr id="5" name="Oval 4"/>
          <p:cNvSpPr/>
          <p:nvPr/>
        </p:nvSpPr>
        <p:spPr>
          <a:xfrm>
            <a:off x="557784" y="2862072"/>
            <a:ext cx="438912" cy="438912"/>
          </a:xfrm>
          <a:prstGeom prst="ellipse">
            <a:avLst/>
          </a:prstGeom>
          <a:solidFill>
            <a:srgbClr val="2E7D4F"/>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1</a:t>
            </a:r>
          </a:p>
        </p:txBody>
      </p:sp>
      <p:sp>
        <p:nvSpPr>
          <p:cNvPr id="6" name="TextBox 5"/>
          <p:cNvSpPr txBox="1"/>
          <p:nvPr/>
        </p:nvSpPr>
        <p:spPr>
          <a:xfrm>
            <a:off x="1188720" y="2834640"/>
            <a:ext cx="2011680" cy="457200"/>
          </a:xfrm>
          <a:prstGeom prst="rect">
            <a:avLst/>
          </a:prstGeom>
          <a:noFill/>
        </p:spPr>
        <p:txBody>
          <a:bodyPr wrap="square" lIns="45720" rIns="45720" anchor="t">
            <a:spAutoFit/>
          </a:bodyPr>
          <a:lstStyle/>
          <a:p>
            <a:pPr algn="l">
              <a:spcAft>
                <a:spcPts val="1000"/>
              </a:spcAft>
            </a:pPr>
            <a:r>
              <a:rPr sz="2000" b="1">
                <a:solidFill>
                  <a:srgbClr val="2E7D4F"/>
                </a:solidFill>
                <a:latin typeface="Calibri"/>
              </a:rPr>
              <a:t>Title</a:t>
            </a:r>
          </a:p>
        </p:txBody>
      </p:sp>
      <p:sp>
        <p:nvSpPr>
          <p:cNvPr id="7" name="TextBox 6"/>
          <p:cNvSpPr txBox="1"/>
          <p:nvPr/>
        </p:nvSpPr>
        <p:spPr>
          <a:xfrm>
            <a:off x="3200400" y="2834640"/>
            <a:ext cx="4023360" cy="457200"/>
          </a:xfrm>
          <a:prstGeom prst="rect">
            <a:avLst/>
          </a:prstGeom>
          <a:noFill/>
        </p:spPr>
        <p:txBody>
          <a:bodyPr wrap="square" lIns="45720" rIns="45720" anchor="t">
            <a:spAutoFit/>
          </a:bodyPr>
          <a:lstStyle/>
          <a:p>
            <a:pPr algn="l">
              <a:spcAft>
                <a:spcPts val="1000"/>
              </a:spcAft>
            </a:pPr>
            <a:r>
              <a:rPr sz="2000" b="0">
                <a:solidFill>
                  <a:srgbClr val="1F2937"/>
                </a:solidFill>
                <a:latin typeface="Calibri"/>
              </a:rPr>
              <a:t>says what the map shows</a:t>
            </a:r>
          </a:p>
        </p:txBody>
      </p:sp>
      <p:sp>
        <p:nvSpPr>
          <p:cNvPr id="8" name="Oval 7"/>
          <p:cNvSpPr/>
          <p:nvPr/>
        </p:nvSpPr>
        <p:spPr>
          <a:xfrm>
            <a:off x="8715116" y="1003185"/>
            <a:ext cx="438912" cy="438912"/>
          </a:xfrm>
          <a:prstGeom prst="ellipse">
            <a:avLst/>
          </a:prstGeom>
          <a:solidFill>
            <a:srgbClr val="2E7D4F"/>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1</a:t>
            </a:r>
          </a:p>
        </p:txBody>
      </p:sp>
      <p:sp>
        <p:nvSpPr>
          <p:cNvPr id="9" name="Oval 8"/>
          <p:cNvSpPr/>
          <p:nvPr/>
        </p:nvSpPr>
        <p:spPr>
          <a:xfrm>
            <a:off x="557784" y="3685031"/>
            <a:ext cx="438912" cy="438912"/>
          </a:xfrm>
          <a:prstGeom prst="ellipse">
            <a:avLst/>
          </a:prstGeom>
          <a:solidFill>
            <a:srgbClr val="2E7D4F"/>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2</a:t>
            </a:r>
          </a:p>
        </p:txBody>
      </p:sp>
      <p:sp>
        <p:nvSpPr>
          <p:cNvPr id="10" name="TextBox 9"/>
          <p:cNvSpPr txBox="1"/>
          <p:nvPr/>
        </p:nvSpPr>
        <p:spPr>
          <a:xfrm>
            <a:off x="1188720" y="3657600"/>
            <a:ext cx="2011680" cy="457200"/>
          </a:xfrm>
          <a:prstGeom prst="rect">
            <a:avLst/>
          </a:prstGeom>
          <a:noFill/>
        </p:spPr>
        <p:txBody>
          <a:bodyPr wrap="square" lIns="45720" rIns="45720" anchor="t">
            <a:spAutoFit/>
          </a:bodyPr>
          <a:lstStyle/>
          <a:p>
            <a:pPr algn="l">
              <a:spcAft>
                <a:spcPts val="1000"/>
              </a:spcAft>
            </a:pPr>
            <a:r>
              <a:rPr sz="2000" b="1">
                <a:solidFill>
                  <a:srgbClr val="2E7D4F"/>
                </a:solidFill>
                <a:latin typeface="Calibri"/>
              </a:rPr>
              <a:t>North arrow</a:t>
            </a:r>
          </a:p>
        </p:txBody>
      </p:sp>
      <p:sp>
        <p:nvSpPr>
          <p:cNvPr id="11" name="TextBox 10"/>
          <p:cNvSpPr txBox="1"/>
          <p:nvPr/>
        </p:nvSpPr>
        <p:spPr>
          <a:xfrm>
            <a:off x="3200400" y="3657600"/>
            <a:ext cx="4023360" cy="457200"/>
          </a:xfrm>
          <a:prstGeom prst="rect">
            <a:avLst/>
          </a:prstGeom>
          <a:noFill/>
        </p:spPr>
        <p:txBody>
          <a:bodyPr wrap="square" lIns="45720" rIns="45720" anchor="t">
            <a:spAutoFit/>
          </a:bodyPr>
          <a:lstStyle/>
          <a:p>
            <a:pPr algn="l">
              <a:spcAft>
                <a:spcPts val="1000"/>
              </a:spcAft>
            </a:pPr>
            <a:r>
              <a:rPr sz="2000" b="0">
                <a:solidFill>
                  <a:srgbClr val="1F2937"/>
                </a:solidFill>
                <a:latin typeface="Calibri"/>
              </a:rPr>
              <a:t>shows which way is north</a:t>
            </a:r>
          </a:p>
        </p:txBody>
      </p:sp>
      <p:sp>
        <p:nvSpPr>
          <p:cNvPr id="12" name="Oval 11"/>
          <p:cNvSpPr/>
          <p:nvPr/>
        </p:nvSpPr>
        <p:spPr>
          <a:xfrm>
            <a:off x="10666328" y="1467759"/>
            <a:ext cx="438912" cy="438912"/>
          </a:xfrm>
          <a:prstGeom prst="ellipse">
            <a:avLst/>
          </a:prstGeom>
          <a:solidFill>
            <a:srgbClr val="2E7D4F"/>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2</a:t>
            </a:r>
          </a:p>
        </p:txBody>
      </p:sp>
      <p:sp>
        <p:nvSpPr>
          <p:cNvPr id="13" name="Oval 12"/>
          <p:cNvSpPr/>
          <p:nvPr/>
        </p:nvSpPr>
        <p:spPr>
          <a:xfrm>
            <a:off x="557784" y="4507992"/>
            <a:ext cx="438912" cy="438912"/>
          </a:xfrm>
          <a:prstGeom prst="ellipse">
            <a:avLst/>
          </a:prstGeom>
          <a:solidFill>
            <a:srgbClr val="2E7D4F"/>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3</a:t>
            </a:r>
          </a:p>
        </p:txBody>
      </p:sp>
      <p:sp>
        <p:nvSpPr>
          <p:cNvPr id="14" name="TextBox 13"/>
          <p:cNvSpPr txBox="1"/>
          <p:nvPr/>
        </p:nvSpPr>
        <p:spPr>
          <a:xfrm>
            <a:off x="1188720" y="4480560"/>
            <a:ext cx="2011680" cy="400110"/>
          </a:xfrm>
          <a:prstGeom prst="rect">
            <a:avLst/>
          </a:prstGeom>
          <a:noFill/>
        </p:spPr>
        <p:txBody>
          <a:bodyPr wrap="square" lIns="45720" rIns="45720" anchor="t">
            <a:spAutoFit/>
          </a:bodyPr>
          <a:lstStyle/>
          <a:p>
            <a:pPr algn="l">
              <a:spcAft>
                <a:spcPts val="1000"/>
              </a:spcAft>
            </a:pPr>
            <a:r>
              <a:rPr lang="en-US" sz="2000" b="1" dirty="0">
                <a:solidFill>
                  <a:srgbClr val="2E7D4F"/>
                </a:solidFill>
                <a:latin typeface="Calibri"/>
              </a:rPr>
              <a:t>Layers</a:t>
            </a:r>
            <a:endParaRPr sz="2000" b="1" dirty="0">
              <a:solidFill>
                <a:srgbClr val="2E7D4F"/>
              </a:solidFill>
              <a:latin typeface="Calibri"/>
            </a:endParaRPr>
          </a:p>
        </p:txBody>
      </p:sp>
      <p:sp>
        <p:nvSpPr>
          <p:cNvPr id="15" name="TextBox 14"/>
          <p:cNvSpPr txBox="1"/>
          <p:nvPr/>
        </p:nvSpPr>
        <p:spPr>
          <a:xfrm>
            <a:off x="3200400" y="4480560"/>
            <a:ext cx="4023360" cy="457200"/>
          </a:xfrm>
          <a:prstGeom prst="rect">
            <a:avLst/>
          </a:prstGeom>
          <a:noFill/>
        </p:spPr>
        <p:txBody>
          <a:bodyPr wrap="square" lIns="45720" rIns="45720" anchor="t">
            <a:spAutoFit/>
          </a:bodyPr>
          <a:lstStyle/>
          <a:p>
            <a:pPr algn="l">
              <a:spcAft>
                <a:spcPts val="1000"/>
              </a:spcAft>
            </a:pPr>
            <a:r>
              <a:rPr sz="2000" b="0">
                <a:solidFill>
                  <a:srgbClr val="1F2937"/>
                </a:solidFill>
                <a:latin typeface="Calibri"/>
              </a:rPr>
              <a:t>a polygon layer on top</a:t>
            </a:r>
          </a:p>
        </p:txBody>
      </p:sp>
      <p:sp>
        <p:nvSpPr>
          <p:cNvPr id="16" name="Oval 15"/>
          <p:cNvSpPr/>
          <p:nvPr/>
        </p:nvSpPr>
        <p:spPr>
          <a:xfrm>
            <a:off x="8436372" y="3573829"/>
            <a:ext cx="438912" cy="438912"/>
          </a:xfrm>
          <a:prstGeom prst="ellipse">
            <a:avLst/>
          </a:prstGeom>
          <a:solidFill>
            <a:srgbClr val="2E7D4F"/>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3</a:t>
            </a:r>
          </a:p>
        </p:txBody>
      </p:sp>
      <p:sp>
        <p:nvSpPr>
          <p:cNvPr id="17" name="Oval 16"/>
          <p:cNvSpPr/>
          <p:nvPr/>
        </p:nvSpPr>
        <p:spPr>
          <a:xfrm>
            <a:off x="557784" y="5330952"/>
            <a:ext cx="438912" cy="438912"/>
          </a:xfrm>
          <a:prstGeom prst="ellipse">
            <a:avLst/>
          </a:prstGeom>
          <a:solidFill>
            <a:srgbClr val="2E7D4F"/>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4</a:t>
            </a:r>
          </a:p>
        </p:txBody>
      </p:sp>
      <p:sp>
        <p:nvSpPr>
          <p:cNvPr id="18" name="TextBox 17"/>
          <p:cNvSpPr txBox="1"/>
          <p:nvPr/>
        </p:nvSpPr>
        <p:spPr>
          <a:xfrm>
            <a:off x="1188720" y="5303520"/>
            <a:ext cx="2011680" cy="457200"/>
          </a:xfrm>
          <a:prstGeom prst="rect">
            <a:avLst/>
          </a:prstGeom>
          <a:noFill/>
        </p:spPr>
        <p:txBody>
          <a:bodyPr wrap="square" lIns="45720" rIns="45720" anchor="t">
            <a:spAutoFit/>
          </a:bodyPr>
          <a:lstStyle/>
          <a:p>
            <a:pPr algn="l">
              <a:spcAft>
                <a:spcPts val="1000"/>
              </a:spcAft>
            </a:pPr>
            <a:r>
              <a:rPr sz="2000" b="1">
                <a:solidFill>
                  <a:srgbClr val="2E7D4F"/>
                </a:solidFill>
                <a:latin typeface="Calibri"/>
              </a:rPr>
              <a:t>Scale bar</a:t>
            </a:r>
          </a:p>
        </p:txBody>
      </p:sp>
      <p:sp>
        <p:nvSpPr>
          <p:cNvPr id="19" name="TextBox 18"/>
          <p:cNvSpPr txBox="1"/>
          <p:nvPr/>
        </p:nvSpPr>
        <p:spPr>
          <a:xfrm>
            <a:off x="3200400" y="5303520"/>
            <a:ext cx="4023360" cy="457200"/>
          </a:xfrm>
          <a:prstGeom prst="rect">
            <a:avLst/>
          </a:prstGeom>
          <a:noFill/>
        </p:spPr>
        <p:txBody>
          <a:bodyPr wrap="square" lIns="45720" rIns="45720" anchor="t">
            <a:spAutoFit/>
          </a:bodyPr>
          <a:lstStyle/>
          <a:p>
            <a:pPr algn="l">
              <a:spcAft>
                <a:spcPts val="1000"/>
              </a:spcAft>
            </a:pPr>
            <a:r>
              <a:rPr sz="2000" b="0">
                <a:solidFill>
                  <a:srgbClr val="1F2937"/>
                </a:solidFill>
                <a:latin typeface="Calibri"/>
              </a:rPr>
              <a:t>shows real distance</a:t>
            </a:r>
          </a:p>
        </p:txBody>
      </p:sp>
      <p:sp>
        <p:nvSpPr>
          <p:cNvPr id="20" name="Oval 19"/>
          <p:cNvSpPr/>
          <p:nvPr/>
        </p:nvSpPr>
        <p:spPr>
          <a:xfrm>
            <a:off x="10387584" y="5927671"/>
            <a:ext cx="438912" cy="438912"/>
          </a:xfrm>
          <a:prstGeom prst="ellipse">
            <a:avLst/>
          </a:prstGeom>
          <a:solidFill>
            <a:srgbClr val="2E7D4F"/>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822960"/>
          </a:xfrm>
          <a:prstGeom prst="rect">
            <a:avLst/>
          </a:prstGeom>
          <a:noFill/>
        </p:spPr>
        <p:txBody>
          <a:bodyPr wrap="square" lIns="45720" rIns="45720" anchor="t">
            <a:spAutoFit/>
          </a:bodyPr>
          <a:lstStyle/>
          <a:p>
            <a:pPr algn="l">
              <a:spcAft>
                <a:spcPts val="1000"/>
              </a:spcAft>
            </a:pPr>
            <a:r>
              <a:rPr sz="3600" b="1" dirty="0">
                <a:solidFill>
                  <a:srgbClr val="0F2340"/>
                </a:solidFill>
                <a:latin typeface="Calibri"/>
              </a:rPr>
              <a:t>Maps tell stories</a:t>
            </a:r>
          </a:p>
        </p:txBody>
      </p:sp>
      <p:pic>
        <p:nvPicPr>
          <p:cNvPr id="3" name="Picture 2" descr="lalkot_map.png"/>
          <p:cNvPicPr>
            <a:picLocks noChangeAspect="1"/>
          </p:cNvPicPr>
          <p:nvPr/>
        </p:nvPicPr>
        <p:blipFill>
          <a:blip r:embed="rId3"/>
          <a:stretch>
            <a:fillRect/>
          </a:stretch>
        </p:blipFill>
        <p:spPr>
          <a:xfrm>
            <a:off x="579120" y="1259692"/>
            <a:ext cx="5572424" cy="4846320"/>
          </a:xfrm>
          <a:prstGeom prst="rect">
            <a:avLst/>
          </a:prstGeom>
          <a:ln w="12700">
            <a:solidFill>
              <a:srgbClr val="D1D5DB"/>
            </a:solidFill>
          </a:ln>
        </p:spPr>
      </p:pic>
      <p:sp>
        <p:nvSpPr>
          <p:cNvPr id="4" name="TextBox 3"/>
          <p:cNvSpPr txBox="1"/>
          <p:nvPr/>
        </p:nvSpPr>
        <p:spPr>
          <a:xfrm>
            <a:off x="6309360" y="1371600"/>
            <a:ext cx="5394960" cy="1097280"/>
          </a:xfrm>
          <a:prstGeom prst="rect">
            <a:avLst/>
          </a:prstGeom>
          <a:noFill/>
        </p:spPr>
        <p:txBody>
          <a:bodyPr wrap="square" lIns="45720" rIns="45720" anchor="t">
            <a:spAutoFit/>
          </a:bodyPr>
          <a:lstStyle/>
          <a:p>
            <a:pPr algn="l">
              <a:spcAft>
                <a:spcPts val="1000"/>
              </a:spcAft>
            </a:pPr>
            <a:r>
              <a:rPr sz="2000" b="0" dirty="0">
                <a:solidFill>
                  <a:srgbClr val="1F2937"/>
                </a:solidFill>
                <a:latin typeface="Calibri"/>
              </a:rPr>
              <a:t>This map shows the old walls of Lal Kot, a fort in Delhi, drawn on top of a satellite photo.</a:t>
            </a:r>
          </a:p>
        </p:txBody>
      </p:sp>
      <p:sp>
        <p:nvSpPr>
          <p:cNvPr id="5" name="TextBox 4"/>
          <p:cNvSpPr txBox="1"/>
          <p:nvPr/>
        </p:nvSpPr>
        <p:spPr>
          <a:xfrm>
            <a:off x="6309360" y="2651760"/>
            <a:ext cx="5394960" cy="2011680"/>
          </a:xfrm>
          <a:prstGeom prst="rect">
            <a:avLst/>
          </a:prstGeom>
          <a:noFill/>
        </p:spPr>
        <p:txBody>
          <a:bodyPr wrap="square" lIns="45720" rIns="45720" anchor="t">
            <a:spAutoFit/>
          </a:bodyPr>
          <a:lstStyle/>
          <a:p>
            <a:pPr marL="320040" indent="-274320" algn="l">
              <a:spcAft>
                <a:spcPts val="1000"/>
              </a:spcAft>
              <a:buChar char="•"/>
            </a:pPr>
            <a:r>
              <a:rPr sz="2000" b="0" dirty="0">
                <a:solidFill>
                  <a:srgbClr val="1F2937"/>
                </a:solidFill>
                <a:latin typeface="Calibri"/>
              </a:rPr>
              <a:t>Yellow dots are points: monuments</a:t>
            </a:r>
          </a:p>
          <a:p>
            <a:pPr marL="320040" indent="-274320" algn="l">
              <a:spcAft>
                <a:spcPts val="1000"/>
              </a:spcAft>
              <a:buChar char="•"/>
            </a:pPr>
            <a:r>
              <a:rPr sz="2000" b="0" dirty="0">
                <a:solidFill>
                  <a:srgbClr val="1F2937"/>
                </a:solidFill>
                <a:latin typeface="Calibri"/>
              </a:rPr>
              <a:t>Dashed lines trace the old walls</a:t>
            </a:r>
          </a:p>
          <a:p>
            <a:pPr marL="320040" indent="-274320" algn="l">
              <a:spcAft>
                <a:spcPts val="1000"/>
              </a:spcAft>
              <a:buChar char="•"/>
            </a:pPr>
            <a:r>
              <a:rPr sz="2000" b="0" dirty="0" err="1">
                <a:solidFill>
                  <a:srgbClr val="1F2937"/>
                </a:solidFill>
                <a:latin typeface="Calibri"/>
              </a:rPr>
              <a:t>Coloured</a:t>
            </a:r>
            <a:r>
              <a:rPr sz="2000" b="0" dirty="0">
                <a:solidFill>
                  <a:srgbClr val="1F2937"/>
                </a:solidFill>
                <a:latin typeface="Calibri"/>
              </a:rPr>
              <a:t> shapes are polygons: the palace area</a:t>
            </a:r>
          </a:p>
        </p:txBody>
      </p:sp>
      <p:sp>
        <p:nvSpPr>
          <p:cNvPr id="6" name="Rounded Rectangle 5"/>
          <p:cNvSpPr/>
          <p:nvPr/>
        </p:nvSpPr>
        <p:spPr>
          <a:xfrm>
            <a:off x="6309360" y="4434840"/>
            <a:ext cx="5303520" cy="164592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37960" y="4617720"/>
            <a:ext cx="4846320" cy="365760"/>
          </a:xfrm>
          <a:prstGeom prst="rect">
            <a:avLst/>
          </a:prstGeom>
          <a:noFill/>
        </p:spPr>
        <p:txBody>
          <a:bodyPr wrap="square" lIns="45720" rIns="45720" anchor="t">
            <a:spAutoFit/>
          </a:bodyPr>
          <a:lstStyle/>
          <a:p>
            <a:pPr algn="l">
              <a:spcAft>
                <a:spcPts val="1000"/>
              </a:spcAft>
            </a:pPr>
            <a:r>
              <a:rPr sz="1400" b="1">
                <a:solidFill>
                  <a:srgbClr val="92400E"/>
                </a:solidFill>
                <a:latin typeface="Calibri"/>
              </a:rPr>
              <a:t>LEGEND</a:t>
            </a:r>
          </a:p>
        </p:txBody>
      </p:sp>
      <p:sp>
        <p:nvSpPr>
          <p:cNvPr id="8" name="TextBox 7"/>
          <p:cNvSpPr txBox="1"/>
          <p:nvPr/>
        </p:nvSpPr>
        <p:spPr>
          <a:xfrm>
            <a:off x="6537960" y="4983479"/>
            <a:ext cx="4846320" cy="960120"/>
          </a:xfrm>
          <a:prstGeom prst="rect">
            <a:avLst/>
          </a:prstGeom>
          <a:noFill/>
        </p:spPr>
        <p:txBody>
          <a:bodyPr wrap="square" lIns="45720" rIns="45720" anchor="t">
            <a:spAutoFit/>
          </a:bodyPr>
          <a:lstStyle/>
          <a:p>
            <a:pPr algn="l">
              <a:spcAft>
                <a:spcPts val="1000"/>
              </a:spcAft>
            </a:pPr>
            <a:r>
              <a:rPr sz="1800" b="0">
                <a:solidFill>
                  <a:srgbClr val="1F2937"/>
                </a:solidFill>
                <a:latin typeface="Calibri"/>
              </a:rPr>
              <a:t>The box in the corner that explains what every colour and symbol means.</a:t>
            </a:r>
          </a:p>
        </p:txBody>
      </p:sp>
      <p:sp>
        <p:nvSpPr>
          <p:cNvPr id="10" name="TextBox 9">
            <a:extLst>
              <a:ext uri="{FF2B5EF4-FFF2-40B4-BE49-F238E27FC236}">
                <a16:creationId xmlns:a16="http://schemas.microsoft.com/office/drawing/2014/main" id="{F1FEF7EE-6248-2401-15D2-6C139AA2BAA7}"/>
              </a:ext>
            </a:extLst>
          </p:cNvPr>
          <p:cNvSpPr txBox="1"/>
          <p:nvPr/>
        </p:nvSpPr>
        <p:spPr>
          <a:xfrm>
            <a:off x="548640" y="6211669"/>
            <a:ext cx="6096000" cy="400110"/>
          </a:xfrm>
          <a:prstGeom prst="rect">
            <a:avLst/>
          </a:prstGeom>
          <a:noFill/>
        </p:spPr>
        <p:txBody>
          <a:bodyPr wrap="square">
            <a:spAutoFit/>
          </a:bodyPr>
          <a:lstStyle/>
          <a:p>
            <a:pPr algn="l">
              <a:spcAft>
                <a:spcPts val="1000"/>
              </a:spcAft>
            </a:pPr>
            <a:r>
              <a:rPr lang="en-US" sz="2000" dirty="0">
                <a:solidFill>
                  <a:srgbClr val="1F2937"/>
                </a:solidFill>
                <a:latin typeface="Calibri"/>
              </a:rPr>
              <a:t>Author: Sonia Das</a:t>
            </a:r>
            <a:endParaRPr lang="en-IN" sz="2000" dirty="0">
              <a:solidFill>
                <a:srgbClr val="1F2937"/>
              </a:solidFill>
              <a:latin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2340"/>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822960"/>
          </a:xfrm>
          <a:prstGeom prst="rect">
            <a:avLst/>
          </a:prstGeom>
          <a:noFill/>
        </p:spPr>
        <p:txBody>
          <a:bodyPr wrap="square" lIns="45720" rIns="45720" anchor="t">
            <a:spAutoFit/>
          </a:bodyPr>
          <a:lstStyle/>
          <a:p>
            <a:pPr algn="l">
              <a:spcAft>
                <a:spcPts val="1000"/>
              </a:spcAft>
            </a:pPr>
            <a:r>
              <a:rPr sz="3600" b="1">
                <a:solidFill>
                  <a:srgbClr val="FFFFFF"/>
                </a:solidFill>
                <a:latin typeface="Calibri"/>
              </a:rPr>
              <a:t>Quick quiz</a:t>
            </a:r>
          </a:p>
        </p:txBody>
      </p:sp>
      <p:sp>
        <p:nvSpPr>
          <p:cNvPr id="3" name="Oval 2"/>
          <p:cNvSpPr/>
          <p:nvPr/>
        </p:nvSpPr>
        <p:spPr>
          <a:xfrm>
            <a:off x="640080" y="1490472"/>
            <a:ext cx="457200" cy="457200"/>
          </a:xfrm>
          <a:prstGeom prst="ellipse">
            <a:avLst/>
          </a:prstGeom>
          <a:solidFill>
            <a:srgbClr val="E8A317"/>
          </a:solidFill>
          <a:ln w="25400">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81328"/>
            <a:ext cx="457200" cy="457200"/>
          </a:xfrm>
          <a:prstGeom prst="rect">
            <a:avLst/>
          </a:prstGeom>
          <a:noFill/>
        </p:spPr>
        <p:txBody>
          <a:bodyPr wrap="square" lIns="45720" rIns="45720" anchor="t">
            <a:spAutoFit/>
          </a:bodyPr>
          <a:lstStyle/>
          <a:p>
            <a:pPr algn="ctr">
              <a:spcAft>
                <a:spcPts val="1000"/>
              </a:spcAft>
            </a:pPr>
            <a:r>
              <a:rPr sz="2000" b="1">
                <a:solidFill>
                  <a:srgbClr val="0F2340"/>
                </a:solidFill>
                <a:latin typeface="Calibri"/>
              </a:rPr>
              <a:t>1</a:t>
            </a:r>
          </a:p>
        </p:txBody>
      </p:sp>
      <p:sp>
        <p:nvSpPr>
          <p:cNvPr id="5" name="TextBox 4"/>
          <p:cNvSpPr txBox="1"/>
          <p:nvPr/>
        </p:nvSpPr>
        <p:spPr>
          <a:xfrm>
            <a:off x="1325880" y="1463040"/>
            <a:ext cx="6400800" cy="731520"/>
          </a:xfrm>
          <a:prstGeom prst="rect">
            <a:avLst/>
          </a:prstGeom>
          <a:noFill/>
        </p:spPr>
        <p:txBody>
          <a:bodyPr wrap="square" lIns="45720" rIns="45720" anchor="t">
            <a:spAutoFit/>
          </a:bodyPr>
          <a:lstStyle/>
          <a:p>
            <a:pPr algn="l">
              <a:spcAft>
                <a:spcPts val="1000"/>
              </a:spcAft>
            </a:pPr>
            <a:r>
              <a:rPr sz="2200" b="0">
                <a:solidFill>
                  <a:srgbClr val="FFFFFF"/>
                </a:solidFill>
                <a:latin typeface="Calibri"/>
              </a:rPr>
              <a:t>What does GIS stand for?</a:t>
            </a:r>
          </a:p>
        </p:txBody>
      </p:sp>
      <p:sp>
        <p:nvSpPr>
          <p:cNvPr id="6" name="Oval 5"/>
          <p:cNvSpPr/>
          <p:nvPr/>
        </p:nvSpPr>
        <p:spPr>
          <a:xfrm>
            <a:off x="640080" y="2404872"/>
            <a:ext cx="457200" cy="457200"/>
          </a:xfrm>
          <a:prstGeom prst="ellipse">
            <a:avLst/>
          </a:prstGeom>
          <a:solidFill>
            <a:srgbClr val="E8A317"/>
          </a:solidFill>
          <a:ln w="25400">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2395728"/>
            <a:ext cx="457200" cy="457200"/>
          </a:xfrm>
          <a:prstGeom prst="rect">
            <a:avLst/>
          </a:prstGeom>
          <a:noFill/>
        </p:spPr>
        <p:txBody>
          <a:bodyPr wrap="square" lIns="45720" rIns="45720" anchor="t">
            <a:spAutoFit/>
          </a:bodyPr>
          <a:lstStyle/>
          <a:p>
            <a:pPr algn="ctr">
              <a:spcAft>
                <a:spcPts val="1000"/>
              </a:spcAft>
            </a:pPr>
            <a:r>
              <a:rPr sz="2000" b="1">
                <a:solidFill>
                  <a:srgbClr val="0F2340"/>
                </a:solidFill>
                <a:latin typeface="Calibri"/>
              </a:rPr>
              <a:t>2</a:t>
            </a:r>
          </a:p>
        </p:txBody>
      </p:sp>
      <p:sp>
        <p:nvSpPr>
          <p:cNvPr id="8" name="TextBox 7"/>
          <p:cNvSpPr txBox="1"/>
          <p:nvPr/>
        </p:nvSpPr>
        <p:spPr>
          <a:xfrm>
            <a:off x="1325880" y="2377440"/>
            <a:ext cx="6400800" cy="731520"/>
          </a:xfrm>
          <a:prstGeom prst="rect">
            <a:avLst/>
          </a:prstGeom>
          <a:noFill/>
        </p:spPr>
        <p:txBody>
          <a:bodyPr wrap="square" lIns="45720" rIns="45720" anchor="t">
            <a:spAutoFit/>
          </a:bodyPr>
          <a:lstStyle/>
          <a:p>
            <a:pPr algn="l">
              <a:spcAft>
                <a:spcPts val="1000"/>
              </a:spcAft>
            </a:pPr>
            <a:r>
              <a:rPr sz="2200" b="0">
                <a:solidFill>
                  <a:srgbClr val="FFFFFF"/>
                </a:solidFill>
                <a:latin typeface="Calibri"/>
              </a:rPr>
              <a:t>Is the Moon a natural or an artificial satellite?</a:t>
            </a:r>
          </a:p>
        </p:txBody>
      </p:sp>
      <p:sp>
        <p:nvSpPr>
          <p:cNvPr id="9" name="Oval 8"/>
          <p:cNvSpPr/>
          <p:nvPr/>
        </p:nvSpPr>
        <p:spPr>
          <a:xfrm>
            <a:off x="640080" y="3319272"/>
            <a:ext cx="457200" cy="457200"/>
          </a:xfrm>
          <a:prstGeom prst="ellipse">
            <a:avLst/>
          </a:prstGeom>
          <a:solidFill>
            <a:srgbClr val="E8A317"/>
          </a:solidFill>
          <a:ln w="25400">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3310128"/>
            <a:ext cx="457200" cy="457200"/>
          </a:xfrm>
          <a:prstGeom prst="rect">
            <a:avLst/>
          </a:prstGeom>
          <a:noFill/>
        </p:spPr>
        <p:txBody>
          <a:bodyPr wrap="square" lIns="45720" rIns="45720" anchor="t">
            <a:spAutoFit/>
          </a:bodyPr>
          <a:lstStyle/>
          <a:p>
            <a:pPr algn="ctr">
              <a:spcAft>
                <a:spcPts val="1000"/>
              </a:spcAft>
            </a:pPr>
            <a:r>
              <a:rPr sz="2000" b="1">
                <a:solidFill>
                  <a:srgbClr val="0F2340"/>
                </a:solidFill>
                <a:latin typeface="Calibri"/>
              </a:rPr>
              <a:t>3</a:t>
            </a:r>
          </a:p>
        </p:txBody>
      </p:sp>
      <p:sp>
        <p:nvSpPr>
          <p:cNvPr id="11" name="TextBox 10"/>
          <p:cNvSpPr txBox="1"/>
          <p:nvPr/>
        </p:nvSpPr>
        <p:spPr>
          <a:xfrm>
            <a:off x="1325880" y="3291840"/>
            <a:ext cx="6400800" cy="731520"/>
          </a:xfrm>
          <a:prstGeom prst="rect">
            <a:avLst/>
          </a:prstGeom>
          <a:noFill/>
        </p:spPr>
        <p:txBody>
          <a:bodyPr wrap="square" lIns="45720" rIns="45720" anchor="t">
            <a:spAutoFit/>
          </a:bodyPr>
          <a:lstStyle/>
          <a:p>
            <a:pPr algn="l">
              <a:spcAft>
                <a:spcPts val="1000"/>
              </a:spcAft>
            </a:pPr>
            <a:r>
              <a:rPr sz="2200" b="0">
                <a:solidFill>
                  <a:srgbClr val="FFFFFF"/>
                </a:solidFill>
                <a:latin typeface="Calibri"/>
              </a:rPr>
              <a:t>Give one example each of a point, a line and a polygon.</a:t>
            </a:r>
          </a:p>
        </p:txBody>
      </p:sp>
      <p:sp>
        <p:nvSpPr>
          <p:cNvPr id="12" name="Oval 11"/>
          <p:cNvSpPr/>
          <p:nvPr/>
        </p:nvSpPr>
        <p:spPr>
          <a:xfrm>
            <a:off x="640080" y="4233672"/>
            <a:ext cx="457200" cy="457200"/>
          </a:xfrm>
          <a:prstGeom prst="ellipse">
            <a:avLst/>
          </a:prstGeom>
          <a:solidFill>
            <a:srgbClr val="E8A317"/>
          </a:solidFill>
          <a:ln w="25400">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4224527"/>
            <a:ext cx="457200" cy="457200"/>
          </a:xfrm>
          <a:prstGeom prst="rect">
            <a:avLst/>
          </a:prstGeom>
          <a:noFill/>
        </p:spPr>
        <p:txBody>
          <a:bodyPr wrap="square" lIns="45720" rIns="45720" anchor="t">
            <a:spAutoFit/>
          </a:bodyPr>
          <a:lstStyle/>
          <a:p>
            <a:pPr algn="ctr">
              <a:spcAft>
                <a:spcPts val="1000"/>
              </a:spcAft>
            </a:pPr>
            <a:r>
              <a:rPr sz="2000" b="1">
                <a:solidFill>
                  <a:srgbClr val="0F2340"/>
                </a:solidFill>
                <a:latin typeface="Calibri"/>
              </a:rPr>
              <a:t>4</a:t>
            </a:r>
          </a:p>
        </p:txBody>
      </p:sp>
      <p:sp>
        <p:nvSpPr>
          <p:cNvPr id="14" name="TextBox 13"/>
          <p:cNvSpPr txBox="1"/>
          <p:nvPr/>
        </p:nvSpPr>
        <p:spPr>
          <a:xfrm>
            <a:off x="1325880" y="4206240"/>
            <a:ext cx="6400800" cy="731520"/>
          </a:xfrm>
          <a:prstGeom prst="rect">
            <a:avLst/>
          </a:prstGeom>
          <a:noFill/>
        </p:spPr>
        <p:txBody>
          <a:bodyPr wrap="square" lIns="45720" rIns="45720" anchor="t">
            <a:spAutoFit/>
          </a:bodyPr>
          <a:lstStyle/>
          <a:p>
            <a:pPr algn="l">
              <a:spcAft>
                <a:spcPts val="1000"/>
              </a:spcAft>
            </a:pPr>
            <a:r>
              <a:rPr sz="2200" b="0">
                <a:solidFill>
                  <a:srgbClr val="FFFFFF"/>
                </a:solidFill>
                <a:latin typeface="Calibri"/>
              </a:rPr>
              <a:t>What does a scale bar tell you?</a:t>
            </a:r>
          </a:p>
        </p:txBody>
      </p:sp>
      <p:sp>
        <p:nvSpPr>
          <p:cNvPr id="15" name="Rounded Rectangle 14"/>
          <p:cNvSpPr/>
          <p:nvPr/>
        </p:nvSpPr>
        <p:spPr>
          <a:xfrm>
            <a:off x="8046720" y="1463040"/>
            <a:ext cx="3566160" cy="356616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0" y="1691640"/>
            <a:ext cx="3017520" cy="457200"/>
          </a:xfrm>
          <a:prstGeom prst="rect">
            <a:avLst/>
          </a:prstGeom>
          <a:noFill/>
        </p:spPr>
        <p:txBody>
          <a:bodyPr wrap="square" lIns="45720" rIns="45720" anchor="t">
            <a:spAutoFit/>
          </a:bodyPr>
          <a:lstStyle/>
          <a:p>
            <a:pPr algn="l">
              <a:spcAft>
                <a:spcPts val="1000"/>
              </a:spcAft>
            </a:pPr>
            <a:r>
              <a:rPr sz="1400" b="1">
                <a:solidFill>
                  <a:srgbClr val="FEF3C7"/>
                </a:solidFill>
                <a:latin typeface="Calibri"/>
              </a:rPr>
              <a:t>NEXT UP</a:t>
            </a:r>
          </a:p>
        </p:txBody>
      </p:sp>
      <p:sp>
        <p:nvSpPr>
          <p:cNvPr id="17" name="TextBox 16"/>
          <p:cNvSpPr txBox="1"/>
          <p:nvPr/>
        </p:nvSpPr>
        <p:spPr>
          <a:xfrm>
            <a:off x="8321040" y="2148840"/>
            <a:ext cx="3017520" cy="1463040"/>
          </a:xfrm>
          <a:prstGeom prst="rect">
            <a:avLst/>
          </a:prstGeom>
          <a:noFill/>
        </p:spPr>
        <p:txBody>
          <a:bodyPr wrap="square" lIns="45720" rIns="45720" anchor="t">
            <a:spAutoFit/>
          </a:bodyPr>
          <a:lstStyle/>
          <a:p>
            <a:pPr algn="l">
              <a:spcAft>
                <a:spcPts val="1000"/>
              </a:spcAft>
            </a:pPr>
            <a:r>
              <a:rPr sz="2800" b="1">
                <a:solidFill>
                  <a:srgbClr val="FFFFFF"/>
                </a:solidFill>
                <a:latin typeface="Calibri"/>
              </a:rPr>
              <a:t>Exercise 1: Map of India</a:t>
            </a:r>
          </a:p>
        </p:txBody>
      </p:sp>
      <p:sp>
        <p:nvSpPr>
          <p:cNvPr id="18" name="TextBox 17"/>
          <p:cNvSpPr txBox="1"/>
          <p:nvPr/>
        </p:nvSpPr>
        <p:spPr>
          <a:xfrm>
            <a:off x="8321040" y="3520440"/>
            <a:ext cx="3017520" cy="1371600"/>
          </a:xfrm>
          <a:prstGeom prst="rect">
            <a:avLst/>
          </a:prstGeom>
          <a:noFill/>
        </p:spPr>
        <p:txBody>
          <a:bodyPr wrap="square" lIns="45720" rIns="45720" anchor="t">
            <a:spAutoFit/>
          </a:bodyPr>
          <a:lstStyle/>
          <a:p>
            <a:pPr algn="l">
              <a:spcAft>
                <a:spcPts val="1000"/>
              </a:spcAft>
            </a:pPr>
            <a:r>
              <a:rPr sz="1800" b="0">
                <a:solidFill>
                  <a:srgbClr val="FFFFFF"/>
                </a:solidFill>
                <a:latin typeface="Calibri"/>
              </a:rPr>
              <a:t>Open GeoLibre and build your own map, layer by layer.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1908</Words>
  <Application>Microsoft Office PowerPoint</Application>
  <PresentationFormat>Widescreen</PresentationFormat>
  <Paragraphs>185</Paragraphs>
  <Slides>18</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neelkanth kumar</cp:lastModifiedBy>
  <cp:revision>3</cp:revision>
  <dcterms:created xsi:type="dcterms:W3CDTF">2013-01-27T09:14:16Z</dcterms:created>
  <dcterms:modified xsi:type="dcterms:W3CDTF">2026-10-03T10:34:36Z</dcterms:modified>
  <cp:category/>
</cp:coreProperties>
</file>